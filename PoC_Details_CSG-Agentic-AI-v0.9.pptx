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 id="2147483965" r:id="rId6"/>
  </p:sldMasterIdLst>
  <p:notesMasterIdLst>
    <p:notesMasterId r:id="rId22"/>
  </p:notesMasterIdLst>
  <p:sldIdLst>
    <p:sldId id="262" r:id="rId7"/>
    <p:sldId id="286" r:id="rId8"/>
    <p:sldId id="2141411743" r:id="rId9"/>
    <p:sldId id="256" r:id="rId10"/>
    <p:sldId id="275" r:id="rId11"/>
    <p:sldId id="276" r:id="rId12"/>
    <p:sldId id="259" r:id="rId13"/>
    <p:sldId id="277" r:id="rId14"/>
    <p:sldId id="264" r:id="rId15"/>
    <p:sldId id="2141411741" r:id="rId16"/>
    <p:sldId id="2141411742" r:id="rId17"/>
    <p:sldId id="2141411738" r:id="rId18"/>
    <p:sldId id="2141411737" r:id="rId19"/>
    <p:sldId id="2141411739" r:id="rId20"/>
    <p:sldId id="214141174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ull Deck" id="{6440C864-B244-7349-A3BF-4628C7F0C8EF}">
          <p14:sldIdLst>
            <p14:sldId id="262"/>
            <p14:sldId id="286"/>
            <p14:sldId id="2141411743"/>
            <p14:sldId id="256"/>
            <p14:sldId id="275"/>
            <p14:sldId id="276"/>
            <p14:sldId id="259"/>
            <p14:sldId id="277"/>
            <p14:sldId id="264"/>
            <p14:sldId id="2141411741"/>
            <p14:sldId id="2141411742"/>
            <p14:sldId id="2141411738"/>
            <p14:sldId id="2141411737"/>
            <p14:sldId id="2141411739"/>
            <p14:sldId id="2141411740"/>
          </p14:sldIdLst>
        </p14:section>
        <p14:section name="References" id="{AB1DA689-910A-004A-944E-347A341088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DEC315-BB27-7AE2-410D-94CDA10AC049}" name="Dawra, Umesh" initials="UD" userId="S::umesh.dawra@capgemini.com::e9574645-afbd-4d52-9362-8bee139c102e" providerId="AD"/>
  <p188:author id="{5724CC28-A869-1B07-ADC2-8BF1737134D0}" name="Khedekar, Viraj" initials="VK" userId="S::viraj.khedekar@capgemini.com::c5727141-d29a-47f9-a0cb-4acfcf8b7d19" providerId="AD"/>
  <p188:author id="{4714C736-0365-AA98-31AE-A211ACCE6AD8}" name="Worth, Stephen G" initials="SW" userId="S::stephen.worth@capgemini.com::8d6c7053-078d-4f45-b5d0-5d69d88c323d" providerId="AD"/>
  <p188:author id="{26247A51-6098-2971-E322-DFFF035A88D7}" name="Chopra, Subhash" initials="CS" userId="S::subhash.chopra@capgemini.com::ea5c520f-2631-4e98-a0f3-c8b29c7b8f08" providerId="AD"/>
  <p188:author id="{BC5EB256-405A-17D2-8841-D59AFF28AEBC}" name="Maheshwari, Megha" initials="MM" userId="S::megha.a.maheshwari@capgemini.com::7eeb077e-7c0c-4120-8349-0bfe4a7928b1" providerId="AD"/>
  <p188:author id="{09F8E256-723F-C504-33C1-E34252385B3D}" name="Sen, Urmi" initials="SU" userId="S::urmi.sen@capgemini.com::cc207058-41e3-4489-bfa1-90835098c733" providerId="AD"/>
  <p188:author id="{062BF757-885E-6356-05A2-1661C5A21503}" name="Agarwal, Shobhit" initials="SA" userId="S::shobhit.a.agarwal@capgemini.com::30561624-8c88-49de-9cb1-c0689874b7a9" providerId="AD"/>
  <p188:author id="{24397163-2B10-AD43-EAE6-AFC5D30217CF}" name="Pathak, Amit" initials="AP" userId="S::amit.a.pathak@capgemini.com::db2d5f21-c669-4ac6-a946-a43511edba85" providerId="AD"/>
  <p188:author id="{DA3C2D86-C3E0-3CA5-3004-B2869A2A2321}" name="Somasekaran Nair, Vinod" initials="SV" userId="S::vinod.b.nair@capgemini.com::a223c12e-36e8-47fe-88b7-d300f9d83ffa" providerId="AD"/>
  <p188:author id="{B55309D9-6B60-42C2-4B75-F2964FB221F7}" name="Thangavelu, Balajee" initials="TB" userId="S::balajee.thangavelu@capgemini.com::9be42660-6d8a-4906-8342-9c361e346e93" providerId="AD"/>
  <p188:author id="{C0EB16F2-3CF2-4853-4ABF-E6B28FE56291}" name="Kamat, Shilpa" initials="SK" userId="S::shilpa.a.kamat@capgemini.com::ce4e0506-4226-4cfd-8003-d6afb3b571bd" providerId="AD"/>
  <p188:author id="{B46888F6-23D6-5836-ED27-D45E9057CBCD}" name="Jethi, Vaishali" initials="VJ" userId="S::vaishali.dhingra@capgemini.com::075255a0-fc3e-4198-a4ae-c85af4d4f07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AD"/>
    <a:srgbClr val="0F878A"/>
    <a:srgbClr val="A6A6A6"/>
    <a:srgbClr val="272936"/>
    <a:srgbClr val="005482"/>
    <a:srgbClr val="FFFF99"/>
    <a:srgbClr val="53E356"/>
    <a:srgbClr val="3FFF3F"/>
    <a:srgbClr val="12A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1" autoAdjust="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microsoft.com/office/2018/10/relationships/authors" Target="authors.xml"/></Relationships>
</file>

<file path=ppt/diagrams/_rels/data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iagrams/_rels/drawing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4A45D7-C2F3-4F2B-AA27-C1506A856E60}"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US"/>
        </a:p>
      </dgm:t>
    </dgm:pt>
    <dgm:pt modelId="{9AE4BA12-8420-4E6B-B006-085D548DE2BD}">
      <dgm:prSet phldrT="[Text]"/>
      <dgm:spPr/>
      <dgm:t>
        <a:bodyPr/>
        <a:lstStyle/>
        <a:p>
          <a:r>
            <a:rPr lang="en-US" dirty="0">
              <a:solidFill>
                <a:schemeClr val="bg1"/>
              </a:solidFill>
            </a:rPr>
            <a:t>ON THE BOX  SOLUTION</a:t>
          </a:r>
        </a:p>
      </dgm:t>
    </dgm:pt>
    <dgm:pt modelId="{1551E5B3-642E-4C3B-A687-CBAC2BF97534}" type="parTrans" cxnId="{FFA56B5D-C1F1-43E9-BFD7-B0F3237C1F19}">
      <dgm:prSet/>
      <dgm:spPr/>
      <dgm:t>
        <a:bodyPr/>
        <a:lstStyle/>
        <a:p>
          <a:endParaRPr lang="en-US">
            <a:solidFill>
              <a:schemeClr val="bg1"/>
            </a:solidFill>
          </a:endParaRPr>
        </a:p>
      </dgm:t>
    </dgm:pt>
    <dgm:pt modelId="{CC5E564A-37EF-4121-B690-7D3FA1EC5CBC}" type="sibTrans" cxnId="{FFA56B5D-C1F1-43E9-BFD7-B0F3237C1F19}">
      <dgm:prSet/>
      <dgm:spPr/>
      <dgm:t>
        <a:bodyPr/>
        <a:lstStyle/>
        <a:p>
          <a:endParaRPr lang="en-US">
            <a:solidFill>
              <a:schemeClr val="bg1"/>
            </a:solidFill>
          </a:endParaRPr>
        </a:p>
      </dgm:t>
    </dgm:pt>
    <dgm:pt modelId="{FCD4EE17-1665-4D02-B927-9C33EA5BE47D}">
      <dgm:prSet phldrT="[Text]"/>
      <dgm:spPr/>
      <dgm:t>
        <a:bodyPr/>
        <a:lstStyle/>
        <a:p>
          <a:r>
            <a:rPr lang="en-US" dirty="0">
              <a:solidFill>
                <a:schemeClr val="bg1"/>
              </a:solidFill>
            </a:rPr>
            <a:t>Agentic AI based implementation</a:t>
          </a:r>
        </a:p>
      </dgm:t>
    </dgm:pt>
    <dgm:pt modelId="{B8D81A2A-41FE-412F-9B36-724F1D7EE893}" type="parTrans" cxnId="{8FC2CF6C-0731-4ECA-A71F-D8B126F1D0FF}">
      <dgm:prSet/>
      <dgm:spPr/>
      <dgm:t>
        <a:bodyPr/>
        <a:lstStyle/>
        <a:p>
          <a:endParaRPr lang="en-US">
            <a:solidFill>
              <a:schemeClr val="bg1"/>
            </a:solidFill>
          </a:endParaRPr>
        </a:p>
      </dgm:t>
    </dgm:pt>
    <dgm:pt modelId="{ED488D1F-8EA8-484A-8BC8-DD55F3596281}" type="sibTrans" cxnId="{8FC2CF6C-0731-4ECA-A71F-D8B126F1D0FF}">
      <dgm:prSet/>
      <dgm:spPr/>
      <dgm:t>
        <a:bodyPr/>
        <a:lstStyle/>
        <a:p>
          <a:endParaRPr lang="en-US">
            <a:solidFill>
              <a:schemeClr val="bg1"/>
            </a:solidFill>
          </a:endParaRPr>
        </a:p>
      </dgm:t>
    </dgm:pt>
    <dgm:pt modelId="{00D96D82-3571-4CEF-97D2-69BE9000F050}">
      <dgm:prSet phldrT="[Text]"/>
      <dgm:spPr/>
      <dgm:t>
        <a:bodyPr/>
        <a:lstStyle/>
        <a:p>
          <a:r>
            <a:rPr lang="en-US" dirty="0">
              <a:solidFill>
                <a:schemeClr val="bg1"/>
              </a:solidFill>
            </a:rPr>
            <a:t>HYBRID CLOUD BASE SOLUTION</a:t>
          </a:r>
        </a:p>
      </dgm:t>
    </dgm:pt>
    <dgm:pt modelId="{CD006962-6247-4C47-9089-55CD935B084A}" type="parTrans" cxnId="{19227C9D-8724-4D2B-8F11-70112C181CEF}">
      <dgm:prSet/>
      <dgm:spPr/>
      <dgm:t>
        <a:bodyPr/>
        <a:lstStyle/>
        <a:p>
          <a:endParaRPr lang="en-US">
            <a:solidFill>
              <a:schemeClr val="bg1"/>
            </a:solidFill>
          </a:endParaRPr>
        </a:p>
      </dgm:t>
    </dgm:pt>
    <dgm:pt modelId="{5B4C3B47-8527-48B7-AA6A-43D4E0A8582F}" type="sibTrans" cxnId="{19227C9D-8724-4D2B-8F11-70112C181CEF}">
      <dgm:prSet/>
      <dgm:spPr/>
      <dgm:t>
        <a:bodyPr/>
        <a:lstStyle/>
        <a:p>
          <a:endParaRPr lang="en-US">
            <a:solidFill>
              <a:schemeClr val="bg1"/>
            </a:solidFill>
          </a:endParaRPr>
        </a:p>
      </dgm:t>
    </dgm:pt>
    <dgm:pt modelId="{C31466DE-E969-4DB3-B299-4E38C912A483}">
      <dgm:prSet phldrT="[Text]"/>
      <dgm:spPr/>
      <dgm:t>
        <a:bodyPr/>
        <a:lstStyle/>
        <a:p>
          <a:r>
            <a:rPr lang="en-US" dirty="0">
              <a:solidFill>
                <a:schemeClr val="bg1"/>
              </a:solidFill>
            </a:rPr>
            <a:t>Access to larger data set</a:t>
          </a:r>
        </a:p>
      </dgm:t>
    </dgm:pt>
    <dgm:pt modelId="{CC1776A9-D986-44B1-92FF-E71911EABDE7}" type="parTrans" cxnId="{908E245A-C42D-469E-8D36-B6AB6CEE32B1}">
      <dgm:prSet/>
      <dgm:spPr/>
      <dgm:t>
        <a:bodyPr/>
        <a:lstStyle/>
        <a:p>
          <a:endParaRPr lang="en-US">
            <a:solidFill>
              <a:schemeClr val="bg1"/>
            </a:solidFill>
          </a:endParaRPr>
        </a:p>
      </dgm:t>
    </dgm:pt>
    <dgm:pt modelId="{06E994AC-B36F-4CF4-A80A-74FEEE3DA378}" type="sibTrans" cxnId="{908E245A-C42D-469E-8D36-B6AB6CEE32B1}">
      <dgm:prSet/>
      <dgm:spPr/>
      <dgm:t>
        <a:bodyPr/>
        <a:lstStyle/>
        <a:p>
          <a:endParaRPr lang="en-US">
            <a:solidFill>
              <a:schemeClr val="bg1"/>
            </a:solidFill>
          </a:endParaRPr>
        </a:p>
      </dgm:t>
    </dgm:pt>
    <dgm:pt modelId="{42DF7004-2BC6-47D4-81B9-D9EF35ABC93A}">
      <dgm:prSet phldrT="[Text]"/>
      <dgm:spPr/>
      <dgm:t>
        <a:bodyPr/>
        <a:lstStyle/>
        <a:p>
          <a:r>
            <a:rPr lang="en-US">
              <a:solidFill>
                <a:schemeClr val="bg1"/>
              </a:solidFill>
            </a:rPr>
            <a:t>SLM can move to LLM model</a:t>
          </a:r>
        </a:p>
      </dgm:t>
    </dgm:pt>
    <dgm:pt modelId="{C6FD3F0E-F18D-4055-9EB9-5202FE7CE5A7}" type="parTrans" cxnId="{380068BE-E0DE-4FAC-90F2-26731D2210AB}">
      <dgm:prSet/>
      <dgm:spPr/>
      <dgm:t>
        <a:bodyPr/>
        <a:lstStyle/>
        <a:p>
          <a:endParaRPr lang="en-US">
            <a:solidFill>
              <a:schemeClr val="bg1"/>
            </a:solidFill>
          </a:endParaRPr>
        </a:p>
      </dgm:t>
    </dgm:pt>
    <dgm:pt modelId="{E2FD6453-9FAF-4F41-B0E8-874D4CD9A497}" type="sibTrans" cxnId="{380068BE-E0DE-4FAC-90F2-26731D2210AB}">
      <dgm:prSet/>
      <dgm:spPr/>
      <dgm:t>
        <a:bodyPr/>
        <a:lstStyle/>
        <a:p>
          <a:endParaRPr lang="en-US">
            <a:solidFill>
              <a:schemeClr val="bg1"/>
            </a:solidFill>
          </a:endParaRPr>
        </a:p>
      </dgm:t>
    </dgm:pt>
    <dgm:pt modelId="{F7A68BD7-4498-49E4-BA1C-F9640A89B9ED}">
      <dgm:prSet phldrT="[Text]"/>
      <dgm:spPr/>
      <dgm:t>
        <a:bodyPr/>
        <a:lstStyle/>
        <a:p>
          <a:pPr rtl="0"/>
          <a:r>
            <a:rPr lang="en-US">
              <a:solidFill>
                <a:schemeClr val="bg1"/>
              </a:solidFill>
            </a:rPr>
            <a:t>Very fast and most accurate results  </a:t>
          </a:r>
          <a:endParaRPr lang="en-US">
            <a:solidFill>
              <a:schemeClr val="bg1"/>
            </a:solidFill>
            <a:latin typeface="Ubuntu Medium"/>
          </a:endParaRPr>
        </a:p>
      </dgm:t>
    </dgm:pt>
    <dgm:pt modelId="{1223E682-80F1-4D66-B3B4-74CF39A3821D}" type="parTrans" cxnId="{B80ECFF2-E549-4520-BC7A-AB396A7D57C1}">
      <dgm:prSet/>
      <dgm:spPr/>
      <dgm:t>
        <a:bodyPr/>
        <a:lstStyle/>
        <a:p>
          <a:endParaRPr lang="en-US"/>
        </a:p>
      </dgm:t>
    </dgm:pt>
    <dgm:pt modelId="{FCEA77B0-7D07-4F67-880C-D6924FE71B98}" type="sibTrans" cxnId="{B80ECFF2-E549-4520-BC7A-AB396A7D57C1}">
      <dgm:prSet/>
      <dgm:spPr/>
      <dgm:t>
        <a:bodyPr/>
        <a:lstStyle/>
        <a:p>
          <a:endParaRPr lang="en-US"/>
        </a:p>
      </dgm:t>
    </dgm:pt>
    <dgm:pt modelId="{A335C0A1-B907-43CB-9135-546D04A26DE9}">
      <dgm:prSet phldrT="[Text]"/>
      <dgm:spPr/>
      <dgm:t>
        <a:bodyPr/>
        <a:lstStyle/>
        <a:p>
          <a:r>
            <a:rPr lang="en-US">
              <a:solidFill>
                <a:schemeClr val="bg1"/>
              </a:solidFill>
            </a:rPr>
            <a:t>Remediation still On the Box resolution </a:t>
          </a:r>
        </a:p>
      </dgm:t>
    </dgm:pt>
    <dgm:pt modelId="{96AC8387-F445-4BFD-A9DB-1FD5D70404C1}" type="parTrans" cxnId="{EA85BE33-A33F-465B-A03B-CEA297BCBCF6}">
      <dgm:prSet/>
      <dgm:spPr/>
      <dgm:t>
        <a:bodyPr/>
        <a:lstStyle/>
        <a:p>
          <a:endParaRPr lang="en-US"/>
        </a:p>
      </dgm:t>
    </dgm:pt>
    <dgm:pt modelId="{478A0400-0071-4DF7-82C3-1BBA85D69428}" type="sibTrans" cxnId="{EA85BE33-A33F-465B-A03B-CEA297BCBCF6}">
      <dgm:prSet/>
      <dgm:spPr/>
      <dgm:t>
        <a:bodyPr/>
        <a:lstStyle/>
        <a:p>
          <a:endParaRPr lang="en-US"/>
        </a:p>
      </dgm:t>
    </dgm:pt>
    <dgm:pt modelId="{43C57DAC-9572-483D-8E51-41F7B4737031}">
      <dgm:prSet phldrT="[Text]"/>
      <dgm:spPr/>
      <dgm:t>
        <a:bodyPr/>
        <a:lstStyle/>
        <a:p>
          <a:r>
            <a:rPr lang="en-US">
              <a:solidFill>
                <a:schemeClr val="bg1"/>
              </a:solidFill>
            </a:rPr>
            <a:t>Inferencing engine is offloaded</a:t>
          </a:r>
        </a:p>
      </dgm:t>
    </dgm:pt>
    <dgm:pt modelId="{639DEC84-17AF-4C8B-AE8A-0A8C3729172F}" type="parTrans" cxnId="{05A5C576-73AF-4CF8-8C07-E91877118931}">
      <dgm:prSet/>
      <dgm:spPr/>
      <dgm:t>
        <a:bodyPr/>
        <a:lstStyle/>
        <a:p>
          <a:endParaRPr lang="en-US"/>
        </a:p>
      </dgm:t>
    </dgm:pt>
    <dgm:pt modelId="{A3754C2D-BDD3-495D-B3DB-A35050A6D793}" type="sibTrans" cxnId="{05A5C576-73AF-4CF8-8C07-E91877118931}">
      <dgm:prSet/>
      <dgm:spPr/>
      <dgm:t>
        <a:bodyPr/>
        <a:lstStyle/>
        <a:p>
          <a:endParaRPr lang="en-US"/>
        </a:p>
      </dgm:t>
    </dgm:pt>
    <dgm:pt modelId="{D9A26685-B259-4BB2-999E-4BD440D237B0}">
      <dgm:prSet phldr="0"/>
      <dgm:spPr/>
      <dgm:t>
        <a:bodyPr/>
        <a:lstStyle/>
        <a:p>
          <a:r>
            <a:rPr lang="en-US" dirty="0">
              <a:solidFill>
                <a:schemeClr val="bg1"/>
              </a:solidFill>
            </a:rPr>
            <a:t>SLM Agents for diagnosis and remediation</a:t>
          </a:r>
          <a:endParaRPr lang="en-US" dirty="0">
            <a:latin typeface="Ubuntu Medium"/>
          </a:endParaRPr>
        </a:p>
      </dgm:t>
    </dgm:pt>
    <dgm:pt modelId="{F7349A7E-8E9E-4C4F-AE43-53BD7AA8E3FA}" type="parTrans" cxnId="{37116CE2-AD0B-42A9-A8B5-FA330F6F51D4}">
      <dgm:prSet/>
      <dgm:spPr/>
      <dgm:t>
        <a:bodyPr/>
        <a:lstStyle/>
        <a:p>
          <a:endParaRPr lang="en-US"/>
        </a:p>
      </dgm:t>
    </dgm:pt>
    <dgm:pt modelId="{EB53CD72-D782-4A1F-867A-A39D9DA02F7C}" type="sibTrans" cxnId="{37116CE2-AD0B-42A9-A8B5-FA330F6F51D4}">
      <dgm:prSet/>
      <dgm:spPr/>
      <dgm:t>
        <a:bodyPr/>
        <a:lstStyle/>
        <a:p>
          <a:endParaRPr lang="en-US"/>
        </a:p>
      </dgm:t>
    </dgm:pt>
    <dgm:pt modelId="{A6E15F1F-80D0-4856-8A01-6172E9A47C26}">
      <dgm:prSet phldr="0"/>
      <dgm:spPr/>
      <dgm:t>
        <a:bodyPr/>
        <a:lstStyle/>
        <a:p>
          <a:r>
            <a:rPr lang="en-US" dirty="0">
              <a:solidFill>
                <a:schemeClr val="bg1"/>
              </a:solidFill>
            </a:rPr>
            <a:t>Runtime Analysis Engine</a:t>
          </a:r>
          <a:endParaRPr lang="en-US" dirty="0">
            <a:latin typeface="Ubuntu Medium"/>
          </a:endParaRPr>
        </a:p>
      </dgm:t>
    </dgm:pt>
    <dgm:pt modelId="{AB814109-E966-4F08-AD0B-ECF3282FC764}" type="parTrans" cxnId="{1236F74C-8787-4796-BB08-9F6DA7F160EE}">
      <dgm:prSet/>
      <dgm:spPr/>
      <dgm:t>
        <a:bodyPr/>
        <a:lstStyle/>
        <a:p>
          <a:endParaRPr lang="en-US"/>
        </a:p>
      </dgm:t>
    </dgm:pt>
    <dgm:pt modelId="{4181BBE9-BC3F-4C53-AFC4-65051F918A70}" type="sibTrans" cxnId="{1236F74C-8787-4796-BB08-9F6DA7F160EE}">
      <dgm:prSet/>
      <dgm:spPr/>
      <dgm:t>
        <a:bodyPr/>
        <a:lstStyle/>
        <a:p>
          <a:endParaRPr lang="en-US"/>
        </a:p>
      </dgm:t>
    </dgm:pt>
    <dgm:pt modelId="{73F3C292-E908-4E4C-A5C1-6A898E38240E}">
      <dgm:prSet phldr="0"/>
      <dgm:spPr/>
      <dgm:t>
        <a:bodyPr/>
        <a:lstStyle/>
        <a:p>
          <a:r>
            <a:rPr lang="en-US" dirty="0">
              <a:solidFill>
                <a:schemeClr val="bg1"/>
              </a:solidFill>
            </a:rPr>
            <a:t>Inferencing engine deriving patterns and remediation plan</a:t>
          </a:r>
          <a:endParaRPr lang="en-US" dirty="0">
            <a:latin typeface="Ubuntu Medium"/>
          </a:endParaRPr>
        </a:p>
      </dgm:t>
    </dgm:pt>
    <dgm:pt modelId="{90A1F406-B7A1-45E4-A4BF-6BDAD6E6C2AD}" type="parTrans" cxnId="{E7C4322A-7FA0-4EC0-A3B6-65BF875F1E38}">
      <dgm:prSet/>
      <dgm:spPr/>
      <dgm:t>
        <a:bodyPr/>
        <a:lstStyle/>
        <a:p>
          <a:endParaRPr lang="en-US"/>
        </a:p>
      </dgm:t>
    </dgm:pt>
    <dgm:pt modelId="{B92EEED1-60A6-4B26-9438-898A479BE122}" type="sibTrans" cxnId="{E7C4322A-7FA0-4EC0-A3B6-65BF875F1E38}">
      <dgm:prSet/>
      <dgm:spPr/>
      <dgm:t>
        <a:bodyPr/>
        <a:lstStyle/>
        <a:p>
          <a:endParaRPr lang="en-US"/>
        </a:p>
      </dgm:t>
    </dgm:pt>
    <dgm:pt modelId="{62FFDD1C-3E0E-44E2-BAEE-9AC2A705D75C}">
      <dgm:prSet phldr="0"/>
      <dgm:spPr/>
      <dgm:t>
        <a:bodyPr/>
        <a:lstStyle/>
        <a:p>
          <a:r>
            <a:rPr lang="en-US" dirty="0">
              <a:solidFill>
                <a:schemeClr val="bg1"/>
              </a:solidFill>
            </a:rPr>
            <a:t>Complete On the Box resolution</a:t>
          </a:r>
          <a:endParaRPr lang="en-US" dirty="0">
            <a:latin typeface="Ubuntu Medium"/>
          </a:endParaRPr>
        </a:p>
      </dgm:t>
    </dgm:pt>
    <dgm:pt modelId="{A691FA61-5269-4A7B-BD26-EA21E67AAB7A}" type="parTrans" cxnId="{6DFF36BA-1C40-4110-A0C6-21CDB08BF366}">
      <dgm:prSet/>
      <dgm:spPr/>
      <dgm:t>
        <a:bodyPr/>
        <a:lstStyle/>
        <a:p>
          <a:endParaRPr lang="en-US"/>
        </a:p>
      </dgm:t>
    </dgm:pt>
    <dgm:pt modelId="{31C86B2E-CE75-4D31-9FF3-B8544AACD5D7}" type="sibTrans" cxnId="{6DFF36BA-1C40-4110-A0C6-21CDB08BF366}">
      <dgm:prSet/>
      <dgm:spPr/>
      <dgm:t>
        <a:bodyPr/>
        <a:lstStyle/>
        <a:p>
          <a:endParaRPr lang="en-US"/>
        </a:p>
      </dgm:t>
    </dgm:pt>
    <dgm:pt modelId="{25540800-A380-4638-A4B8-9726DA106984}">
      <dgm:prSet phldr="0"/>
      <dgm:spPr/>
      <dgm:t>
        <a:bodyPr/>
        <a:lstStyle/>
        <a:p>
          <a:endParaRPr lang="en-US">
            <a:latin typeface="Ubuntu Medium"/>
          </a:endParaRPr>
        </a:p>
      </dgm:t>
    </dgm:pt>
    <dgm:pt modelId="{C9A029BD-1DE7-4481-8FDC-AD6888FC3F70}" type="parTrans" cxnId="{81EC0D65-1C12-409A-A152-B9CBD7E99304}">
      <dgm:prSet/>
      <dgm:spPr/>
      <dgm:t>
        <a:bodyPr/>
        <a:lstStyle/>
        <a:p>
          <a:endParaRPr lang="en-US"/>
        </a:p>
      </dgm:t>
    </dgm:pt>
    <dgm:pt modelId="{BE00DD57-1202-4A09-9CB3-73B2DDE76755}" type="sibTrans" cxnId="{81EC0D65-1C12-409A-A152-B9CBD7E99304}">
      <dgm:prSet/>
      <dgm:spPr/>
      <dgm:t>
        <a:bodyPr/>
        <a:lstStyle/>
        <a:p>
          <a:endParaRPr lang="en-US"/>
        </a:p>
      </dgm:t>
    </dgm:pt>
    <dgm:pt modelId="{1A6B09EE-DE67-453D-B50D-2A2041EF3445}">
      <dgm:prSet phldr="0"/>
      <dgm:spPr/>
      <dgm:t>
        <a:bodyPr/>
        <a:lstStyle/>
        <a:p>
          <a:r>
            <a:rPr lang="en-US">
              <a:latin typeface="Ubuntu Medium"/>
            </a:rPr>
            <a:t> </a:t>
          </a:r>
          <a:endParaRPr lang="en-US"/>
        </a:p>
      </dgm:t>
    </dgm:pt>
    <dgm:pt modelId="{5135F46D-F781-4CE3-8C57-9F5ED932E87E}" type="parTrans" cxnId="{3D9F3CBD-6CD6-4E94-83D2-1719B98957DC}">
      <dgm:prSet/>
      <dgm:spPr/>
      <dgm:t>
        <a:bodyPr/>
        <a:lstStyle/>
        <a:p>
          <a:endParaRPr lang="en-US"/>
        </a:p>
      </dgm:t>
    </dgm:pt>
    <dgm:pt modelId="{9799EB04-C90F-423B-8FD2-0396036A9663}" type="sibTrans" cxnId="{3D9F3CBD-6CD6-4E94-83D2-1719B98957DC}">
      <dgm:prSet/>
      <dgm:spPr/>
      <dgm:t>
        <a:bodyPr/>
        <a:lstStyle/>
        <a:p>
          <a:endParaRPr lang="en-US"/>
        </a:p>
      </dgm:t>
    </dgm:pt>
    <dgm:pt modelId="{EBD89792-8C87-47B5-9053-868EC96B9C4C}">
      <dgm:prSet phldr="0"/>
      <dgm:spPr/>
      <dgm:t>
        <a:bodyPr/>
        <a:lstStyle/>
        <a:p>
          <a:endParaRPr lang="en-US">
            <a:latin typeface="Ubuntu Medium"/>
          </a:endParaRPr>
        </a:p>
      </dgm:t>
    </dgm:pt>
    <dgm:pt modelId="{D6F9F31B-BCC3-4F95-9A41-B52E52597562}" type="parTrans" cxnId="{39B7B01B-7F4F-4BC7-B9B0-A36218324D50}">
      <dgm:prSet/>
      <dgm:spPr/>
      <dgm:t>
        <a:bodyPr/>
        <a:lstStyle/>
        <a:p>
          <a:endParaRPr lang="en-US"/>
        </a:p>
      </dgm:t>
    </dgm:pt>
    <dgm:pt modelId="{45C22A06-9FC4-49E3-BCD5-7222E115BEE9}" type="sibTrans" cxnId="{39B7B01B-7F4F-4BC7-B9B0-A36218324D50}">
      <dgm:prSet/>
      <dgm:spPr/>
      <dgm:t>
        <a:bodyPr/>
        <a:lstStyle/>
        <a:p>
          <a:endParaRPr lang="en-US"/>
        </a:p>
      </dgm:t>
    </dgm:pt>
    <dgm:pt modelId="{A1D8DAD5-9601-4F49-8C1F-5C0217F88012}">
      <dgm:prSet phldr="0"/>
      <dgm:spPr/>
      <dgm:t>
        <a:bodyPr/>
        <a:lstStyle/>
        <a:p>
          <a:endParaRPr lang="en-US">
            <a:latin typeface="Ubuntu Medium"/>
          </a:endParaRPr>
        </a:p>
      </dgm:t>
    </dgm:pt>
    <dgm:pt modelId="{DB7E4908-2C88-4EAD-B6ED-8901B3357B5B}" type="parTrans" cxnId="{9896704C-9FCB-4FB1-9EE6-251866868C41}">
      <dgm:prSet/>
      <dgm:spPr/>
      <dgm:t>
        <a:bodyPr/>
        <a:lstStyle/>
        <a:p>
          <a:endParaRPr lang="en-US"/>
        </a:p>
      </dgm:t>
    </dgm:pt>
    <dgm:pt modelId="{D225FC26-6988-4FC0-B63B-31D997E25D2B}" type="sibTrans" cxnId="{9896704C-9FCB-4FB1-9EE6-251866868C41}">
      <dgm:prSet/>
      <dgm:spPr/>
      <dgm:t>
        <a:bodyPr/>
        <a:lstStyle/>
        <a:p>
          <a:endParaRPr lang="en-US"/>
        </a:p>
      </dgm:t>
    </dgm:pt>
    <dgm:pt modelId="{C5634E6D-7DBB-4608-A8FC-F1B4F1A1238E}">
      <dgm:prSet phldrT="[Text]"/>
      <dgm:spPr/>
      <dgm:t>
        <a:bodyPr/>
        <a:lstStyle/>
        <a:p>
          <a:r>
            <a:rPr lang="en-US" dirty="0">
              <a:solidFill>
                <a:schemeClr val="bg1"/>
              </a:solidFill>
            </a:rPr>
            <a:t>Leverage Power Doctor scripts</a:t>
          </a:r>
        </a:p>
      </dgm:t>
    </dgm:pt>
    <dgm:pt modelId="{84D5EE30-54B2-4CF3-B043-934F7B2EA87F}" type="parTrans" cxnId="{9F8A13B4-1C8B-46FE-BA43-264BD872AAFD}">
      <dgm:prSet/>
      <dgm:spPr/>
      <dgm:t>
        <a:bodyPr/>
        <a:lstStyle/>
        <a:p>
          <a:endParaRPr lang="en-US"/>
        </a:p>
      </dgm:t>
    </dgm:pt>
    <dgm:pt modelId="{820596A5-6A09-400D-B8E5-5C4C6A132637}" type="sibTrans" cxnId="{9F8A13B4-1C8B-46FE-BA43-264BD872AAFD}">
      <dgm:prSet/>
      <dgm:spPr/>
      <dgm:t>
        <a:bodyPr/>
        <a:lstStyle/>
        <a:p>
          <a:endParaRPr lang="en-US"/>
        </a:p>
      </dgm:t>
    </dgm:pt>
    <dgm:pt modelId="{046164C5-C531-4197-A6AB-776A21FF1C81}">
      <dgm:prSet/>
      <dgm:spPr/>
      <dgm:t>
        <a:bodyPr/>
        <a:lstStyle/>
        <a:p>
          <a:r>
            <a:rPr lang="en-US" dirty="0">
              <a:solidFill>
                <a:schemeClr val="bg1"/>
              </a:solidFill>
            </a:rPr>
            <a:t>Remediation database shorter version on the box</a:t>
          </a:r>
          <a:endParaRPr lang="en-US" dirty="0">
            <a:latin typeface="Ubuntu Medium"/>
          </a:endParaRPr>
        </a:p>
      </dgm:t>
    </dgm:pt>
    <dgm:pt modelId="{C9FB0EDD-C3E8-47D5-8686-FB338A11ABBD}" type="parTrans" cxnId="{A96F6027-E86F-43CF-9435-0E687DD00587}">
      <dgm:prSet/>
      <dgm:spPr/>
      <dgm:t>
        <a:bodyPr/>
        <a:lstStyle/>
        <a:p>
          <a:endParaRPr lang="en-US"/>
        </a:p>
      </dgm:t>
    </dgm:pt>
    <dgm:pt modelId="{3252EC36-EBBF-4EFA-838A-DDC1F80DDFF7}" type="sibTrans" cxnId="{A96F6027-E86F-43CF-9435-0E687DD00587}">
      <dgm:prSet/>
      <dgm:spPr/>
      <dgm:t>
        <a:bodyPr/>
        <a:lstStyle/>
        <a:p>
          <a:endParaRPr lang="en-US"/>
        </a:p>
      </dgm:t>
    </dgm:pt>
    <dgm:pt modelId="{7C606A5F-EB54-4BDB-91B9-56B7F9691BA2}">
      <dgm:prSet/>
      <dgm:spPr/>
      <dgm:t>
        <a:bodyPr/>
        <a:lstStyle/>
        <a:p>
          <a:r>
            <a:rPr lang="en-US" dirty="0">
              <a:solidFill>
                <a:schemeClr val="bg1"/>
              </a:solidFill>
            </a:rPr>
            <a:t>On the box resolution</a:t>
          </a:r>
          <a:endParaRPr lang="en-US" dirty="0">
            <a:latin typeface="Ubuntu Medium"/>
          </a:endParaRPr>
        </a:p>
      </dgm:t>
    </dgm:pt>
    <dgm:pt modelId="{C02A5DCD-8B31-4AEE-AF4A-B542336ECD97}" type="parTrans" cxnId="{79612EC9-75FF-4177-BA39-C7AAD4097299}">
      <dgm:prSet/>
      <dgm:spPr/>
      <dgm:t>
        <a:bodyPr/>
        <a:lstStyle/>
        <a:p>
          <a:endParaRPr lang="en-US"/>
        </a:p>
      </dgm:t>
    </dgm:pt>
    <dgm:pt modelId="{21B95B9F-584B-4374-9417-36C50A643FF2}" type="sibTrans" cxnId="{79612EC9-75FF-4177-BA39-C7AAD4097299}">
      <dgm:prSet/>
      <dgm:spPr/>
      <dgm:t>
        <a:bodyPr/>
        <a:lstStyle/>
        <a:p>
          <a:endParaRPr lang="en-US"/>
        </a:p>
      </dgm:t>
    </dgm:pt>
    <dgm:pt modelId="{57F7131F-43D8-4D2D-89CB-7EC36CA2C622}">
      <dgm:prSet/>
      <dgm:spPr/>
      <dgm:t>
        <a:bodyPr/>
        <a:lstStyle/>
        <a:p>
          <a:r>
            <a:rPr lang="en-US" dirty="0">
              <a:solidFill>
                <a:schemeClr val="bg1"/>
              </a:solidFill>
            </a:rPr>
            <a:t>Limited resolution with no local AI support</a:t>
          </a:r>
          <a:endParaRPr lang="en-US" dirty="0">
            <a:latin typeface="Ubuntu Medium"/>
          </a:endParaRPr>
        </a:p>
      </dgm:t>
    </dgm:pt>
    <dgm:pt modelId="{35A57F6B-DE49-474C-8650-304082D4FEE4}" type="parTrans" cxnId="{CB79C523-709D-4731-941F-1AB67CA1125C}">
      <dgm:prSet/>
      <dgm:spPr/>
      <dgm:t>
        <a:bodyPr/>
        <a:lstStyle/>
        <a:p>
          <a:endParaRPr lang="en-US"/>
        </a:p>
      </dgm:t>
    </dgm:pt>
    <dgm:pt modelId="{B6ED3363-F379-4A37-8A90-2CB19FDFCC0A}" type="sibTrans" cxnId="{CB79C523-709D-4731-941F-1AB67CA1125C}">
      <dgm:prSet/>
      <dgm:spPr/>
      <dgm:t>
        <a:bodyPr/>
        <a:lstStyle/>
        <a:p>
          <a:endParaRPr lang="en-US"/>
        </a:p>
      </dgm:t>
    </dgm:pt>
    <dgm:pt modelId="{E58BA399-37B5-49BB-9ED3-F25DA4411244}">
      <dgm:prSet/>
      <dgm:spPr/>
      <dgm:t>
        <a:bodyPr/>
        <a:lstStyle/>
        <a:p>
          <a:r>
            <a:rPr lang="en-US" dirty="0">
              <a:solidFill>
                <a:schemeClr val="bg1"/>
              </a:solidFill>
            </a:rPr>
            <a:t>Regular update of Remediation database</a:t>
          </a:r>
          <a:endParaRPr lang="en-US" dirty="0">
            <a:latin typeface="Ubuntu Medium"/>
          </a:endParaRPr>
        </a:p>
      </dgm:t>
    </dgm:pt>
    <dgm:pt modelId="{455BD69D-B76B-40EC-944F-00FC739B4055}" type="parTrans" cxnId="{C54F164E-291E-4168-BB42-8B905EE2C20A}">
      <dgm:prSet/>
      <dgm:spPr/>
      <dgm:t>
        <a:bodyPr/>
        <a:lstStyle/>
        <a:p>
          <a:endParaRPr lang="en-US"/>
        </a:p>
      </dgm:t>
    </dgm:pt>
    <dgm:pt modelId="{0511D46B-A909-40C4-A3F5-FAE3DB67C0CF}" type="sibTrans" cxnId="{C54F164E-291E-4168-BB42-8B905EE2C20A}">
      <dgm:prSet/>
      <dgm:spPr/>
      <dgm:t>
        <a:bodyPr/>
        <a:lstStyle/>
        <a:p>
          <a:endParaRPr lang="en-US"/>
        </a:p>
      </dgm:t>
    </dgm:pt>
    <dgm:pt modelId="{FE52B447-BDCD-48B8-B908-F8E4D4C5F94C}" type="pres">
      <dgm:prSet presAssocID="{8C4A45D7-C2F3-4F2B-AA27-C1506A856E60}" presName="linearFlow" presStyleCnt="0">
        <dgm:presLayoutVars>
          <dgm:dir/>
          <dgm:animLvl val="lvl"/>
          <dgm:resizeHandles/>
        </dgm:presLayoutVars>
      </dgm:prSet>
      <dgm:spPr/>
    </dgm:pt>
    <dgm:pt modelId="{C10A383B-825C-4E42-923E-95D4A6F6B9F8}" type="pres">
      <dgm:prSet presAssocID="{9AE4BA12-8420-4E6B-B006-085D548DE2BD}" presName="compositeNode" presStyleCnt="0">
        <dgm:presLayoutVars>
          <dgm:bulletEnabled val="1"/>
        </dgm:presLayoutVars>
      </dgm:prSet>
      <dgm:spPr/>
    </dgm:pt>
    <dgm:pt modelId="{40E5FE60-7346-4309-9178-3B2A315DD4FB}" type="pres">
      <dgm:prSet presAssocID="{9AE4BA12-8420-4E6B-B006-085D548DE2BD}" presName="image" presStyleLbl="fgImgPlace1" presStyleIdx="0" presStyleCnt="2"/>
      <dgm:spPr>
        <a:blipFill>
          <a:blip xmlns:r="http://schemas.openxmlformats.org/officeDocument/2006/relationships" r:embed="rId1"/>
          <a:srcRect/>
          <a:stretch>
            <a:fillRect l="-25000" r="-25000"/>
          </a:stretch>
        </a:blipFill>
      </dgm:spPr>
    </dgm:pt>
    <dgm:pt modelId="{A00C326C-25C4-418A-9E5E-97881AAAA86B}" type="pres">
      <dgm:prSet presAssocID="{9AE4BA12-8420-4E6B-B006-085D548DE2BD}" presName="childNode" presStyleLbl="node1" presStyleIdx="0" presStyleCnt="2">
        <dgm:presLayoutVars>
          <dgm:bulletEnabled val="1"/>
        </dgm:presLayoutVars>
      </dgm:prSet>
      <dgm:spPr/>
    </dgm:pt>
    <dgm:pt modelId="{3B92D3D9-75A6-4975-9AC9-E9BB08099F70}" type="pres">
      <dgm:prSet presAssocID="{9AE4BA12-8420-4E6B-B006-085D548DE2BD}" presName="parentNode" presStyleLbl="revTx" presStyleIdx="0" presStyleCnt="2">
        <dgm:presLayoutVars>
          <dgm:chMax val="0"/>
          <dgm:bulletEnabled val="1"/>
        </dgm:presLayoutVars>
      </dgm:prSet>
      <dgm:spPr/>
    </dgm:pt>
    <dgm:pt modelId="{09706E01-06D5-466F-9250-0AA43244A982}" type="pres">
      <dgm:prSet presAssocID="{CC5E564A-37EF-4121-B690-7D3FA1EC5CBC}" presName="sibTrans" presStyleCnt="0"/>
      <dgm:spPr/>
    </dgm:pt>
    <dgm:pt modelId="{E84A38AC-F14D-4F4F-8F13-018C926254B9}" type="pres">
      <dgm:prSet presAssocID="{00D96D82-3571-4CEF-97D2-69BE9000F050}" presName="compositeNode" presStyleCnt="0">
        <dgm:presLayoutVars>
          <dgm:bulletEnabled val="1"/>
        </dgm:presLayoutVars>
      </dgm:prSet>
      <dgm:spPr/>
    </dgm:pt>
    <dgm:pt modelId="{23FA0B41-9E5B-4ADC-90B8-4F44B8013306}" type="pres">
      <dgm:prSet presAssocID="{00D96D82-3571-4CEF-97D2-69BE9000F050}" presName="image" presStyleLbl="fgImgPlace1" presStyleIdx="1" presStyleCnt="2"/>
      <dgm:spPr>
        <a:blipFill>
          <a:blip xmlns:r="http://schemas.openxmlformats.org/officeDocument/2006/relationships" r:embed="rId2"/>
          <a:srcRect/>
          <a:stretch>
            <a:fillRect l="-45000" r="-45000"/>
          </a:stretch>
        </a:blipFill>
      </dgm:spPr>
    </dgm:pt>
    <dgm:pt modelId="{1B506096-2D8E-4184-B44E-069630FBCC5D}" type="pres">
      <dgm:prSet presAssocID="{00D96D82-3571-4CEF-97D2-69BE9000F050}" presName="childNode" presStyleLbl="node1" presStyleIdx="1" presStyleCnt="2">
        <dgm:presLayoutVars>
          <dgm:bulletEnabled val="1"/>
        </dgm:presLayoutVars>
      </dgm:prSet>
      <dgm:spPr/>
    </dgm:pt>
    <dgm:pt modelId="{E767E26C-17E5-4DF4-B4E0-76606BB9A25A}" type="pres">
      <dgm:prSet presAssocID="{00D96D82-3571-4CEF-97D2-69BE9000F050}" presName="parentNode" presStyleLbl="revTx" presStyleIdx="1" presStyleCnt="2">
        <dgm:presLayoutVars>
          <dgm:chMax val="0"/>
          <dgm:bulletEnabled val="1"/>
        </dgm:presLayoutVars>
      </dgm:prSet>
      <dgm:spPr/>
    </dgm:pt>
  </dgm:ptLst>
  <dgm:cxnLst>
    <dgm:cxn modelId="{03934405-4EBF-46B2-A277-9D7BAD5844F3}" type="presOf" srcId="{EBD89792-8C87-47B5-9053-868EC96B9C4C}" destId="{1B506096-2D8E-4184-B44E-069630FBCC5D}" srcOrd="0" destOrd="5" presId="urn:microsoft.com/office/officeart/2005/8/layout/hList2"/>
    <dgm:cxn modelId="{39B7B01B-7F4F-4BC7-B9B0-A36218324D50}" srcId="{00D96D82-3571-4CEF-97D2-69BE9000F050}" destId="{EBD89792-8C87-47B5-9053-868EC96B9C4C}" srcOrd="5" destOrd="0" parTransId="{D6F9F31B-BCC3-4F95-9A41-B52E52597562}" sibTransId="{45C22A06-9FC4-49E3-BCD5-7222E115BEE9}"/>
    <dgm:cxn modelId="{CB79C523-709D-4731-941F-1AB67CA1125C}" srcId="{9AE4BA12-8420-4E6B-B006-085D548DE2BD}" destId="{57F7131F-43D8-4D2D-89CB-7EC36CA2C622}" srcOrd="8" destOrd="0" parTransId="{35A57F6B-DE49-474C-8650-304082D4FEE4}" sibTransId="{B6ED3363-F379-4A37-8A90-2CB19FDFCC0A}"/>
    <dgm:cxn modelId="{A96F6027-E86F-43CF-9435-0E687DD00587}" srcId="{9AE4BA12-8420-4E6B-B006-085D548DE2BD}" destId="{046164C5-C531-4197-A6AB-776A21FF1C81}" srcOrd="6" destOrd="0" parTransId="{C9FB0EDD-C3E8-47D5-8686-FB338A11ABBD}" sibTransId="{3252EC36-EBBF-4EFA-838A-DDC1F80DDFF7}"/>
    <dgm:cxn modelId="{E7C4322A-7FA0-4EC0-A3B6-65BF875F1E38}" srcId="{9AE4BA12-8420-4E6B-B006-085D548DE2BD}" destId="{73F3C292-E908-4E4C-A5C1-6A898E38240E}" srcOrd="3" destOrd="0" parTransId="{90A1F406-B7A1-45E4-A4BF-6BDAD6E6C2AD}" sibTransId="{B92EEED1-60A6-4B26-9438-898A479BE122}"/>
    <dgm:cxn modelId="{41EC6C31-EE28-4F1C-AADD-341023D53DD2}" type="presOf" srcId="{046164C5-C531-4197-A6AB-776A21FF1C81}" destId="{A00C326C-25C4-418A-9E5E-97881AAAA86B}" srcOrd="0" destOrd="6" presId="urn:microsoft.com/office/officeart/2005/8/layout/hList2"/>
    <dgm:cxn modelId="{EA85BE33-A33F-465B-A03B-CEA297BCBCF6}" srcId="{00D96D82-3571-4CEF-97D2-69BE9000F050}" destId="{A335C0A1-B907-43CB-9135-546D04A26DE9}" srcOrd="6" destOrd="0" parTransId="{96AC8387-F445-4BFD-A9DB-1FD5D70404C1}" sibTransId="{478A0400-0071-4DF7-82C3-1BBA85D69428}"/>
    <dgm:cxn modelId="{3A6BB937-FD9B-4E24-95CC-AFDD57574388}" type="presOf" srcId="{C5634E6D-7DBB-4608-A8FC-F1B4F1A1238E}" destId="{A00C326C-25C4-418A-9E5E-97881AAAA86B}" srcOrd="0" destOrd="5" presId="urn:microsoft.com/office/officeart/2005/8/layout/hList2"/>
    <dgm:cxn modelId="{99D26A3A-CC82-4BC9-A9A9-EB6B0B2A1625}" type="presOf" srcId="{42DF7004-2BC6-47D4-81B9-D9EF35ABC93A}" destId="{1B506096-2D8E-4184-B44E-069630FBCC5D}" srcOrd="0" destOrd="4" presId="urn:microsoft.com/office/officeart/2005/8/layout/hList2"/>
    <dgm:cxn modelId="{7F5A7E3B-C926-4531-AFBB-EAE42E073F85}" type="presOf" srcId="{A335C0A1-B907-43CB-9135-546D04A26DE9}" destId="{1B506096-2D8E-4184-B44E-069630FBCC5D}" srcOrd="0" destOrd="6" presId="urn:microsoft.com/office/officeart/2005/8/layout/hList2"/>
    <dgm:cxn modelId="{1E21323C-7068-4FC8-AFB3-9C5F56215C14}" type="presOf" srcId="{D9A26685-B259-4BB2-999E-4BD440D237B0}" destId="{A00C326C-25C4-418A-9E5E-97881AAAA86B}" srcOrd="0" destOrd="1" presId="urn:microsoft.com/office/officeart/2005/8/layout/hList2"/>
    <dgm:cxn modelId="{194A9340-FEBB-4001-8DBB-2694B8B3AC06}" type="presOf" srcId="{9AE4BA12-8420-4E6B-B006-085D548DE2BD}" destId="{3B92D3D9-75A6-4975-9AC9-E9BB08099F70}" srcOrd="0" destOrd="0" presId="urn:microsoft.com/office/officeart/2005/8/layout/hList2"/>
    <dgm:cxn modelId="{F048C75B-F03F-429A-BBA7-D79222E593AE}" type="presOf" srcId="{62FFDD1C-3E0E-44E2-BAEE-9AC2A705D75C}" destId="{A00C326C-25C4-418A-9E5E-97881AAAA86B}" srcOrd="0" destOrd="4" presId="urn:microsoft.com/office/officeart/2005/8/layout/hList2"/>
    <dgm:cxn modelId="{D4599F5C-2A48-4EEC-A37D-7E47008DFA5F}" type="presOf" srcId="{E58BA399-37B5-49BB-9ED3-F25DA4411244}" destId="{A00C326C-25C4-418A-9E5E-97881AAAA86B}" srcOrd="0" destOrd="9" presId="urn:microsoft.com/office/officeart/2005/8/layout/hList2"/>
    <dgm:cxn modelId="{2AF2B55C-5FC9-4A0B-BEAB-DE012E129AA1}" type="presOf" srcId="{7C606A5F-EB54-4BDB-91B9-56B7F9691BA2}" destId="{A00C326C-25C4-418A-9E5E-97881AAAA86B}" srcOrd="0" destOrd="7" presId="urn:microsoft.com/office/officeart/2005/8/layout/hList2"/>
    <dgm:cxn modelId="{FFA56B5D-C1F1-43E9-BFD7-B0F3237C1F19}" srcId="{8C4A45D7-C2F3-4F2B-AA27-C1506A856E60}" destId="{9AE4BA12-8420-4E6B-B006-085D548DE2BD}" srcOrd="0" destOrd="0" parTransId="{1551E5B3-642E-4C3B-A687-CBAC2BF97534}" sibTransId="{CC5E564A-37EF-4121-B690-7D3FA1EC5CBC}"/>
    <dgm:cxn modelId="{584BBE42-8CE2-43AF-A087-B79152001449}" type="presOf" srcId="{43C57DAC-9572-483D-8E51-41F7B4737031}" destId="{1B506096-2D8E-4184-B44E-069630FBCC5D}" srcOrd="0" destOrd="8" presId="urn:microsoft.com/office/officeart/2005/8/layout/hList2"/>
    <dgm:cxn modelId="{81EC0D65-1C12-409A-A152-B9CBD7E99304}" srcId="{00D96D82-3571-4CEF-97D2-69BE9000F050}" destId="{25540800-A380-4638-A4B8-9726DA106984}" srcOrd="1" destOrd="0" parTransId="{C9A029BD-1DE7-4481-8FDC-AD6888FC3F70}" sibTransId="{BE00DD57-1202-4A09-9CB3-73B2DDE76755}"/>
    <dgm:cxn modelId="{9896704C-9FCB-4FB1-9EE6-251866868C41}" srcId="{00D96D82-3571-4CEF-97D2-69BE9000F050}" destId="{A1D8DAD5-9601-4F49-8C1F-5C0217F88012}" srcOrd="7" destOrd="0" parTransId="{DB7E4908-2C88-4EAD-B6ED-8901B3357B5B}" sibTransId="{D225FC26-6988-4FC0-B63B-31D997E25D2B}"/>
    <dgm:cxn modelId="{8FC2CF6C-0731-4ECA-A71F-D8B126F1D0FF}" srcId="{9AE4BA12-8420-4E6B-B006-085D548DE2BD}" destId="{FCD4EE17-1665-4D02-B927-9C33EA5BE47D}" srcOrd="0" destOrd="0" parTransId="{B8D81A2A-41FE-412F-9B36-724F1D7EE893}" sibTransId="{ED488D1F-8EA8-484A-8BC8-DD55F3596281}"/>
    <dgm:cxn modelId="{1236F74C-8787-4796-BB08-9F6DA7F160EE}" srcId="{9AE4BA12-8420-4E6B-B006-085D548DE2BD}" destId="{A6E15F1F-80D0-4856-8A01-6172E9A47C26}" srcOrd="2" destOrd="0" parTransId="{AB814109-E966-4F08-AD0B-ECF3282FC764}" sibTransId="{4181BBE9-BC3F-4C53-AFC4-65051F918A70}"/>
    <dgm:cxn modelId="{C54F164E-291E-4168-BB42-8B905EE2C20A}" srcId="{9AE4BA12-8420-4E6B-B006-085D548DE2BD}" destId="{E58BA399-37B5-49BB-9ED3-F25DA4411244}" srcOrd="9" destOrd="0" parTransId="{455BD69D-B76B-40EC-944F-00FC739B4055}" sibTransId="{0511D46B-A909-40C4-A3F5-FAE3DB67C0CF}"/>
    <dgm:cxn modelId="{47A3F36E-A131-4A06-9A4D-166679DC17C3}" type="presOf" srcId="{A6E15F1F-80D0-4856-8A01-6172E9A47C26}" destId="{A00C326C-25C4-418A-9E5E-97881AAAA86B}" srcOrd="0" destOrd="2" presId="urn:microsoft.com/office/officeart/2005/8/layout/hList2"/>
    <dgm:cxn modelId="{585D054F-10F5-4CD3-B6D4-0B4CB50CC433}" type="presOf" srcId="{73F3C292-E908-4E4C-A5C1-6A898E38240E}" destId="{A00C326C-25C4-418A-9E5E-97881AAAA86B}" srcOrd="0" destOrd="3" presId="urn:microsoft.com/office/officeart/2005/8/layout/hList2"/>
    <dgm:cxn modelId="{96806D52-8ED1-4DB7-9A37-4B3726E7E8AB}" type="presOf" srcId="{F7A68BD7-4498-49E4-BA1C-F9640A89B9ED}" destId="{1B506096-2D8E-4184-B44E-069630FBCC5D}" srcOrd="0" destOrd="2" presId="urn:microsoft.com/office/officeart/2005/8/layout/hList2"/>
    <dgm:cxn modelId="{9AD1BF76-2028-450E-B5B8-CFE8E56CB3FB}" type="presOf" srcId="{8C4A45D7-C2F3-4F2B-AA27-C1506A856E60}" destId="{FE52B447-BDCD-48B8-B908-F8E4D4C5F94C}" srcOrd="0" destOrd="0" presId="urn:microsoft.com/office/officeart/2005/8/layout/hList2"/>
    <dgm:cxn modelId="{05A5C576-73AF-4CF8-8C07-E91877118931}" srcId="{00D96D82-3571-4CEF-97D2-69BE9000F050}" destId="{43C57DAC-9572-483D-8E51-41F7B4737031}" srcOrd="8" destOrd="0" parTransId="{639DEC84-17AF-4C8B-AE8A-0A8C3729172F}" sibTransId="{A3754C2D-BDD3-495D-B3DB-A35050A6D793}"/>
    <dgm:cxn modelId="{8DB12C57-CDDA-466E-B352-07C432100AE1}" type="presOf" srcId="{FCD4EE17-1665-4D02-B927-9C33EA5BE47D}" destId="{A00C326C-25C4-418A-9E5E-97881AAAA86B}" srcOrd="0" destOrd="0" presId="urn:microsoft.com/office/officeart/2005/8/layout/hList2"/>
    <dgm:cxn modelId="{908E245A-C42D-469E-8D36-B6AB6CEE32B1}" srcId="{00D96D82-3571-4CEF-97D2-69BE9000F050}" destId="{C31466DE-E969-4DB3-B299-4E38C912A483}" srcOrd="0" destOrd="0" parTransId="{CC1776A9-D986-44B1-92FF-E71911EABDE7}" sibTransId="{06E994AC-B36F-4CF4-A80A-74FEEE3DA378}"/>
    <dgm:cxn modelId="{FB67779D-4422-47C4-B1C1-743D2560AFCD}" type="presOf" srcId="{C31466DE-E969-4DB3-B299-4E38C912A483}" destId="{1B506096-2D8E-4184-B44E-069630FBCC5D}" srcOrd="0" destOrd="0" presId="urn:microsoft.com/office/officeart/2005/8/layout/hList2"/>
    <dgm:cxn modelId="{19227C9D-8724-4D2B-8F11-70112C181CEF}" srcId="{8C4A45D7-C2F3-4F2B-AA27-C1506A856E60}" destId="{00D96D82-3571-4CEF-97D2-69BE9000F050}" srcOrd="1" destOrd="0" parTransId="{CD006962-6247-4C47-9089-55CD935B084A}" sibTransId="{5B4C3B47-8527-48B7-AA6A-43D4E0A8582F}"/>
    <dgm:cxn modelId="{8E83449E-C8E7-43AA-BD63-717AA5132DE5}" type="presOf" srcId="{A1D8DAD5-9601-4F49-8C1F-5C0217F88012}" destId="{1B506096-2D8E-4184-B44E-069630FBCC5D}" srcOrd="0" destOrd="7" presId="urn:microsoft.com/office/officeart/2005/8/layout/hList2"/>
    <dgm:cxn modelId="{9F8A13B4-1C8B-46FE-BA43-264BD872AAFD}" srcId="{9AE4BA12-8420-4E6B-B006-085D548DE2BD}" destId="{C5634E6D-7DBB-4608-A8FC-F1B4F1A1238E}" srcOrd="5" destOrd="0" parTransId="{84D5EE30-54B2-4CF3-B043-934F7B2EA87F}" sibTransId="{820596A5-6A09-400D-B8E5-5C4C6A132637}"/>
    <dgm:cxn modelId="{6DFF36BA-1C40-4110-A0C6-21CDB08BF366}" srcId="{9AE4BA12-8420-4E6B-B006-085D548DE2BD}" destId="{62FFDD1C-3E0E-44E2-BAEE-9AC2A705D75C}" srcOrd="4" destOrd="0" parTransId="{A691FA61-5269-4A7B-BD26-EA21E67AAB7A}" sibTransId="{31C86B2E-CE75-4D31-9FF3-B8544AACD5D7}"/>
    <dgm:cxn modelId="{6B416BBA-7EEF-4016-9F7C-0E184C7B69A1}" type="presOf" srcId="{25540800-A380-4638-A4B8-9726DA106984}" destId="{1B506096-2D8E-4184-B44E-069630FBCC5D}" srcOrd="0" destOrd="1" presId="urn:microsoft.com/office/officeart/2005/8/layout/hList2"/>
    <dgm:cxn modelId="{3D9F3CBD-6CD6-4E94-83D2-1719B98957DC}" srcId="{00D96D82-3571-4CEF-97D2-69BE9000F050}" destId="{1A6B09EE-DE67-453D-B50D-2A2041EF3445}" srcOrd="3" destOrd="0" parTransId="{5135F46D-F781-4CE3-8C57-9F5ED932E87E}" sibTransId="{9799EB04-C90F-423B-8FD2-0396036A9663}"/>
    <dgm:cxn modelId="{380068BE-E0DE-4FAC-90F2-26731D2210AB}" srcId="{00D96D82-3571-4CEF-97D2-69BE9000F050}" destId="{42DF7004-2BC6-47D4-81B9-D9EF35ABC93A}" srcOrd="4" destOrd="0" parTransId="{C6FD3F0E-F18D-4055-9EB9-5202FE7CE5A7}" sibTransId="{E2FD6453-9FAF-4F41-B0E8-874D4CD9A497}"/>
    <dgm:cxn modelId="{1AC1C5C0-86D4-4C9D-A7D0-3A85FD579EF6}" type="presOf" srcId="{57F7131F-43D8-4D2D-89CB-7EC36CA2C622}" destId="{A00C326C-25C4-418A-9E5E-97881AAAA86B}" srcOrd="0" destOrd="8" presId="urn:microsoft.com/office/officeart/2005/8/layout/hList2"/>
    <dgm:cxn modelId="{DDEC3AC2-758A-487E-8C37-65B5B135A9E0}" type="presOf" srcId="{00D96D82-3571-4CEF-97D2-69BE9000F050}" destId="{E767E26C-17E5-4DF4-B4E0-76606BB9A25A}" srcOrd="0" destOrd="0" presId="urn:microsoft.com/office/officeart/2005/8/layout/hList2"/>
    <dgm:cxn modelId="{79612EC9-75FF-4177-BA39-C7AAD4097299}" srcId="{9AE4BA12-8420-4E6B-B006-085D548DE2BD}" destId="{7C606A5F-EB54-4BDB-91B9-56B7F9691BA2}" srcOrd="7" destOrd="0" parTransId="{C02A5DCD-8B31-4AEE-AF4A-B542336ECD97}" sibTransId="{21B95B9F-584B-4374-9417-36C50A643FF2}"/>
    <dgm:cxn modelId="{235BADD1-E9CB-4548-B36D-8570D5910529}" type="presOf" srcId="{1A6B09EE-DE67-453D-B50D-2A2041EF3445}" destId="{1B506096-2D8E-4184-B44E-069630FBCC5D}" srcOrd="0" destOrd="3" presId="urn:microsoft.com/office/officeart/2005/8/layout/hList2"/>
    <dgm:cxn modelId="{37116CE2-AD0B-42A9-A8B5-FA330F6F51D4}" srcId="{9AE4BA12-8420-4E6B-B006-085D548DE2BD}" destId="{D9A26685-B259-4BB2-999E-4BD440D237B0}" srcOrd="1" destOrd="0" parTransId="{F7349A7E-8E9E-4C4F-AE43-53BD7AA8E3FA}" sibTransId="{EB53CD72-D782-4A1F-867A-A39D9DA02F7C}"/>
    <dgm:cxn modelId="{B80ECFF2-E549-4520-BC7A-AB396A7D57C1}" srcId="{00D96D82-3571-4CEF-97D2-69BE9000F050}" destId="{F7A68BD7-4498-49E4-BA1C-F9640A89B9ED}" srcOrd="2" destOrd="0" parTransId="{1223E682-80F1-4D66-B3B4-74CF39A3821D}" sibTransId="{FCEA77B0-7D07-4F67-880C-D6924FE71B98}"/>
    <dgm:cxn modelId="{B835329B-F575-4CCC-83EE-9FFFD0D3DC99}" type="presParOf" srcId="{FE52B447-BDCD-48B8-B908-F8E4D4C5F94C}" destId="{C10A383B-825C-4E42-923E-95D4A6F6B9F8}" srcOrd="0" destOrd="0" presId="urn:microsoft.com/office/officeart/2005/8/layout/hList2"/>
    <dgm:cxn modelId="{0752A333-E3F2-4397-B402-C77B906B8C64}" type="presParOf" srcId="{C10A383B-825C-4E42-923E-95D4A6F6B9F8}" destId="{40E5FE60-7346-4309-9178-3B2A315DD4FB}" srcOrd="0" destOrd="0" presId="urn:microsoft.com/office/officeart/2005/8/layout/hList2"/>
    <dgm:cxn modelId="{647D63DA-1B75-4FA9-9B08-7DF00ABF8607}" type="presParOf" srcId="{C10A383B-825C-4E42-923E-95D4A6F6B9F8}" destId="{A00C326C-25C4-418A-9E5E-97881AAAA86B}" srcOrd="1" destOrd="0" presId="urn:microsoft.com/office/officeart/2005/8/layout/hList2"/>
    <dgm:cxn modelId="{B6504952-0341-4F8F-9A49-6A5DFB3D91D3}" type="presParOf" srcId="{C10A383B-825C-4E42-923E-95D4A6F6B9F8}" destId="{3B92D3D9-75A6-4975-9AC9-E9BB08099F70}" srcOrd="2" destOrd="0" presId="urn:microsoft.com/office/officeart/2005/8/layout/hList2"/>
    <dgm:cxn modelId="{1B09CF0E-D834-40C7-A270-F7ED08DE01BE}" type="presParOf" srcId="{FE52B447-BDCD-48B8-B908-F8E4D4C5F94C}" destId="{09706E01-06D5-466F-9250-0AA43244A982}" srcOrd="1" destOrd="0" presId="urn:microsoft.com/office/officeart/2005/8/layout/hList2"/>
    <dgm:cxn modelId="{2C1FB8B7-9DD8-4584-9BE9-840D17E42651}" type="presParOf" srcId="{FE52B447-BDCD-48B8-B908-F8E4D4C5F94C}" destId="{E84A38AC-F14D-4F4F-8F13-018C926254B9}" srcOrd="2" destOrd="0" presId="urn:microsoft.com/office/officeart/2005/8/layout/hList2"/>
    <dgm:cxn modelId="{B65471E7-4F56-4C04-BC36-C63BEB8B11AB}" type="presParOf" srcId="{E84A38AC-F14D-4F4F-8F13-018C926254B9}" destId="{23FA0B41-9E5B-4ADC-90B8-4F44B8013306}" srcOrd="0" destOrd="0" presId="urn:microsoft.com/office/officeart/2005/8/layout/hList2"/>
    <dgm:cxn modelId="{BBE98235-2EB0-486C-A209-F7481D005E3B}" type="presParOf" srcId="{E84A38AC-F14D-4F4F-8F13-018C926254B9}" destId="{1B506096-2D8E-4184-B44E-069630FBCC5D}" srcOrd="1" destOrd="0" presId="urn:microsoft.com/office/officeart/2005/8/layout/hList2"/>
    <dgm:cxn modelId="{7919FFF6-7144-491F-AB7C-2A5F1F5B7A5C}" type="presParOf" srcId="{E84A38AC-F14D-4F4F-8F13-018C926254B9}" destId="{E767E26C-17E5-4DF4-B4E0-76606BB9A25A}"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92D3D9-75A6-4975-9AC9-E9BB08099F70}">
      <dsp:nvSpPr>
        <dsp:cNvPr id="0" name=""/>
        <dsp:cNvSpPr/>
      </dsp:nvSpPr>
      <dsp:spPr>
        <a:xfrm rot="16200000">
          <a:off x="-1548627" y="2659931"/>
          <a:ext cx="3941387" cy="83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735326" bIns="0" numCol="1" spcCol="1270" anchor="t" anchorCtr="0">
          <a:noAutofit/>
        </a:bodyPr>
        <a:lstStyle/>
        <a:p>
          <a:pPr marL="0" lvl="0" indent="0" algn="r" defTabSz="1377950">
            <a:lnSpc>
              <a:spcPct val="90000"/>
            </a:lnSpc>
            <a:spcBef>
              <a:spcPct val="0"/>
            </a:spcBef>
            <a:spcAft>
              <a:spcPct val="35000"/>
            </a:spcAft>
            <a:buNone/>
          </a:pPr>
          <a:r>
            <a:rPr lang="en-US" sz="3100" kern="1200" dirty="0">
              <a:solidFill>
                <a:schemeClr val="bg1"/>
              </a:solidFill>
            </a:rPr>
            <a:t>ON THE BOX  SOLUTION</a:t>
          </a:r>
        </a:p>
      </dsp:txBody>
      <dsp:txXfrm>
        <a:off x="-1548627" y="2659931"/>
        <a:ext cx="3941387" cy="833755"/>
      </dsp:txXfrm>
    </dsp:sp>
    <dsp:sp modelId="{A00C326C-25C4-418A-9E5E-97881AAAA86B}">
      <dsp:nvSpPr>
        <dsp:cNvPr id="0" name=""/>
        <dsp:cNvSpPr/>
      </dsp:nvSpPr>
      <dsp:spPr>
        <a:xfrm>
          <a:off x="838944" y="1106115"/>
          <a:ext cx="4265860" cy="39413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35326" rIns="135128" bIns="135128"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bg1"/>
              </a:solidFill>
            </a:rPr>
            <a:t>Agentic AI based implementation</a:t>
          </a:r>
        </a:p>
        <a:p>
          <a:pPr marL="114300" lvl="1" indent="-114300" algn="l" defTabSz="666750">
            <a:lnSpc>
              <a:spcPct val="90000"/>
            </a:lnSpc>
            <a:spcBef>
              <a:spcPct val="0"/>
            </a:spcBef>
            <a:spcAft>
              <a:spcPct val="15000"/>
            </a:spcAft>
            <a:buChar char="•"/>
          </a:pPr>
          <a:r>
            <a:rPr lang="en-US" sz="1500" kern="1200" dirty="0">
              <a:solidFill>
                <a:schemeClr val="bg1"/>
              </a:solidFill>
            </a:rPr>
            <a:t>SLM Agents for diagnosis and remediation</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Runtime Analysis Engine</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Inferencing engine deriving patterns and remediation plan</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Complete On the Box resolution</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Leverage Power Doctor scripts</a:t>
          </a:r>
        </a:p>
        <a:p>
          <a:pPr marL="114300" lvl="1" indent="-114300" algn="l" defTabSz="666750">
            <a:lnSpc>
              <a:spcPct val="90000"/>
            </a:lnSpc>
            <a:spcBef>
              <a:spcPct val="0"/>
            </a:spcBef>
            <a:spcAft>
              <a:spcPct val="15000"/>
            </a:spcAft>
            <a:buChar char="•"/>
          </a:pPr>
          <a:r>
            <a:rPr lang="en-US" sz="1500" kern="1200" dirty="0">
              <a:solidFill>
                <a:schemeClr val="bg1"/>
              </a:solidFill>
            </a:rPr>
            <a:t>Remediation database shorter version on the box</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On the box resolution</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Limited resolution with no local AI support</a:t>
          </a:r>
          <a:endParaRPr lang="en-US" sz="1500" kern="1200" dirty="0">
            <a:latin typeface="Ubuntu Medium"/>
          </a:endParaRPr>
        </a:p>
        <a:p>
          <a:pPr marL="114300" lvl="1" indent="-114300" algn="l" defTabSz="666750">
            <a:lnSpc>
              <a:spcPct val="90000"/>
            </a:lnSpc>
            <a:spcBef>
              <a:spcPct val="0"/>
            </a:spcBef>
            <a:spcAft>
              <a:spcPct val="15000"/>
            </a:spcAft>
            <a:buChar char="•"/>
          </a:pPr>
          <a:r>
            <a:rPr lang="en-US" sz="1500" kern="1200" dirty="0">
              <a:solidFill>
                <a:schemeClr val="bg1"/>
              </a:solidFill>
            </a:rPr>
            <a:t>Regular update of Remediation database</a:t>
          </a:r>
          <a:endParaRPr lang="en-US" sz="1500" kern="1200" dirty="0">
            <a:latin typeface="Ubuntu Medium"/>
          </a:endParaRPr>
        </a:p>
      </dsp:txBody>
      <dsp:txXfrm>
        <a:off x="838944" y="1106115"/>
        <a:ext cx="4265860" cy="3941387"/>
      </dsp:txXfrm>
    </dsp:sp>
    <dsp:sp modelId="{40E5FE60-7346-4309-9178-3B2A315DD4FB}">
      <dsp:nvSpPr>
        <dsp:cNvPr id="0" name=""/>
        <dsp:cNvSpPr/>
      </dsp:nvSpPr>
      <dsp:spPr>
        <a:xfrm>
          <a:off x="5189" y="5558"/>
          <a:ext cx="1667510" cy="1667510"/>
        </a:xfrm>
        <a:prstGeom prst="rect">
          <a:avLst/>
        </a:prstGeom>
        <a:blipFill>
          <a:blip xmlns:r="http://schemas.openxmlformats.org/officeDocument/2006/relationships" r:embed="rId1"/>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67E26C-17E5-4DF4-B4E0-76606BB9A25A}">
      <dsp:nvSpPr>
        <dsp:cNvPr id="0" name=""/>
        <dsp:cNvSpPr/>
      </dsp:nvSpPr>
      <dsp:spPr>
        <a:xfrm rot="16200000">
          <a:off x="4655924" y="2659931"/>
          <a:ext cx="3941387" cy="83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735326" bIns="0" numCol="1" spcCol="1270" anchor="t" anchorCtr="0">
          <a:noAutofit/>
        </a:bodyPr>
        <a:lstStyle/>
        <a:p>
          <a:pPr marL="0" lvl="0" indent="0" algn="r" defTabSz="1377950">
            <a:lnSpc>
              <a:spcPct val="90000"/>
            </a:lnSpc>
            <a:spcBef>
              <a:spcPct val="0"/>
            </a:spcBef>
            <a:spcAft>
              <a:spcPct val="35000"/>
            </a:spcAft>
            <a:buNone/>
          </a:pPr>
          <a:r>
            <a:rPr lang="en-US" sz="3100" kern="1200" dirty="0">
              <a:solidFill>
                <a:schemeClr val="bg1"/>
              </a:solidFill>
            </a:rPr>
            <a:t>HYBRID CLOUD BASE SOLUTION</a:t>
          </a:r>
        </a:p>
      </dsp:txBody>
      <dsp:txXfrm>
        <a:off x="4655924" y="2659931"/>
        <a:ext cx="3941387" cy="833755"/>
      </dsp:txXfrm>
    </dsp:sp>
    <dsp:sp modelId="{1B506096-2D8E-4184-B44E-069630FBCC5D}">
      <dsp:nvSpPr>
        <dsp:cNvPr id="0" name=""/>
        <dsp:cNvSpPr/>
      </dsp:nvSpPr>
      <dsp:spPr>
        <a:xfrm>
          <a:off x="7043495" y="1106115"/>
          <a:ext cx="4265860" cy="39413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35326" rIns="135128" bIns="135128"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bg1"/>
              </a:solidFill>
            </a:rPr>
            <a:t>Access to larger data set</a:t>
          </a:r>
        </a:p>
        <a:p>
          <a:pPr marL="114300" lvl="1" indent="-114300" algn="l" defTabSz="666750">
            <a:lnSpc>
              <a:spcPct val="90000"/>
            </a:lnSpc>
            <a:spcBef>
              <a:spcPct val="0"/>
            </a:spcBef>
            <a:spcAft>
              <a:spcPct val="15000"/>
            </a:spcAft>
            <a:buChar char="•"/>
          </a:pPr>
          <a:endParaRPr lang="en-US" sz="1500" kern="1200">
            <a:latin typeface="Ubuntu Medium"/>
          </a:endParaRPr>
        </a:p>
        <a:p>
          <a:pPr marL="114300" lvl="1" indent="-114300" algn="l" defTabSz="666750" rtl="0">
            <a:lnSpc>
              <a:spcPct val="90000"/>
            </a:lnSpc>
            <a:spcBef>
              <a:spcPct val="0"/>
            </a:spcBef>
            <a:spcAft>
              <a:spcPct val="15000"/>
            </a:spcAft>
            <a:buChar char="•"/>
          </a:pPr>
          <a:r>
            <a:rPr lang="en-US" sz="1500" kern="1200">
              <a:solidFill>
                <a:schemeClr val="bg1"/>
              </a:solidFill>
            </a:rPr>
            <a:t>Very fast and most accurate results  </a:t>
          </a:r>
          <a:endParaRPr lang="en-US" sz="1500" kern="1200">
            <a:solidFill>
              <a:schemeClr val="bg1"/>
            </a:solidFill>
            <a:latin typeface="Ubuntu Medium"/>
          </a:endParaRPr>
        </a:p>
        <a:p>
          <a:pPr marL="114300" lvl="1" indent="-114300" algn="l" defTabSz="666750">
            <a:lnSpc>
              <a:spcPct val="90000"/>
            </a:lnSpc>
            <a:spcBef>
              <a:spcPct val="0"/>
            </a:spcBef>
            <a:spcAft>
              <a:spcPct val="15000"/>
            </a:spcAft>
            <a:buChar char="•"/>
          </a:pPr>
          <a:r>
            <a:rPr lang="en-US" sz="1500" kern="1200">
              <a:latin typeface="Ubuntu Medium"/>
            </a:rPr>
            <a:t> </a:t>
          </a:r>
          <a:endParaRPr lang="en-US" sz="1500" kern="1200"/>
        </a:p>
        <a:p>
          <a:pPr marL="114300" lvl="1" indent="-114300" algn="l" defTabSz="666750">
            <a:lnSpc>
              <a:spcPct val="90000"/>
            </a:lnSpc>
            <a:spcBef>
              <a:spcPct val="0"/>
            </a:spcBef>
            <a:spcAft>
              <a:spcPct val="15000"/>
            </a:spcAft>
            <a:buChar char="•"/>
          </a:pPr>
          <a:r>
            <a:rPr lang="en-US" sz="1500" kern="1200">
              <a:solidFill>
                <a:schemeClr val="bg1"/>
              </a:solidFill>
            </a:rPr>
            <a:t>SLM can move to LLM model</a:t>
          </a:r>
        </a:p>
        <a:p>
          <a:pPr marL="114300" lvl="1" indent="-114300" algn="l" defTabSz="666750">
            <a:lnSpc>
              <a:spcPct val="90000"/>
            </a:lnSpc>
            <a:spcBef>
              <a:spcPct val="0"/>
            </a:spcBef>
            <a:spcAft>
              <a:spcPct val="15000"/>
            </a:spcAft>
            <a:buChar char="•"/>
          </a:pPr>
          <a:endParaRPr lang="en-US" sz="1500" kern="1200">
            <a:latin typeface="Ubuntu Medium"/>
          </a:endParaRPr>
        </a:p>
        <a:p>
          <a:pPr marL="114300" lvl="1" indent="-114300" algn="l" defTabSz="666750">
            <a:lnSpc>
              <a:spcPct val="90000"/>
            </a:lnSpc>
            <a:spcBef>
              <a:spcPct val="0"/>
            </a:spcBef>
            <a:spcAft>
              <a:spcPct val="15000"/>
            </a:spcAft>
            <a:buChar char="•"/>
          </a:pPr>
          <a:r>
            <a:rPr lang="en-US" sz="1500" kern="1200">
              <a:solidFill>
                <a:schemeClr val="bg1"/>
              </a:solidFill>
            </a:rPr>
            <a:t>Remediation still On the Box resolution </a:t>
          </a:r>
        </a:p>
        <a:p>
          <a:pPr marL="114300" lvl="1" indent="-114300" algn="l" defTabSz="666750">
            <a:lnSpc>
              <a:spcPct val="90000"/>
            </a:lnSpc>
            <a:spcBef>
              <a:spcPct val="0"/>
            </a:spcBef>
            <a:spcAft>
              <a:spcPct val="15000"/>
            </a:spcAft>
            <a:buChar char="•"/>
          </a:pPr>
          <a:endParaRPr lang="en-US" sz="1500" kern="1200">
            <a:latin typeface="Ubuntu Medium"/>
          </a:endParaRPr>
        </a:p>
        <a:p>
          <a:pPr marL="114300" lvl="1" indent="-114300" algn="l" defTabSz="666750">
            <a:lnSpc>
              <a:spcPct val="90000"/>
            </a:lnSpc>
            <a:spcBef>
              <a:spcPct val="0"/>
            </a:spcBef>
            <a:spcAft>
              <a:spcPct val="15000"/>
            </a:spcAft>
            <a:buChar char="•"/>
          </a:pPr>
          <a:r>
            <a:rPr lang="en-US" sz="1500" kern="1200">
              <a:solidFill>
                <a:schemeClr val="bg1"/>
              </a:solidFill>
            </a:rPr>
            <a:t>Inferencing engine is offloaded</a:t>
          </a:r>
        </a:p>
      </dsp:txBody>
      <dsp:txXfrm>
        <a:off x="7043495" y="1106115"/>
        <a:ext cx="4265860" cy="3941387"/>
      </dsp:txXfrm>
    </dsp:sp>
    <dsp:sp modelId="{23FA0B41-9E5B-4ADC-90B8-4F44B8013306}">
      <dsp:nvSpPr>
        <dsp:cNvPr id="0" name=""/>
        <dsp:cNvSpPr/>
      </dsp:nvSpPr>
      <dsp:spPr>
        <a:xfrm>
          <a:off x="6209740" y="5558"/>
          <a:ext cx="1667510" cy="1667510"/>
        </a:xfrm>
        <a:prstGeom prst="rect">
          <a:avLst/>
        </a:prstGeom>
        <a:blipFill>
          <a:blip xmlns:r="http://schemas.openxmlformats.org/officeDocument/2006/relationships" r:embed="rId2"/>
          <a:srcRect/>
          <a:stretch>
            <a:fillRect l="-45000" r="-4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F152D-B522-894E-A978-3B8FCBCC64FF}"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A1A42-548A-2C43-B782-7ED3E6A6BB6D}" type="slidenum">
              <a:rPr lang="en-US" smtClean="0"/>
              <a:t>‹#›</a:t>
            </a:fld>
            <a:endParaRPr lang="en-US"/>
          </a:p>
        </p:txBody>
      </p:sp>
    </p:spTree>
    <p:extLst>
      <p:ext uri="{BB962C8B-B14F-4D97-AF65-F5344CB8AC3E}">
        <p14:creationId xmlns:p14="http://schemas.microsoft.com/office/powerpoint/2010/main" val="3094283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C5369-5F36-333C-7357-82D33E3F4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9707D-07DD-A67E-EA7E-DCC3D56D6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CEB95-2EE5-73BD-C9BF-1D323EEFF9E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6C7193C-6C98-EB0B-6C8C-121ED51E21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732502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C44A-9598-1CE9-200F-98E4BEA23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04B16-BA72-2FFC-FBF7-A4F70BA2D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37E20-4956-ECCD-ED16-C49B9F3C08E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9690867-5C35-E7E3-63E4-58656849CF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632811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7F62-C3CA-0AE4-9833-2FECA8BF1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E4A12-4462-DB12-4609-622BFF64D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270F5-1213-E121-3E77-FF1F163CDF2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BC72FBA-6ED5-EB47-6660-48DA6924F5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020570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EAF6-720A-9B81-5884-F9CA230C5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80B9C-9AE9-9C61-FD21-E50CB3A67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22A95-7526-07A5-2356-570CC7BAC92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A0C9F87-313C-6AC7-1FBF-7FD6F9C1EE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755529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8A6C-EF55-5E45-7B4F-DB1C3E427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6B5B3-A8B7-69F0-776C-24BCF588D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28E5D-B36E-0765-2F2F-F31FBDFA17E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40807DB-2206-7EC1-E4AA-509D29C6F1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514358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0B85-9580-523D-AF9F-5AFE5C91C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E7AEC-EDA6-73B8-21AD-F00FD3525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BE15A-2689-DAFC-A035-86E59A7F1D7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B847276-CE6B-1039-C29A-6D0DEE79B9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338226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57854218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Large Title &amp; Large Imag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latin typeface="Ubuntu" panose="020B0504030602030204" pitchFamily="34" charset="0"/>
              </a:defRPr>
            </a:lvl1pPr>
          </a:lstStyle>
          <a:p>
            <a:r>
              <a:rPr lang="de-DE"/>
              <a:t>Insert Picture and send to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7988" y="1141270"/>
            <a:ext cx="4751907" cy="1800200"/>
          </a:xfrm>
        </p:spPr>
        <p:txBody>
          <a:bodyPr vert="horz" lIns="0" tIns="0" rIns="0" bIns="0" rtlCol="0" anchor="b">
            <a:noAutofit/>
          </a:bodyPr>
          <a:lstStyle>
            <a:lvl1pPr>
              <a:lnSpc>
                <a:spcPct val="80000"/>
              </a:lnSpc>
              <a:defRPr lang="en-GB" sz="3600" baseline="0">
                <a:solidFill>
                  <a:schemeClr val="bg1"/>
                </a:solidFill>
              </a:defRPr>
            </a:lvl1pPr>
          </a:lstStyle>
          <a:p>
            <a:pPr lvl="0"/>
            <a:r>
              <a:rPr lang="fr-FR"/>
              <a:t>Modifiez le style du titre</a:t>
            </a:r>
            <a:endParaRPr lang="en-GB"/>
          </a:p>
        </p:txBody>
      </p:sp>
      <p:grpSp>
        <p:nvGrpSpPr>
          <p:cNvPr id="6" name="Groupe 1">
            <a:extLst>
              <a:ext uri="{FF2B5EF4-FFF2-40B4-BE49-F238E27FC236}">
                <a16:creationId xmlns:a16="http://schemas.microsoft.com/office/drawing/2014/main" id="{A3F39AA2-059E-265C-F7F7-FAE9230C41A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072195B4-0CA6-C53F-4985-3DEAA2FF953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sp>
          <p:nvSpPr>
            <p:cNvPr id="8" name="Freeform 14">
              <a:extLst>
                <a:ext uri="{FF2B5EF4-FFF2-40B4-BE49-F238E27FC236}">
                  <a16:creationId xmlns:a16="http://schemas.microsoft.com/office/drawing/2014/main" id="{00E08832-8E2D-C0DA-65B1-A87AFC7C861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grpSp>
      <p:pic>
        <p:nvPicPr>
          <p:cNvPr id="4" name="Picture Placeholder 15" descr="Looking up view of tall buildings&#10;&#10;Description automatically generated">
            <a:extLst>
              <a:ext uri="{FF2B5EF4-FFF2-40B4-BE49-F238E27FC236}">
                <a16:creationId xmlns:a16="http://schemas.microsoft.com/office/drawing/2014/main" id="{B65C3C44-F342-18E7-94B4-8E984B94F80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12528" y="0"/>
            <a:ext cx="6279472" cy="6875180"/>
          </a:xfrm>
          <a:prstGeom prst="rect">
            <a:avLst/>
          </a:prstGeom>
        </p:spPr>
      </p:pic>
      <p:sp>
        <p:nvSpPr>
          <p:cNvPr id="5" name="Graphic 13">
            <a:extLst>
              <a:ext uri="{FF2B5EF4-FFF2-40B4-BE49-F238E27FC236}">
                <a16:creationId xmlns:a16="http://schemas.microsoft.com/office/drawing/2014/main" id="{EB2F30C5-FFD1-3E15-9C1E-D8FC504E5310}"/>
              </a:ext>
            </a:extLst>
          </p:cNvPr>
          <p:cNvSpPr>
            <a:spLocks noChangeAspect="1"/>
          </p:cNvSpPr>
          <p:nvPr userDrawn="1"/>
        </p:nvSpPr>
        <p:spPr>
          <a:xfrm rot="20991934">
            <a:off x="361485" y="986603"/>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latin typeface="Ubuntu" panose="020B0504030602030204" pitchFamily="34" charset="0"/>
            </a:endParaRPr>
          </a:p>
        </p:txBody>
      </p:sp>
    </p:spTree>
    <p:extLst>
      <p:ext uri="{BB962C8B-B14F-4D97-AF65-F5344CB8AC3E}">
        <p14:creationId xmlns:p14="http://schemas.microsoft.com/office/powerpoint/2010/main" val="141830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3_Only Title">
    <p:bg>
      <p:bgPr>
        <a:solidFill>
          <a:srgbClr val="27293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lvl1pPr>
              <a:defRPr>
                <a:solidFill>
                  <a:schemeClr val="bg1"/>
                </a:solidFill>
              </a:defRPr>
            </a:lvl1pPr>
          </a:lstStyle>
          <a:p>
            <a:endParaRPr lang="de-DE"/>
          </a:p>
        </p:txBody>
      </p:sp>
    </p:spTree>
    <p:extLst>
      <p:ext uri="{BB962C8B-B14F-4D97-AF65-F5344CB8AC3E}">
        <p14:creationId xmlns:p14="http://schemas.microsoft.com/office/powerpoint/2010/main" val="17805760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TMT Client M-Review Guidelines 2025 </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872517370"/>
      </p:ext>
    </p:extLst>
  </p:cSld>
  <p:clrMap bg1="lt1" tx1="dk1" bg2="lt2" tx2="dk2" accent1="accent1" accent2="accent2" accent3="accent3" accent4="accent4" accent5="accent5" accent6="accent6" hlink="hlink" folHlink="folHlink"/>
  <p:sldLayoutIdLst>
    <p:sldLayoutId id="2147483661" r:id="rId1"/>
    <p:sldLayoutId id="2147483878" r:id="rId2"/>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TMT Client M-Review Guidelines 2025 </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791216636"/>
      </p:ext>
    </p:extLst>
  </p:cSld>
  <p:clrMap bg1="lt1" tx1="dk1" bg2="lt2" tx2="dk2" accent1="accent1" accent2="accent2" accent3="accent3" accent4="accent4" accent5="accent5" accent6="accent6" hlink="hlink" folHlink="folHlink"/>
  <p:sldLayoutIdLst>
    <p:sldLayoutId id="2147484030" r:id="rId1"/>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sv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4.svg"/><Relationship Id="rId4" Type="http://schemas.openxmlformats.org/officeDocument/2006/relationships/image" Target="../media/image4.svg"/><Relationship Id="rId9" Type="http://schemas.openxmlformats.org/officeDocument/2006/relationships/image" Target="../media/image13.png"/><Relationship Id="rId14" Type="http://schemas.openxmlformats.org/officeDocument/2006/relationships/image" Target="../media/image1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AC3B-FDBB-F99A-478B-1289C16ABA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502D14-6075-C1C7-8F71-8F9BA2BDFF23}"/>
              </a:ext>
            </a:extLst>
          </p:cNvPr>
          <p:cNvSpPr>
            <a:spLocks noGrp="1"/>
          </p:cNvSpPr>
          <p:nvPr>
            <p:ph type="title"/>
          </p:nvPr>
        </p:nvSpPr>
        <p:spPr/>
        <p:txBody>
          <a:bodyPr/>
          <a:lstStyle/>
          <a:p>
            <a:r>
              <a:rPr lang="en-IN" dirty="0"/>
              <a:t>DELL – CG Workshop</a:t>
            </a:r>
            <a:br>
              <a:rPr lang="en-IN" dirty="0"/>
            </a:br>
            <a:br>
              <a:rPr lang="en-IN" dirty="0"/>
            </a:br>
            <a:r>
              <a:rPr lang="en-IN" dirty="0"/>
              <a:t>January 2026</a:t>
            </a:r>
            <a:br>
              <a:rPr lang="en-IN" dirty="0"/>
            </a:br>
            <a:br>
              <a:rPr lang="en-IN" dirty="0"/>
            </a:br>
            <a:r>
              <a:rPr lang="en-IN" dirty="0"/>
              <a:t>version 0.9</a:t>
            </a:r>
            <a:endParaRPr lang="en-US" dirty="0"/>
          </a:p>
        </p:txBody>
      </p:sp>
    </p:spTree>
    <p:extLst>
      <p:ext uri="{BB962C8B-B14F-4D97-AF65-F5344CB8AC3E}">
        <p14:creationId xmlns:p14="http://schemas.microsoft.com/office/powerpoint/2010/main" val="3970787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A131E-CB90-4B0A-32F3-38CA5500DA9F}"/>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DA71E9C1-B88A-8EBC-EB4D-39165C2E91B5}"/>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dirty="0">
                <a:effectLst/>
                <a:latin typeface="Calibri" panose="020F0502020204030204" pitchFamily="34" charset="0"/>
              </a:rPr>
              <a:t>Hybrid Solution – OTB</a:t>
            </a:r>
            <a:endParaRPr lang="en-IN" sz="3200" b="1" u="sng" dirty="0">
              <a:solidFill>
                <a:schemeClr val="accent1"/>
              </a:solidFill>
            </a:endParaRPr>
          </a:p>
        </p:txBody>
      </p:sp>
      <p:sp>
        <p:nvSpPr>
          <p:cNvPr id="10" name="Rectangle: Rounded Corners 9">
            <a:extLst>
              <a:ext uri="{FF2B5EF4-FFF2-40B4-BE49-F238E27FC236}">
                <a16:creationId xmlns:a16="http://schemas.microsoft.com/office/drawing/2014/main" id="{CA863574-AE1D-4A08-4473-0896C21511F3}"/>
              </a:ext>
            </a:extLst>
          </p:cNvPr>
          <p:cNvSpPr/>
          <p:nvPr/>
        </p:nvSpPr>
        <p:spPr>
          <a:xfrm>
            <a:off x="175491" y="2280144"/>
            <a:ext cx="1533423" cy="536948"/>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1"/>
                </a:solidFill>
              </a:rPr>
              <a:t>Data Telemetry (DTM)</a:t>
            </a:r>
            <a:endParaRPr lang="en-US" sz="1050" dirty="0">
              <a:solidFill>
                <a:schemeClr val="tx1"/>
              </a:solidFill>
            </a:endParaRPr>
          </a:p>
        </p:txBody>
      </p:sp>
      <p:sp>
        <p:nvSpPr>
          <p:cNvPr id="11" name="Arrow: Right 10">
            <a:extLst>
              <a:ext uri="{FF2B5EF4-FFF2-40B4-BE49-F238E27FC236}">
                <a16:creationId xmlns:a16="http://schemas.microsoft.com/office/drawing/2014/main" id="{4BEA325E-E9BF-0306-C5AB-590FA45F6739}"/>
              </a:ext>
            </a:extLst>
          </p:cNvPr>
          <p:cNvSpPr/>
          <p:nvPr/>
        </p:nvSpPr>
        <p:spPr>
          <a:xfrm>
            <a:off x="1791857" y="2336801"/>
            <a:ext cx="914400"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4" name="Rectangle: Rounded Corners 13">
            <a:extLst>
              <a:ext uri="{FF2B5EF4-FFF2-40B4-BE49-F238E27FC236}">
                <a16:creationId xmlns:a16="http://schemas.microsoft.com/office/drawing/2014/main" id="{F899835E-15C7-647B-57B9-DC3BB43A11D9}"/>
              </a:ext>
            </a:extLst>
          </p:cNvPr>
          <p:cNvSpPr/>
          <p:nvPr/>
        </p:nvSpPr>
        <p:spPr>
          <a:xfrm>
            <a:off x="4996878" y="2909455"/>
            <a:ext cx="1311557" cy="1280751"/>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Master SLM</a:t>
            </a:r>
          </a:p>
          <a:p>
            <a:pPr algn="ctr"/>
            <a:r>
              <a:rPr lang="en-US" sz="1000" dirty="0">
                <a:solidFill>
                  <a:schemeClr val="bg1"/>
                </a:solidFill>
              </a:rPr>
              <a:t>(RAG Based)</a:t>
            </a:r>
          </a:p>
        </p:txBody>
      </p:sp>
      <p:sp>
        <p:nvSpPr>
          <p:cNvPr id="15" name="Rectangle: Rounded Corners 14">
            <a:extLst>
              <a:ext uri="{FF2B5EF4-FFF2-40B4-BE49-F238E27FC236}">
                <a16:creationId xmlns:a16="http://schemas.microsoft.com/office/drawing/2014/main" id="{06E3AFF0-2EC3-6965-3103-4A7EAACCE961}"/>
              </a:ext>
            </a:extLst>
          </p:cNvPr>
          <p:cNvSpPr/>
          <p:nvPr/>
        </p:nvSpPr>
        <p:spPr>
          <a:xfrm>
            <a:off x="3029527" y="1951300"/>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sp>
        <p:nvSpPr>
          <p:cNvPr id="16" name="Rectangle: Rounded Corners 15">
            <a:extLst>
              <a:ext uri="{FF2B5EF4-FFF2-40B4-BE49-F238E27FC236}">
                <a16:creationId xmlns:a16="http://schemas.microsoft.com/office/drawing/2014/main" id="{0F229B43-985F-07F4-6907-52C1B7B6FC98}"/>
              </a:ext>
            </a:extLst>
          </p:cNvPr>
          <p:cNvSpPr/>
          <p:nvPr/>
        </p:nvSpPr>
        <p:spPr>
          <a:xfrm>
            <a:off x="3029527" y="2251486"/>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sp>
        <p:nvSpPr>
          <p:cNvPr id="17" name="Rectangle: Rounded Corners 16">
            <a:extLst>
              <a:ext uri="{FF2B5EF4-FFF2-40B4-BE49-F238E27FC236}">
                <a16:creationId xmlns:a16="http://schemas.microsoft.com/office/drawing/2014/main" id="{8BDCD6D5-480B-6C53-30CC-73FE417FB360}"/>
              </a:ext>
            </a:extLst>
          </p:cNvPr>
          <p:cNvSpPr/>
          <p:nvPr/>
        </p:nvSpPr>
        <p:spPr>
          <a:xfrm>
            <a:off x="3029527" y="2551672"/>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sp>
        <p:nvSpPr>
          <p:cNvPr id="18" name="Rectangle: Rounded Corners 17">
            <a:extLst>
              <a:ext uri="{FF2B5EF4-FFF2-40B4-BE49-F238E27FC236}">
                <a16:creationId xmlns:a16="http://schemas.microsoft.com/office/drawing/2014/main" id="{2D1CFB79-D37F-C753-28D6-FE10978AE7F4}"/>
              </a:ext>
            </a:extLst>
          </p:cNvPr>
          <p:cNvSpPr/>
          <p:nvPr/>
        </p:nvSpPr>
        <p:spPr>
          <a:xfrm>
            <a:off x="3029527" y="2851858"/>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cxnSp>
        <p:nvCxnSpPr>
          <p:cNvPr id="20" name="Connector: Elbow 19">
            <a:extLst>
              <a:ext uri="{FF2B5EF4-FFF2-40B4-BE49-F238E27FC236}">
                <a16:creationId xmlns:a16="http://schemas.microsoft.com/office/drawing/2014/main" id="{2883F340-0B72-C2F6-4772-BCAD31B71616}"/>
              </a:ext>
            </a:extLst>
          </p:cNvPr>
          <p:cNvCxnSpPr>
            <a:cxnSpLocks/>
            <a:stCxn id="15" idx="3"/>
            <a:endCxn id="14" idx="1"/>
          </p:cNvCxnSpPr>
          <p:nvPr/>
        </p:nvCxnSpPr>
        <p:spPr>
          <a:xfrm>
            <a:off x="4126807" y="2042740"/>
            <a:ext cx="870071" cy="1507091"/>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E6904B0-C476-F65B-A25E-A7768E5DA68D}"/>
              </a:ext>
            </a:extLst>
          </p:cNvPr>
          <p:cNvCxnSpPr>
            <a:cxnSpLocks/>
            <a:stCxn id="16" idx="3"/>
            <a:endCxn id="14" idx="1"/>
          </p:cNvCxnSpPr>
          <p:nvPr/>
        </p:nvCxnSpPr>
        <p:spPr>
          <a:xfrm>
            <a:off x="4126807" y="2342926"/>
            <a:ext cx="870071" cy="1206905"/>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200060BC-CFC6-8D32-D61F-0870B520816C}"/>
              </a:ext>
            </a:extLst>
          </p:cNvPr>
          <p:cNvCxnSpPr>
            <a:cxnSpLocks/>
            <a:stCxn id="17" idx="3"/>
            <a:endCxn id="14" idx="1"/>
          </p:cNvCxnSpPr>
          <p:nvPr/>
        </p:nvCxnSpPr>
        <p:spPr>
          <a:xfrm>
            <a:off x="4126807" y="2643112"/>
            <a:ext cx="870071" cy="906719"/>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86909246-4897-2CDD-1D76-1E707D56D331}"/>
              </a:ext>
            </a:extLst>
          </p:cNvPr>
          <p:cNvCxnSpPr>
            <a:cxnSpLocks/>
            <a:stCxn id="18" idx="3"/>
            <a:endCxn id="14" idx="1"/>
          </p:cNvCxnSpPr>
          <p:nvPr/>
        </p:nvCxnSpPr>
        <p:spPr>
          <a:xfrm>
            <a:off x="4126807" y="2943298"/>
            <a:ext cx="870071" cy="606533"/>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46D0294D-8420-568F-B3B9-6D218FA7C00A}"/>
              </a:ext>
            </a:extLst>
          </p:cNvPr>
          <p:cNvSpPr/>
          <p:nvPr/>
        </p:nvSpPr>
        <p:spPr>
          <a:xfrm>
            <a:off x="2761674" y="1279237"/>
            <a:ext cx="3713018" cy="3786908"/>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39" name="TextBox 38">
            <a:extLst>
              <a:ext uri="{FF2B5EF4-FFF2-40B4-BE49-F238E27FC236}">
                <a16:creationId xmlns:a16="http://schemas.microsoft.com/office/drawing/2014/main" id="{39729382-B99D-C806-A2EC-7397822763A1}"/>
              </a:ext>
            </a:extLst>
          </p:cNvPr>
          <p:cNvSpPr txBox="1"/>
          <p:nvPr/>
        </p:nvSpPr>
        <p:spPr>
          <a:xfrm>
            <a:off x="4017816" y="1010334"/>
            <a:ext cx="1178865" cy="279180"/>
          </a:xfrm>
          <a:prstGeom prst="rect">
            <a:avLst/>
          </a:prstGeom>
          <a:noFill/>
        </p:spPr>
        <p:txBody>
          <a:bodyPr vert="horz" wrap="square" lIns="90000" tIns="46800" rIns="90000" bIns="46800" rtlCol="0" anchor="ctr">
            <a:spAutoFit/>
          </a:bodyPr>
          <a:lstStyle/>
          <a:p>
            <a:pPr algn="l">
              <a:spcBef>
                <a:spcPct val="0"/>
              </a:spcBef>
            </a:pPr>
            <a:r>
              <a:rPr lang="en-US" sz="1200" dirty="0">
                <a:solidFill>
                  <a:schemeClr val="bg1"/>
                </a:solidFill>
              </a:rPr>
              <a:t>Detect Agent</a:t>
            </a:r>
          </a:p>
        </p:txBody>
      </p:sp>
      <p:sp>
        <p:nvSpPr>
          <p:cNvPr id="40" name="TextBox 39">
            <a:extLst>
              <a:ext uri="{FF2B5EF4-FFF2-40B4-BE49-F238E27FC236}">
                <a16:creationId xmlns:a16="http://schemas.microsoft.com/office/drawing/2014/main" id="{218F45CE-CBF5-2073-F5C2-2F47B32CF4C0}"/>
              </a:ext>
            </a:extLst>
          </p:cNvPr>
          <p:cNvSpPr txBox="1"/>
          <p:nvPr/>
        </p:nvSpPr>
        <p:spPr>
          <a:xfrm>
            <a:off x="1736436" y="1969400"/>
            <a:ext cx="923636" cy="402291"/>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Near real time Events</a:t>
            </a:r>
          </a:p>
        </p:txBody>
      </p:sp>
      <p:sp>
        <p:nvSpPr>
          <p:cNvPr id="41" name="Arrow: Right 40">
            <a:extLst>
              <a:ext uri="{FF2B5EF4-FFF2-40B4-BE49-F238E27FC236}">
                <a16:creationId xmlns:a16="http://schemas.microsoft.com/office/drawing/2014/main" id="{11426050-3D71-B489-3520-679B7CF96252}"/>
              </a:ext>
            </a:extLst>
          </p:cNvPr>
          <p:cNvSpPr/>
          <p:nvPr/>
        </p:nvSpPr>
        <p:spPr>
          <a:xfrm>
            <a:off x="6682512" y="2304474"/>
            <a:ext cx="914400"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42" name="TextBox 41">
            <a:extLst>
              <a:ext uri="{FF2B5EF4-FFF2-40B4-BE49-F238E27FC236}">
                <a16:creationId xmlns:a16="http://schemas.microsoft.com/office/drawing/2014/main" id="{832F1E3E-78DD-2085-5244-8CF6C1470AB2}"/>
              </a:ext>
            </a:extLst>
          </p:cNvPr>
          <p:cNvSpPr txBox="1"/>
          <p:nvPr/>
        </p:nvSpPr>
        <p:spPr>
          <a:xfrm>
            <a:off x="6571675" y="1860129"/>
            <a:ext cx="1094510" cy="556179"/>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Detected Issue and Relevant Info</a:t>
            </a:r>
          </a:p>
        </p:txBody>
      </p:sp>
      <p:sp>
        <p:nvSpPr>
          <p:cNvPr id="43" name="Rectangle: Rounded Corners 42">
            <a:extLst>
              <a:ext uri="{FF2B5EF4-FFF2-40B4-BE49-F238E27FC236}">
                <a16:creationId xmlns:a16="http://schemas.microsoft.com/office/drawing/2014/main" id="{F9F65ACB-58A3-09C9-7227-C85306FA570D}"/>
              </a:ext>
            </a:extLst>
          </p:cNvPr>
          <p:cNvSpPr/>
          <p:nvPr/>
        </p:nvSpPr>
        <p:spPr>
          <a:xfrm>
            <a:off x="198582" y="3688690"/>
            <a:ext cx="1533423" cy="536948"/>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1"/>
                </a:solidFill>
              </a:rPr>
              <a:t>Data Telemetry (DTM)</a:t>
            </a:r>
            <a:endParaRPr lang="en-US" sz="1050" dirty="0">
              <a:solidFill>
                <a:schemeClr val="tx1"/>
              </a:solidFill>
            </a:endParaRPr>
          </a:p>
        </p:txBody>
      </p:sp>
      <p:sp>
        <p:nvSpPr>
          <p:cNvPr id="44" name="Arrow: Right 43">
            <a:extLst>
              <a:ext uri="{FF2B5EF4-FFF2-40B4-BE49-F238E27FC236}">
                <a16:creationId xmlns:a16="http://schemas.microsoft.com/office/drawing/2014/main" id="{9C2AA09B-7A32-C12C-4E14-049F17C12A8D}"/>
              </a:ext>
            </a:extLst>
          </p:cNvPr>
          <p:cNvSpPr/>
          <p:nvPr/>
        </p:nvSpPr>
        <p:spPr>
          <a:xfrm>
            <a:off x="1805712" y="3745347"/>
            <a:ext cx="914400"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45" name="TextBox 44">
            <a:extLst>
              <a:ext uri="{FF2B5EF4-FFF2-40B4-BE49-F238E27FC236}">
                <a16:creationId xmlns:a16="http://schemas.microsoft.com/office/drawing/2014/main" id="{FE96F806-513D-8BFB-8C6D-DA6EAA122AC3}"/>
              </a:ext>
            </a:extLst>
          </p:cNvPr>
          <p:cNvSpPr txBox="1"/>
          <p:nvPr/>
        </p:nvSpPr>
        <p:spPr>
          <a:xfrm>
            <a:off x="1768764" y="3538017"/>
            <a:ext cx="923636"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Batch Data</a:t>
            </a:r>
          </a:p>
        </p:txBody>
      </p:sp>
      <p:sp>
        <p:nvSpPr>
          <p:cNvPr id="46" name="Arrow: Right 45">
            <a:extLst>
              <a:ext uri="{FF2B5EF4-FFF2-40B4-BE49-F238E27FC236}">
                <a16:creationId xmlns:a16="http://schemas.microsoft.com/office/drawing/2014/main" id="{411C99EE-D43E-BE7F-CEA6-E2C0AA69A981}"/>
              </a:ext>
            </a:extLst>
          </p:cNvPr>
          <p:cNvSpPr/>
          <p:nvPr/>
        </p:nvSpPr>
        <p:spPr>
          <a:xfrm>
            <a:off x="6677893" y="3583709"/>
            <a:ext cx="914400"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47" name="TextBox 46">
            <a:extLst>
              <a:ext uri="{FF2B5EF4-FFF2-40B4-BE49-F238E27FC236}">
                <a16:creationId xmlns:a16="http://schemas.microsoft.com/office/drawing/2014/main" id="{4AA9296B-AD31-B62A-4C2C-7189D9A5891D}"/>
              </a:ext>
            </a:extLst>
          </p:cNvPr>
          <p:cNvSpPr txBox="1"/>
          <p:nvPr/>
        </p:nvSpPr>
        <p:spPr>
          <a:xfrm>
            <a:off x="6594766" y="3047005"/>
            <a:ext cx="1094510" cy="556179"/>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Failure Prediction and Relevant Info</a:t>
            </a:r>
          </a:p>
        </p:txBody>
      </p:sp>
      <p:sp>
        <p:nvSpPr>
          <p:cNvPr id="57" name="Rectangle: Rounded Corners 56">
            <a:extLst>
              <a:ext uri="{FF2B5EF4-FFF2-40B4-BE49-F238E27FC236}">
                <a16:creationId xmlns:a16="http://schemas.microsoft.com/office/drawing/2014/main" id="{9DE68C71-EC8E-214F-C787-19E606E72AF1}"/>
              </a:ext>
            </a:extLst>
          </p:cNvPr>
          <p:cNvSpPr/>
          <p:nvPr/>
        </p:nvSpPr>
        <p:spPr>
          <a:xfrm>
            <a:off x="3071090" y="3770876"/>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sp>
        <p:nvSpPr>
          <p:cNvPr id="58" name="Rectangle: Rounded Corners 57">
            <a:extLst>
              <a:ext uri="{FF2B5EF4-FFF2-40B4-BE49-F238E27FC236}">
                <a16:creationId xmlns:a16="http://schemas.microsoft.com/office/drawing/2014/main" id="{08DBC9DA-53DE-1B92-AEC0-71367BAF3B51}"/>
              </a:ext>
            </a:extLst>
          </p:cNvPr>
          <p:cNvSpPr/>
          <p:nvPr/>
        </p:nvSpPr>
        <p:spPr>
          <a:xfrm>
            <a:off x="3084945" y="4098767"/>
            <a:ext cx="1097280" cy="18288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SLM/ML</a:t>
            </a:r>
          </a:p>
        </p:txBody>
      </p:sp>
      <p:sp>
        <p:nvSpPr>
          <p:cNvPr id="60" name="Rectangle: Rounded Corners 59">
            <a:extLst>
              <a:ext uri="{FF2B5EF4-FFF2-40B4-BE49-F238E27FC236}">
                <a16:creationId xmlns:a16="http://schemas.microsoft.com/office/drawing/2014/main" id="{F0F66762-74B2-E99A-7C6A-451BBF1F6A90}"/>
              </a:ext>
            </a:extLst>
          </p:cNvPr>
          <p:cNvSpPr/>
          <p:nvPr/>
        </p:nvSpPr>
        <p:spPr>
          <a:xfrm>
            <a:off x="2974109" y="1791855"/>
            <a:ext cx="1681018" cy="1385454"/>
          </a:xfrm>
          <a:prstGeom prst="roundRect">
            <a:avLst/>
          </a:prstGeom>
          <a:no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1" name="Rectangle: Rounded Corners 60">
            <a:extLst>
              <a:ext uri="{FF2B5EF4-FFF2-40B4-BE49-F238E27FC236}">
                <a16:creationId xmlns:a16="http://schemas.microsoft.com/office/drawing/2014/main" id="{44423767-F4DE-B25B-6073-981E69A9BC4B}"/>
              </a:ext>
            </a:extLst>
          </p:cNvPr>
          <p:cNvSpPr/>
          <p:nvPr/>
        </p:nvSpPr>
        <p:spPr>
          <a:xfrm>
            <a:off x="2969491" y="3657600"/>
            <a:ext cx="1741054" cy="711200"/>
          </a:xfrm>
          <a:prstGeom prst="roundRect">
            <a:avLst/>
          </a:prstGeom>
          <a:noFill/>
          <a:ln w="9525">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cxnSp>
        <p:nvCxnSpPr>
          <p:cNvPr id="65" name="Connector: Elbow 64">
            <a:extLst>
              <a:ext uri="{FF2B5EF4-FFF2-40B4-BE49-F238E27FC236}">
                <a16:creationId xmlns:a16="http://schemas.microsoft.com/office/drawing/2014/main" id="{E6D294FF-6F20-70C6-4AA5-C347AB60AF5F}"/>
              </a:ext>
            </a:extLst>
          </p:cNvPr>
          <p:cNvCxnSpPr>
            <a:cxnSpLocks/>
            <a:stCxn id="57" idx="3"/>
            <a:endCxn id="14" idx="1"/>
          </p:cNvCxnSpPr>
          <p:nvPr/>
        </p:nvCxnSpPr>
        <p:spPr>
          <a:xfrm flipV="1">
            <a:off x="4168370" y="3549831"/>
            <a:ext cx="828508" cy="312485"/>
          </a:xfrm>
          <a:prstGeom prst="bentConnector3">
            <a:avLst>
              <a:gd name="adj1" fmla="val 50000"/>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7758FFFC-2B19-ADA6-9CB3-C0E923C16209}"/>
              </a:ext>
            </a:extLst>
          </p:cNvPr>
          <p:cNvCxnSpPr>
            <a:cxnSpLocks/>
            <a:stCxn id="58" idx="3"/>
            <a:endCxn id="14" idx="1"/>
          </p:cNvCxnSpPr>
          <p:nvPr/>
        </p:nvCxnSpPr>
        <p:spPr>
          <a:xfrm flipV="1">
            <a:off x="4182225" y="3549831"/>
            <a:ext cx="814653" cy="640376"/>
          </a:xfrm>
          <a:prstGeom prst="bentConnector3">
            <a:avLst>
              <a:gd name="adj1" fmla="val 50000"/>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3CFF2225-80E7-38EA-79FD-FD97CA268BBA}"/>
              </a:ext>
            </a:extLst>
          </p:cNvPr>
          <p:cNvSpPr txBox="1"/>
          <p:nvPr/>
        </p:nvSpPr>
        <p:spPr>
          <a:xfrm>
            <a:off x="3108036" y="4341580"/>
            <a:ext cx="1353127"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Regression Models</a:t>
            </a:r>
          </a:p>
        </p:txBody>
      </p:sp>
      <p:sp>
        <p:nvSpPr>
          <p:cNvPr id="73" name="TextBox 72">
            <a:extLst>
              <a:ext uri="{FF2B5EF4-FFF2-40B4-BE49-F238E27FC236}">
                <a16:creationId xmlns:a16="http://schemas.microsoft.com/office/drawing/2014/main" id="{B3D6D6A6-8D0D-3322-8FF0-BCFC6D63B5DE}"/>
              </a:ext>
            </a:extLst>
          </p:cNvPr>
          <p:cNvSpPr txBox="1"/>
          <p:nvPr/>
        </p:nvSpPr>
        <p:spPr>
          <a:xfrm>
            <a:off x="3084944" y="1584526"/>
            <a:ext cx="1468582"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Classification Models</a:t>
            </a:r>
          </a:p>
        </p:txBody>
      </p:sp>
      <p:sp>
        <p:nvSpPr>
          <p:cNvPr id="87" name="TextBox 86">
            <a:extLst>
              <a:ext uri="{FF2B5EF4-FFF2-40B4-BE49-F238E27FC236}">
                <a16:creationId xmlns:a16="http://schemas.microsoft.com/office/drawing/2014/main" id="{4BCC0734-E3F9-A88D-62E8-AF8C6536592D}"/>
              </a:ext>
            </a:extLst>
          </p:cNvPr>
          <p:cNvSpPr txBox="1"/>
          <p:nvPr/>
        </p:nvSpPr>
        <p:spPr>
          <a:xfrm>
            <a:off x="4992259" y="1646050"/>
            <a:ext cx="1168401" cy="402291"/>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Text Generation Models</a:t>
            </a:r>
          </a:p>
        </p:txBody>
      </p:sp>
      <p:pic>
        <p:nvPicPr>
          <p:cNvPr id="89" name="Graphic 88" descr="Database with solid fill">
            <a:extLst>
              <a:ext uri="{FF2B5EF4-FFF2-40B4-BE49-F238E27FC236}">
                <a16:creationId xmlns:a16="http://schemas.microsoft.com/office/drawing/2014/main" id="{B8A5DC2A-97CF-7B22-D5B3-873B7EFEC3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4450" y="4283366"/>
            <a:ext cx="501073" cy="501073"/>
          </a:xfrm>
          <a:prstGeom prst="rect">
            <a:avLst/>
          </a:prstGeom>
        </p:spPr>
      </p:pic>
      <p:cxnSp>
        <p:nvCxnSpPr>
          <p:cNvPr id="93" name="Connector: Elbow 92">
            <a:extLst>
              <a:ext uri="{FF2B5EF4-FFF2-40B4-BE49-F238E27FC236}">
                <a16:creationId xmlns:a16="http://schemas.microsoft.com/office/drawing/2014/main" id="{4C1979D6-4CEA-9D0E-F85B-CE60A1EAD2F0}"/>
              </a:ext>
            </a:extLst>
          </p:cNvPr>
          <p:cNvCxnSpPr>
            <a:cxnSpLocks/>
            <a:stCxn id="89" idx="3"/>
            <a:endCxn id="14" idx="2"/>
          </p:cNvCxnSpPr>
          <p:nvPr/>
        </p:nvCxnSpPr>
        <p:spPr>
          <a:xfrm flipV="1">
            <a:off x="5315523" y="4190206"/>
            <a:ext cx="337134" cy="343697"/>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651FCA09-6FA4-DB05-718A-8123F78B5B48}"/>
              </a:ext>
            </a:extLst>
          </p:cNvPr>
          <p:cNvSpPr txBox="1"/>
          <p:nvPr/>
        </p:nvSpPr>
        <p:spPr>
          <a:xfrm>
            <a:off x="4544291" y="4666422"/>
            <a:ext cx="1126837" cy="402291"/>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Product Info / Issue Database</a:t>
            </a:r>
          </a:p>
        </p:txBody>
      </p:sp>
      <p:sp>
        <p:nvSpPr>
          <p:cNvPr id="98" name="TextBox 97">
            <a:extLst>
              <a:ext uri="{FF2B5EF4-FFF2-40B4-BE49-F238E27FC236}">
                <a16:creationId xmlns:a16="http://schemas.microsoft.com/office/drawing/2014/main" id="{33F51309-0F2C-DA95-128B-A1C26546E202}"/>
              </a:ext>
            </a:extLst>
          </p:cNvPr>
          <p:cNvSpPr txBox="1"/>
          <p:nvPr/>
        </p:nvSpPr>
        <p:spPr>
          <a:xfrm>
            <a:off x="3856181" y="1261254"/>
            <a:ext cx="1639455"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Deployable Component</a:t>
            </a:r>
          </a:p>
        </p:txBody>
      </p:sp>
      <p:sp>
        <p:nvSpPr>
          <p:cNvPr id="134" name="Rectangle: Rounded Corners 133">
            <a:extLst>
              <a:ext uri="{FF2B5EF4-FFF2-40B4-BE49-F238E27FC236}">
                <a16:creationId xmlns:a16="http://schemas.microsoft.com/office/drawing/2014/main" id="{24B0DC01-1075-CD0A-A699-C1F6F37272F6}"/>
              </a:ext>
            </a:extLst>
          </p:cNvPr>
          <p:cNvSpPr/>
          <p:nvPr/>
        </p:nvSpPr>
        <p:spPr>
          <a:xfrm>
            <a:off x="7633855" y="1279237"/>
            <a:ext cx="1639454" cy="3785616"/>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36" name="TextBox 135">
            <a:extLst>
              <a:ext uri="{FF2B5EF4-FFF2-40B4-BE49-F238E27FC236}">
                <a16:creationId xmlns:a16="http://schemas.microsoft.com/office/drawing/2014/main" id="{0A901F0D-333B-CF24-2CAE-609F8A2A7BA8}"/>
              </a:ext>
            </a:extLst>
          </p:cNvPr>
          <p:cNvSpPr txBox="1"/>
          <p:nvPr/>
        </p:nvSpPr>
        <p:spPr>
          <a:xfrm>
            <a:off x="7716975" y="982625"/>
            <a:ext cx="1380841" cy="279180"/>
          </a:xfrm>
          <a:prstGeom prst="rect">
            <a:avLst/>
          </a:prstGeom>
          <a:noFill/>
        </p:spPr>
        <p:txBody>
          <a:bodyPr vert="horz" wrap="square" lIns="90000" tIns="46800" rIns="90000" bIns="46800" rtlCol="0" anchor="ctr">
            <a:spAutoFit/>
          </a:bodyPr>
          <a:lstStyle/>
          <a:p>
            <a:pPr algn="l">
              <a:spcBef>
                <a:spcPct val="0"/>
              </a:spcBef>
            </a:pPr>
            <a:r>
              <a:rPr lang="en-US" sz="1200" dirty="0">
                <a:solidFill>
                  <a:schemeClr val="bg1"/>
                </a:solidFill>
              </a:rPr>
              <a:t>Diagnosis Agent</a:t>
            </a:r>
          </a:p>
        </p:txBody>
      </p:sp>
      <p:sp>
        <p:nvSpPr>
          <p:cNvPr id="140" name="TextBox 139">
            <a:extLst>
              <a:ext uri="{FF2B5EF4-FFF2-40B4-BE49-F238E27FC236}">
                <a16:creationId xmlns:a16="http://schemas.microsoft.com/office/drawing/2014/main" id="{0544FB15-6429-533E-FF34-212355C5DB63}"/>
              </a:ext>
            </a:extLst>
          </p:cNvPr>
          <p:cNvSpPr txBox="1"/>
          <p:nvPr/>
        </p:nvSpPr>
        <p:spPr>
          <a:xfrm>
            <a:off x="7693887" y="1275110"/>
            <a:ext cx="1639455"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Deployable Component</a:t>
            </a:r>
          </a:p>
        </p:txBody>
      </p:sp>
      <p:sp>
        <p:nvSpPr>
          <p:cNvPr id="141" name="Rectangle: Rounded Corners 140">
            <a:extLst>
              <a:ext uri="{FF2B5EF4-FFF2-40B4-BE49-F238E27FC236}">
                <a16:creationId xmlns:a16="http://schemas.microsoft.com/office/drawing/2014/main" id="{02538431-8BEF-166A-1ED7-4E827934EAF8}"/>
              </a:ext>
            </a:extLst>
          </p:cNvPr>
          <p:cNvSpPr/>
          <p:nvPr/>
        </p:nvSpPr>
        <p:spPr>
          <a:xfrm>
            <a:off x="7800118" y="2677797"/>
            <a:ext cx="1297703" cy="1354895"/>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Master SLM</a:t>
            </a:r>
          </a:p>
          <a:p>
            <a:pPr algn="ctr"/>
            <a:r>
              <a:rPr lang="en-US" sz="1000" dirty="0">
                <a:solidFill>
                  <a:schemeClr val="bg1"/>
                </a:solidFill>
              </a:rPr>
              <a:t>(RAG Based)</a:t>
            </a:r>
          </a:p>
        </p:txBody>
      </p:sp>
      <p:pic>
        <p:nvPicPr>
          <p:cNvPr id="142" name="Graphic 141" descr="Database with solid fill">
            <a:extLst>
              <a:ext uri="{FF2B5EF4-FFF2-40B4-BE49-F238E27FC236}">
                <a16:creationId xmlns:a16="http://schemas.microsoft.com/office/drawing/2014/main" id="{59F3735A-97DA-855A-3847-5386A8C8F9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93178" y="4125852"/>
            <a:ext cx="501073" cy="501073"/>
          </a:xfrm>
          <a:prstGeom prst="rect">
            <a:avLst/>
          </a:prstGeom>
        </p:spPr>
      </p:pic>
      <p:cxnSp>
        <p:nvCxnSpPr>
          <p:cNvPr id="143" name="Connector: Elbow 142">
            <a:extLst>
              <a:ext uri="{FF2B5EF4-FFF2-40B4-BE49-F238E27FC236}">
                <a16:creationId xmlns:a16="http://schemas.microsoft.com/office/drawing/2014/main" id="{67560F5B-14D2-DDB2-C597-3B97B1D47ADC}"/>
              </a:ext>
            </a:extLst>
          </p:cNvPr>
          <p:cNvCxnSpPr>
            <a:cxnSpLocks/>
            <a:stCxn id="142" idx="3"/>
            <a:endCxn id="141" idx="2"/>
          </p:cNvCxnSpPr>
          <p:nvPr/>
        </p:nvCxnSpPr>
        <p:spPr>
          <a:xfrm flipV="1">
            <a:off x="8294251" y="4032692"/>
            <a:ext cx="154719" cy="343697"/>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97C073D7-A04D-954F-3D20-C11DAA67AD0D}"/>
              </a:ext>
            </a:extLst>
          </p:cNvPr>
          <p:cNvSpPr txBox="1"/>
          <p:nvPr/>
        </p:nvSpPr>
        <p:spPr>
          <a:xfrm>
            <a:off x="7606147" y="4573559"/>
            <a:ext cx="909782" cy="402291"/>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Knowledge Base</a:t>
            </a:r>
          </a:p>
        </p:txBody>
      </p:sp>
      <p:sp>
        <p:nvSpPr>
          <p:cNvPr id="148" name="Arrow: Right 147">
            <a:extLst>
              <a:ext uri="{FF2B5EF4-FFF2-40B4-BE49-F238E27FC236}">
                <a16:creationId xmlns:a16="http://schemas.microsoft.com/office/drawing/2014/main" id="{829909DF-CC14-99EC-9D7E-47FB72240E96}"/>
              </a:ext>
            </a:extLst>
          </p:cNvPr>
          <p:cNvSpPr/>
          <p:nvPr/>
        </p:nvSpPr>
        <p:spPr>
          <a:xfrm>
            <a:off x="9384148" y="2909455"/>
            <a:ext cx="914400"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49" name="TextBox 148">
            <a:extLst>
              <a:ext uri="{FF2B5EF4-FFF2-40B4-BE49-F238E27FC236}">
                <a16:creationId xmlns:a16="http://schemas.microsoft.com/office/drawing/2014/main" id="{B9B0FB13-BCF9-9311-6358-3A1C92C4EA90}"/>
              </a:ext>
            </a:extLst>
          </p:cNvPr>
          <p:cNvSpPr txBox="1"/>
          <p:nvPr/>
        </p:nvSpPr>
        <p:spPr>
          <a:xfrm>
            <a:off x="9268693" y="2555912"/>
            <a:ext cx="937489" cy="402291"/>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Remediation Actions</a:t>
            </a:r>
          </a:p>
        </p:txBody>
      </p:sp>
      <p:sp>
        <p:nvSpPr>
          <p:cNvPr id="150" name="TextBox 149">
            <a:extLst>
              <a:ext uri="{FF2B5EF4-FFF2-40B4-BE49-F238E27FC236}">
                <a16:creationId xmlns:a16="http://schemas.microsoft.com/office/drawing/2014/main" id="{303B2B70-F327-8771-1107-DDB4DF746D2E}"/>
              </a:ext>
            </a:extLst>
          </p:cNvPr>
          <p:cNvSpPr txBox="1"/>
          <p:nvPr/>
        </p:nvSpPr>
        <p:spPr>
          <a:xfrm>
            <a:off x="7897090" y="1535291"/>
            <a:ext cx="1168401" cy="402291"/>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Text Generation Models</a:t>
            </a:r>
          </a:p>
        </p:txBody>
      </p:sp>
      <p:sp>
        <p:nvSpPr>
          <p:cNvPr id="151" name="Rectangle: Rounded Corners 150">
            <a:extLst>
              <a:ext uri="{FF2B5EF4-FFF2-40B4-BE49-F238E27FC236}">
                <a16:creationId xmlns:a16="http://schemas.microsoft.com/office/drawing/2014/main" id="{997D63B7-5C23-EE81-8CDB-EA9EC801D5D2}"/>
              </a:ext>
            </a:extLst>
          </p:cNvPr>
          <p:cNvSpPr/>
          <p:nvPr/>
        </p:nvSpPr>
        <p:spPr>
          <a:xfrm>
            <a:off x="10326255" y="1279237"/>
            <a:ext cx="1639454" cy="3785616"/>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2" name="Rectangle: Rounded Corners 151">
            <a:extLst>
              <a:ext uri="{FF2B5EF4-FFF2-40B4-BE49-F238E27FC236}">
                <a16:creationId xmlns:a16="http://schemas.microsoft.com/office/drawing/2014/main" id="{01C303FC-9444-96EB-092E-C3983B2F0178}"/>
              </a:ext>
            </a:extLst>
          </p:cNvPr>
          <p:cNvSpPr/>
          <p:nvPr/>
        </p:nvSpPr>
        <p:spPr>
          <a:xfrm>
            <a:off x="10492518" y="2416308"/>
            <a:ext cx="1297703" cy="124742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Master SLM</a:t>
            </a:r>
          </a:p>
          <a:p>
            <a:pPr algn="ctr"/>
            <a:r>
              <a:rPr lang="en-US" sz="1000" dirty="0">
                <a:solidFill>
                  <a:schemeClr val="bg1"/>
                </a:solidFill>
              </a:rPr>
              <a:t>(RAG Based)</a:t>
            </a:r>
          </a:p>
        </p:txBody>
      </p:sp>
      <p:sp>
        <p:nvSpPr>
          <p:cNvPr id="153" name="TextBox 152">
            <a:extLst>
              <a:ext uri="{FF2B5EF4-FFF2-40B4-BE49-F238E27FC236}">
                <a16:creationId xmlns:a16="http://schemas.microsoft.com/office/drawing/2014/main" id="{293161A4-E200-AB94-9754-AC3FE0F0C851}"/>
              </a:ext>
            </a:extLst>
          </p:cNvPr>
          <p:cNvSpPr txBox="1"/>
          <p:nvPr/>
        </p:nvSpPr>
        <p:spPr>
          <a:xfrm>
            <a:off x="10353964" y="982625"/>
            <a:ext cx="1634836" cy="279180"/>
          </a:xfrm>
          <a:prstGeom prst="rect">
            <a:avLst/>
          </a:prstGeom>
          <a:noFill/>
        </p:spPr>
        <p:txBody>
          <a:bodyPr vert="horz" wrap="square" lIns="90000" tIns="46800" rIns="90000" bIns="46800" rtlCol="0" anchor="ctr">
            <a:spAutoFit/>
          </a:bodyPr>
          <a:lstStyle/>
          <a:p>
            <a:pPr algn="l">
              <a:spcBef>
                <a:spcPct val="0"/>
              </a:spcBef>
            </a:pPr>
            <a:r>
              <a:rPr lang="en-US" sz="1200" dirty="0">
                <a:solidFill>
                  <a:schemeClr val="bg1"/>
                </a:solidFill>
              </a:rPr>
              <a:t>Remediation Agent</a:t>
            </a:r>
          </a:p>
        </p:txBody>
      </p:sp>
      <p:pic>
        <p:nvPicPr>
          <p:cNvPr id="158" name="Graphic 157" descr="Tools with solid fill">
            <a:extLst>
              <a:ext uri="{FF2B5EF4-FFF2-40B4-BE49-F238E27FC236}">
                <a16:creationId xmlns:a16="http://schemas.microsoft.com/office/drawing/2014/main" id="{BCF90F7D-0FD6-DE07-8C3A-52756C7F32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41636" y="3909052"/>
            <a:ext cx="365760" cy="365760"/>
          </a:xfrm>
          <a:prstGeom prst="rect">
            <a:avLst/>
          </a:prstGeom>
        </p:spPr>
      </p:pic>
      <p:pic>
        <p:nvPicPr>
          <p:cNvPr id="162" name="Graphic 161" descr="Database with solid fill">
            <a:extLst>
              <a:ext uri="{FF2B5EF4-FFF2-40B4-BE49-F238E27FC236}">
                <a16:creationId xmlns:a16="http://schemas.microsoft.com/office/drawing/2014/main" id="{66CE59FE-9CF7-F48D-939B-7C7A207724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76341" y="3867730"/>
            <a:ext cx="457200" cy="457200"/>
          </a:xfrm>
          <a:prstGeom prst="rect">
            <a:avLst/>
          </a:prstGeom>
        </p:spPr>
      </p:pic>
      <p:sp>
        <p:nvSpPr>
          <p:cNvPr id="164" name="TextBox 163">
            <a:extLst>
              <a:ext uri="{FF2B5EF4-FFF2-40B4-BE49-F238E27FC236}">
                <a16:creationId xmlns:a16="http://schemas.microsoft.com/office/drawing/2014/main" id="{4C31E532-665E-ED21-C325-5ABE5681CC22}"/>
              </a:ext>
            </a:extLst>
          </p:cNvPr>
          <p:cNvSpPr txBox="1"/>
          <p:nvPr/>
        </p:nvSpPr>
        <p:spPr>
          <a:xfrm>
            <a:off x="11055927" y="4355006"/>
            <a:ext cx="951345" cy="400110"/>
          </a:xfrm>
          <a:prstGeom prst="rect">
            <a:avLst/>
          </a:prstGeom>
          <a:noFill/>
        </p:spPr>
        <p:txBody>
          <a:bodyPr wrap="square">
            <a:spAutoFit/>
          </a:bodyPr>
          <a:lstStyle/>
          <a:p>
            <a:pPr algn="ctr">
              <a:spcBef>
                <a:spcPct val="0"/>
              </a:spcBef>
            </a:pPr>
            <a:r>
              <a:rPr lang="en-US" sz="1000" dirty="0">
                <a:solidFill>
                  <a:schemeClr val="bg1"/>
                </a:solidFill>
              </a:rPr>
              <a:t>Diagnostic tools</a:t>
            </a:r>
          </a:p>
        </p:txBody>
      </p:sp>
      <p:sp>
        <p:nvSpPr>
          <p:cNvPr id="165" name="TextBox 164">
            <a:extLst>
              <a:ext uri="{FF2B5EF4-FFF2-40B4-BE49-F238E27FC236}">
                <a16:creationId xmlns:a16="http://schemas.microsoft.com/office/drawing/2014/main" id="{D965FB1F-4A59-1DB4-E584-6D7906D99451}"/>
              </a:ext>
            </a:extLst>
          </p:cNvPr>
          <p:cNvSpPr txBox="1"/>
          <p:nvPr/>
        </p:nvSpPr>
        <p:spPr>
          <a:xfrm>
            <a:off x="10372438" y="4275440"/>
            <a:ext cx="729670" cy="556179"/>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Tools Usage Prompts</a:t>
            </a:r>
          </a:p>
        </p:txBody>
      </p:sp>
      <p:cxnSp>
        <p:nvCxnSpPr>
          <p:cNvPr id="167" name="Connector: Elbow 166">
            <a:extLst>
              <a:ext uri="{FF2B5EF4-FFF2-40B4-BE49-F238E27FC236}">
                <a16:creationId xmlns:a16="http://schemas.microsoft.com/office/drawing/2014/main" id="{FD80FF67-AB85-63DB-A558-1658DED98DB6}"/>
              </a:ext>
            </a:extLst>
          </p:cNvPr>
          <p:cNvCxnSpPr>
            <a:cxnSpLocks/>
            <a:stCxn id="162" idx="3"/>
            <a:endCxn id="152" idx="2"/>
          </p:cNvCxnSpPr>
          <p:nvPr/>
        </p:nvCxnSpPr>
        <p:spPr>
          <a:xfrm flipV="1">
            <a:off x="10933541" y="3663734"/>
            <a:ext cx="207829" cy="432596"/>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Connector: Elbow 170">
            <a:extLst>
              <a:ext uri="{FF2B5EF4-FFF2-40B4-BE49-F238E27FC236}">
                <a16:creationId xmlns:a16="http://schemas.microsoft.com/office/drawing/2014/main" id="{B9B16478-DCFB-14A4-0A89-D2A97AE4A9BA}"/>
              </a:ext>
            </a:extLst>
          </p:cNvPr>
          <p:cNvCxnSpPr>
            <a:cxnSpLocks/>
            <a:stCxn id="158" idx="1"/>
            <a:endCxn id="152" idx="2"/>
          </p:cNvCxnSpPr>
          <p:nvPr/>
        </p:nvCxnSpPr>
        <p:spPr>
          <a:xfrm rot="10800000">
            <a:off x="11141370" y="3663734"/>
            <a:ext cx="200266" cy="428198"/>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D85B26A3-4C68-848D-AFE5-92E0E21F3CDA}"/>
              </a:ext>
            </a:extLst>
          </p:cNvPr>
          <p:cNvSpPr txBox="1"/>
          <p:nvPr/>
        </p:nvSpPr>
        <p:spPr>
          <a:xfrm>
            <a:off x="10395523" y="1307436"/>
            <a:ext cx="1639455"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Deployable Component</a:t>
            </a:r>
          </a:p>
        </p:txBody>
      </p:sp>
      <p:sp>
        <p:nvSpPr>
          <p:cNvPr id="174" name="Rectangle: Rounded Corners 173">
            <a:extLst>
              <a:ext uri="{FF2B5EF4-FFF2-40B4-BE49-F238E27FC236}">
                <a16:creationId xmlns:a16="http://schemas.microsoft.com/office/drawing/2014/main" id="{1ED843ED-D760-DD5C-3FEE-FEE080BECBF2}"/>
              </a:ext>
            </a:extLst>
          </p:cNvPr>
          <p:cNvSpPr/>
          <p:nvPr/>
        </p:nvSpPr>
        <p:spPr>
          <a:xfrm>
            <a:off x="2835564" y="5661891"/>
            <a:ext cx="9162472" cy="748145"/>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175" name="TextBox 174">
            <a:extLst>
              <a:ext uri="{FF2B5EF4-FFF2-40B4-BE49-F238E27FC236}">
                <a16:creationId xmlns:a16="http://schemas.microsoft.com/office/drawing/2014/main" id="{ECC9B090-8ACC-932B-4285-0758CD85256B}"/>
              </a:ext>
            </a:extLst>
          </p:cNvPr>
          <p:cNvSpPr txBox="1"/>
          <p:nvPr/>
        </p:nvSpPr>
        <p:spPr>
          <a:xfrm>
            <a:off x="2987962" y="5753255"/>
            <a:ext cx="1454729" cy="556179"/>
          </a:xfrm>
          <a:prstGeom prst="rect">
            <a:avLst/>
          </a:prstGeom>
          <a:noFill/>
        </p:spPr>
        <p:txBody>
          <a:bodyPr vert="horz" wrap="square" lIns="90000" tIns="46800" rIns="90000" bIns="46800" rtlCol="0" anchor="ctr">
            <a:spAutoFit/>
          </a:bodyPr>
          <a:lstStyle/>
          <a:p>
            <a:pPr>
              <a:spcBef>
                <a:spcPct val="0"/>
              </a:spcBef>
            </a:pPr>
            <a:r>
              <a:rPr lang="en-US" sz="1000" b="1" dirty="0">
                <a:solidFill>
                  <a:schemeClr val="bg1"/>
                </a:solidFill>
              </a:rPr>
              <a:t>Model Management and Workload Orchestration Agent</a:t>
            </a:r>
            <a:endParaRPr lang="en-US" sz="1000" dirty="0">
              <a:solidFill>
                <a:schemeClr val="bg1"/>
              </a:solidFill>
            </a:endParaRPr>
          </a:p>
        </p:txBody>
      </p:sp>
      <p:pic>
        <p:nvPicPr>
          <p:cNvPr id="176" name="Graphic 175" descr="Database with solid fill">
            <a:extLst>
              <a:ext uri="{FF2B5EF4-FFF2-40B4-BE49-F238E27FC236}">
                <a16:creationId xmlns:a16="http://schemas.microsoft.com/office/drawing/2014/main" id="{EAC0E2CD-4D78-0BE3-F399-6AF93614A9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9068" y="5701148"/>
            <a:ext cx="501073" cy="501073"/>
          </a:xfrm>
          <a:prstGeom prst="rect">
            <a:avLst/>
          </a:prstGeom>
        </p:spPr>
      </p:pic>
      <p:sp>
        <p:nvSpPr>
          <p:cNvPr id="177" name="Arrow: Right 176">
            <a:extLst>
              <a:ext uri="{FF2B5EF4-FFF2-40B4-BE49-F238E27FC236}">
                <a16:creationId xmlns:a16="http://schemas.microsoft.com/office/drawing/2014/main" id="{84A2D14A-CF40-C2B1-D9A3-86937101F4FB}"/>
              </a:ext>
            </a:extLst>
          </p:cNvPr>
          <p:cNvSpPr/>
          <p:nvPr/>
        </p:nvSpPr>
        <p:spPr>
          <a:xfrm rot="5400000">
            <a:off x="4345709" y="5149276"/>
            <a:ext cx="378691"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78" name="Arrow: Right 177">
            <a:extLst>
              <a:ext uri="{FF2B5EF4-FFF2-40B4-BE49-F238E27FC236}">
                <a16:creationId xmlns:a16="http://schemas.microsoft.com/office/drawing/2014/main" id="{DC0A1877-935D-A0E0-E6A7-217F48ECF7AC}"/>
              </a:ext>
            </a:extLst>
          </p:cNvPr>
          <p:cNvSpPr/>
          <p:nvPr/>
        </p:nvSpPr>
        <p:spPr>
          <a:xfrm rot="5400000">
            <a:off x="8294255" y="5144658"/>
            <a:ext cx="378691"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79" name="Arrow: Right 178">
            <a:extLst>
              <a:ext uri="{FF2B5EF4-FFF2-40B4-BE49-F238E27FC236}">
                <a16:creationId xmlns:a16="http://schemas.microsoft.com/office/drawing/2014/main" id="{F51EEFCE-D446-CB8E-2BD8-7B77B5C711BE}"/>
              </a:ext>
            </a:extLst>
          </p:cNvPr>
          <p:cNvSpPr/>
          <p:nvPr/>
        </p:nvSpPr>
        <p:spPr>
          <a:xfrm rot="5400000">
            <a:off x="11000510" y="5163131"/>
            <a:ext cx="378691" cy="406400"/>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80" name="TextBox 179">
            <a:extLst>
              <a:ext uri="{FF2B5EF4-FFF2-40B4-BE49-F238E27FC236}">
                <a16:creationId xmlns:a16="http://schemas.microsoft.com/office/drawing/2014/main" id="{96B45CB8-E362-E45C-30FE-DA032DB1BD59}"/>
              </a:ext>
            </a:extLst>
          </p:cNvPr>
          <p:cNvSpPr txBox="1"/>
          <p:nvPr/>
        </p:nvSpPr>
        <p:spPr>
          <a:xfrm>
            <a:off x="4655127" y="5118977"/>
            <a:ext cx="1071419" cy="263791"/>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Agent Output</a:t>
            </a:r>
          </a:p>
        </p:txBody>
      </p:sp>
      <p:sp>
        <p:nvSpPr>
          <p:cNvPr id="181" name="TextBox 180">
            <a:extLst>
              <a:ext uri="{FF2B5EF4-FFF2-40B4-BE49-F238E27FC236}">
                <a16:creationId xmlns:a16="http://schemas.microsoft.com/office/drawing/2014/main" id="{723F20FB-916A-CB29-9E57-D2396EE62C99}"/>
              </a:ext>
            </a:extLst>
          </p:cNvPr>
          <p:cNvSpPr txBox="1"/>
          <p:nvPr/>
        </p:nvSpPr>
        <p:spPr>
          <a:xfrm>
            <a:off x="8622145" y="5105122"/>
            <a:ext cx="1071419" cy="263791"/>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Agent Output</a:t>
            </a:r>
          </a:p>
        </p:txBody>
      </p:sp>
      <p:sp>
        <p:nvSpPr>
          <p:cNvPr id="182" name="TextBox 181">
            <a:extLst>
              <a:ext uri="{FF2B5EF4-FFF2-40B4-BE49-F238E27FC236}">
                <a16:creationId xmlns:a16="http://schemas.microsoft.com/office/drawing/2014/main" id="{2845D971-A087-1B14-4872-59B92E021380}"/>
              </a:ext>
            </a:extLst>
          </p:cNvPr>
          <p:cNvSpPr txBox="1"/>
          <p:nvPr/>
        </p:nvSpPr>
        <p:spPr>
          <a:xfrm>
            <a:off x="9970654" y="5132832"/>
            <a:ext cx="1071419" cy="263791"/>
          </a:xfrm>
          <a:prstGeom prst="rect">
            <a:avLst/>
          </a:prstGeom>
          <a:noFill/>
        </p:spPr>
        <p:txBody>
          <a:bodyPr vert="horz" wrap="square" lIns="90000" tIns="46800" rIns="90000" bIns="46800" rtlCol="0" anchor="ctr">
            <a:spAutoFit/>
          </a:bodyPr>
          <a:lstStyle/>
          <a:p>
            <a:pPr algn="l">
              <a:spcBef>
                <a:spcPct val="0"/>
              </a:spcBef>
            </a:pPr>
            <a:r>
              <a:rPr lang="en-US" sz="1100" dirty="0">
                <a:solidFill>
                  <a:schemeClr val="bg1"/>
                </a:solidFill>
              </a:rPr>
              <a:t>Agent Output</a:t>
            </a:r>
          </a:p>
        </p:txBody>
      </p:sp>
      <p:sp>
        <p:nvSpPr>
          <p:cNvPr id="183" name="Arrow: Right 182">
            <a:extLst>
              <a:ext uri="{FF2B5EF4-FFF2-40B4-BE49-F238E27FC236}">
                <a16:creationId xmlns:a16="http://schemas.microsoft.com/office/drawing/2014/main" id="{231B4482-80BF-35B6-9BD2-D997D8146E17}"/>
              </a:ext>
            </a:extLst>
          </p:cNvPr>
          <p:cNvSpPr/>
          <p:nvPr/>
        </p:nvSpPr>
        <p:spPr>
          <a:xfrm rot="2584773">
            <a:off x="1551709" y="4959927"/>
            <a:ext cx="1228437" cy="332509"/>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84" name="TextBox 183">
            <a:extLst>
              <a:ext uri="{FF2B5EF4-FFF2-40B4-BE49-F238E27FC236}">
                <a16:creationId xmlns:a16="http://schemas.microsoft.com/office/drawing/2014/main" id="{F333291D-A5FE-DA33-A18F-06DD2D1ED103}"/>
              </a:ext>
            </a:extLst>
          </p:cNvPr>
          <p:cNvSpPr txBox="1"/>
          <p:nvPr/>
        </p:nvSpPr>
        <p:spPr>
          <a:xfrm>
            <a:off x="1233055" y="5334520"/>
            <a:ext cx="1071419" cy="433068"/>
          </a:xfrm>
          <a:prstGeom prst="rect">
            <a:avLst/>
          </a:prstGeom>
          <a:noFill/>
        </p:spPr>
        <p:txBody>
          <a:bodyPr vert="horz" wrap="square" lIns="90000" tIns="46800" rIns="90000" bIns="46800" rtlCol="0" anchor="ctr">
            <a:spAutoFit/>
          </a:bodyPr>
          <a:lstStyle/>
          <a:p>
            <a:pPr algn="ctr">
              <a:spcBef>
                <a:spcPct val="0"/>
              </a:spcBef>
            </a:pPr>
            <a:r>
              <a:rPr lang="en-US" sz="1100" dirty="0">
                <a:solidFill>
                  <a:schemeClr val="bg1"/>
                </a:solidFill>
              </a:rPr>
              <a:t>Telemetry Data</a:t>
            </a:r>
          </a:p>
        </p:txBody>
      </p:sp>
      <p:sp>
        <p:nvSpPr>
          <p:cNvPr id="185" name="TextBox 184">
            <a:extLst>
              <a:ext uri="{FF2B5EF4-FFF2-40B4-BE49-F238E27FC236}">
                <a16:creationId xmlns:a16="http://schemas.microsoft.com/office/drawing/2014/main" id="{91407C17-E074-E67B-4FDB-A8BA4B5D8534}"/>
              </a:ext>
            </a:extLst>
          </p:cNvPr>
          <p:cNvSpPr txBox="1"/>
          <p:nvPr/>
        </p:nvSpPr>
        <p:spPr>
          <a:xfrm>
            <a:off x="5883563" y="5674778"/>
            <a:ext cx="5310910" cy="740845"/>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US" sz="1050" dirty="0">
                <a:solidFill>
                  <a:schemeClr val="bg1"/>
                </a:solidFill>
              </a:rPr>
              <a:t>Work as Master Orchestrator [Moving Agent between Silicon]</a:t>
            </a:r>
          </a:p>
          <a:p>
            <a:pPr marL="285750" indent="-285750" algn="l">
              <a:spcBef>
                <a:spcPct val="0"/>
              </a:spcBef>
              <a:buFont typeface="Arial" panose="020B0604020202020204" pitchFamily="34" charset="0"/>
              <a:buChar char="•"/>
            </a:pPr>
            <a:r>
              <a:rPr lang="en-US" sz="1050" dirty="0">
                <a:solidFill>
                  <a:schemeClr val="bg1"/>
                </a:solidFill>
              </a:rPr>
              <a:t>Track detected issue E2E</a:t>
            </a:r>
          </a:p>
          <a:p>
            <a:pPr marL="285750" indent="-285750" algn="l">
              <a:spcBef>
                <a:spcPct val="0"/>
              </a:spcBef>
              <a:buFont typeface="Arial" panose="020B0604020202020204" pitchFamily="34" charset="0"/>
              <a:buChar char="•"/>
            </a:pPr>
            <a:r>
              <a:rPr lang="en-US" sz="1050" dirty="0">
                <a:solidFill>
                  <a:schemeClr val="bg1"/>
                </a:solidFill>
              </a:rPr>
              <a:t>Provide Feedback to agents if issue remediated or further action required</a:t>
            </a:r>
          </a:p>
          <a:p>
            <a:pPr marL="285750" indent="-285750" algn="l">
              <a:spcBef>
                <a:spcPct val="0"/>
              </a:spcBef>
              <a:buFont typeface="Arial" panose="020B0604020202020204" pitchFamily="34" charset="0"/>
              <a:buChar char="•"/>
            </a:pPr>
            <a:r>
              <a:rPr lang="en-US" sz="1050" dirty="0">
                <a:solidFill>
                  <a:schemeClr val="bg1"/>
                </a:solidFill>
              </a:rPr>
              <a:t>Act as Training Data for Next Model Update</a:t>
            </a:r>
          </a:p>
        </p:txBody>
      </p:sp>
      <p:sp>
        <p:nvSpPr>
          <p:cNvPr id="186" name="TextBox 185">
            <a:extLst>
              <a:ext uri="{FF2B5EF4-FFF2-40B4-BE49-F238E27FC236}">
                <a16:creationId xmlns:a16="http://schemas.microsoft.com/office/drawing/2014/main" id="{13A172C5-74C3-C2AF-0FB8-3D5CADBA6BDC}"/>
              </a:ext>
            </a:extLst>
          </p:cNvPr>
          <p:cNvSpPr txBox="1"/>
          <p:nvPr/>
        </p:nvSpPr>
        <p:spPr>
          <a:xfrm>
            <a:off x="4290291" y="6142675"/>
            <a:ext cx="1565564" cy="248402"/>
          </a:xfrm>
          <a:prstGeom prst="rect">
            <a:avLst/>
          </a:prstGeom>
          <a:noFill/>
        </p:spPr>
        <p:txBody>
          <a:bodyPr vert="horz" wrap="square" lIns="90000" tIns="46800" rIns="90000" bIns="46800" rtlCol="0" anchor="ctr">
            <a:spAutoFit/>
          </a:bodyPr>
          <a:lstStyle/>
          <a:p>
            <a:pPr algn="ctr">
              <a:spcBef>
                <a:spcPct val="0"/>
              </a:spcBef>
            </a:pPr>
            <a:r>
              <a:rPr lang="en-US" sz="1000" dirty="0">
                <a:solidFill>
                  <a:schemeClr val="bg1"/>
                </a:solidFill>
              </a:rPr>
              <a:t>Monitoring Issue DB</a:t>
            </a:r>
          </a:p>
        </p:txBody>
      </p:sp>
      <p:sp>
        <p:nvSpPr>
          <p:cNvPr id="187" name="TextBox 186">
            <a:extLst>
              <a:ext uri="{FF2B5EF4-FFF2-40B4-BE49-F238E27FC236}">
                <a16:creationId xmlns:a16="http://schemas.microsoft.com/office/drawing/2014/main" id="{83C3F2CB-7EDA-D46D-8E77-79D674303C8A}"/>
              </a:ext>
            </a:extLst>
          </p:cNvPr>
          <p:cNvSpPr txBox="1"/>
          <p:nvPr/>
        </p:nvSpPr>
        <p:spPr>
          <a:xfrm>
            <a:off x="2983344" y="6410527"/>
            <a:ext cx="1639455"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Deployable Component</a:t>
            </a:r>
          </a:p>
        </p:txBody>
      </p:sp>
      <p:sp>
        <p:nvSpPr>
          <p:cNvPr id="191" name="TextBox 190">
            <a:extLst>
              <a:ext uri="{FF2B5EF4-FFF2-40B4-BE49-F238E27FC236}">
                <a16:creationId xmlns:a16="http://schemas.microsoft.com/office/drawing/2014/main" id="{D423FC27-AD7F-64DD-B5D7-0BA664736525}"/>
              </a:ext>
            </a:extLst>
          </p:cNvPr>
          <p:cNvSpPr txBox="1"/>
          <p:nvPr/>
        </p:nvSpPr>
        <p:spPr>
          <a:xfrm>
            <a:off x="3131127" y="3280942"/>
            <a:ext cx="1265382" cy="263791"/>
          </a:xfrm>
          <a:prstGeom prst="rect">
            <a:avLst/>
          </a:prstGeom>
          <a:noFill/>
        </p:spPr>
        <p:txBody>
          <a:bodyPr vert="horz" wrap="square" lIns="90000" tIns="46800" rIns="90000" bIns="46800" rtlCol="0" anchor="ctr">
            <a:spAutoFit/>
          </a:bodyPr>
          <a:lstStyle/>
          <a:p>
            <a:pPr algn="l">
              <a:spcBef>
                <a:spcPct val="0"/>
              </a:spcBef>
            </a:pPr>
            <a:r>
              <a:rPr lang="en-US" sz="1100" b="1" dirty="0">
                <a:solidFill>
                  <a:schemeClr val="bg1"/>
                </a:solidFill>
              </a:rPr>
              <a:t>Expert Models</a:t>
            </a:r>
          </a:p>
        </p:txBody>
      </p:sp>
      <p:sp>
        <p:nvSpPr>
          <p:cNvPr id="3" name="Rectangle: Rounded Corners 2">
            <a:extLst>
              <a:ext uri="{FF2B5EF4-FFF2-40B4-BE49-F238E27FC236}">
                <a16:creationId xmlns:a16="http://schemas.microsoft.com/office/drawing/2014/main" id="{159A4070-CA94-8CAF-41FB-931C313A4CE4}"/>
              </a:ext>
            </a:extLst>
          </p:cNvPr>
          <p:cNvSpPr/>
          <p:nvPr/>
        </p:nvSpPr>
        <p:spPr>
          <a:xfrm>
            <a:off x="7780146" y="2070922"/>
            <a:ext cx="1297703" cy="53744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bg1"/>
                </a:solidFill>
              </a:rPr>
              <a:t>Reasoning </a:t>
            </a:r>
            <a:r>
              <a:rPr lang="en-US" sz="1100" dirty="0" err="1">
                <a:solidFill>
                  <a:schemeClr val="bg1"/>
                </a:solidFill>
              </a:rPr>
              <a:t>LoRA</a:t>
            </a:r>
            <a:r>
              <a:rPr lang="en-US" sz="1100" dirty="0">
                <a:solidFill>
                  <a:schemeClr val="bg1"/>
                </a:solidFill>
              </a:rPr>
              <a:t> Adapter</a:t>
            </a:r>
          </a:p>
        </p:txBody>
      </p:sp>
      <p:sp>
        <p:nvSpPr>
          <p:cNvPr id="7" name="Rectangle: Rounded Corners 6">
            <a:extLst>
              <a:ext uri="{FF2B5EF4-FFF2-40B4-BE49-F238E27FC236}">
                <a16:creationId xmlns:a16="http://schemas.microsoft.com/office/drawing/2014/main" id="{ADCEF1BF-28F2-6A59-86E6-1EBA2CC0A68C}"/>
              </a:ext>
            </a:extLst>
          </p:cNvPr>
          <p:cNvSpPr/>
          <p:nvPr/>
        </p:nvSpPr>
        <p:spPr>
          <a:xfrm>
            <a:off x="10453256" y="1841967"/>
            <a:ext cx="1297703" cy="53744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bg1"/>
                </a:solidFill>
              </a:rPr>
              <a:t>Function Calling </a:t>
            </a:r>
            <a:r>
              <a:rPr lang="en-US" sz="1100" dirty="0" err="1">
                <a:solidFill>
                  <a:schemeClr val="bg1"/>
                </a:solidFill>
              </a:rPr>
              <a:t>LoRA</a:t>
            </a:r>
            <a:r>
              <a:rPr lang="en-US" sz="1100" dirty="0">
                <a:solidFill>
                  <a:schemeClr val="bg1"/>
                </a:solidFill>
              </a:rPr>
              <a:t> Adapter</a:t>
            </a:r>
          </a:p>
        </p:txBody>
      </p:sp>
      <p:sp>
        <p:nvSpPr>
          <p:cNvPr id="24" name="Rectangle: Rounded Corners 23">
            <a:extLst>
              <a:ext uri="{FF2B5EF4-FFF2-40B4-BE49-F238E27FC236}">
                <a16:creationId xmlns:a16="http://schemas.microsoft.com/office/drawing/2014/main" id="{B25FBE8C-E86A-6EE7-8D9C-499551DAD369}"/>
              </a:ext>
            </a:extLst>
          </p:cNvPr>
          <p:cNvSpPr/>
          <p:nvPr/>
        </p:nvSpPr>
        <p:spPr>
          <a:xfrm>
            <a:off x="4964551" y="2297715"/>
            <a:ext cx="1297703" cy="537440"/>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dirty="0">
                <a:solidFill>
                  <a:schemeClr val="bg1"/>
                </a:solidFill>
              </a:rPr>
              <a:t>Reasoning </a:t>
            </a:r>
            <a:r>
              <a:rPr lang="en-US" sz="1100" dirty="0" err="1">
                <a:solidFill>
                  <a:schemeClr val="bg1"/>
                </a:solidFill>
              </a:rPr>
              <a:t>LoRA</a:t>
            </a:r>
            <a:r>
              <a:rPr lang="en-US" sz="1100" dirty="0">
                <a:solidFill>
                  <a:schemeClr val="bg1"/>
                </a:solidFill>
              </a:rPr>
              <a:t> Adapter</a:t>
            </a:r>
          </a:p>
        </p:txBody>
      </p:sp>
    </p:spTree>
    <p:extLst>
      <p:ext uri="{BB962C8B-B14F-4D97-AF65-F5344CB8AC3E}">
        <p14:creationId xmlns:p14="http://schemas.microsoft.com/office/powerpoint/2010/main" val="33802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0E4FC-83B3-28BB-C0B7-52E9B81C177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0F520C05-97B7-5BD7-5D38-6BF858EFD12A}"/>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dirty="0">
                <a:effectLst/>
                <a:latin typeface="Calibri" panose="020F0502020204030204" pitchFamily="34" charset="0"/>
              </a:rPr>
              <a:t>Hybrid Solution – OTB</a:t>
            </a:r>
            <a:endParaRPr lang="en-IN" sz="3200" b="1" u="sng" dirty="0">
              <a:solidFill>
                <a:schemeClr val="accent1"/>
              </a:solidFill>
            </a:endParaRPr>
          </a:p>
        </p:txBody>
      </p:sp>
      <p:sp>
        <p:nvSpPr>
          <p:cNvPr id="2" name="Rectangle: Rounded Corners 1">
            <a:extLst>
              <a:ext uri="{FF2B5EF4-FFF2-40B4-BE49-F238E27FC236}">
                <a16:creationId xmlns:a16="http://schemas.microsoft.com/office/drawing/2014/main" id="{CA22E36F-940D-77F5-754B-ABC307487E33}"/>
              </a:ext>
            </a:extLst>
          </p:cNvPr>
          <p:cNvSpPr/>
          <p:nvPr/>
        </p:nvSpPr>
        <p:spPr>
          <a:xfrm>
            <a:off x="401789" y="1581846"/>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Memory</a:t>
            </a:r>
          </a:p>
        </p:txBody>
      </p:sp>
      <p:sp>
        <p:nvSpPr>
          <p:cNvPr id="4" name="Rectangle: Rounded Corners 3">
            <a:extLst>
              <a:ext uri="{FF2B5EF4-FFF2-40B4-BE49-F238E27FC236}">
                <a16:creationId xmlns:a16="http://schemas.microsoft.com/office/drawing/2014/main" id="{9C989F05-ED33-1516-4A8C-B4DBC01DDADF}"/>
              </a:ext>
            </a:extLst>
          </p:cNvPr>
          <p:cNvSpPr/>
          <p:nvPr/>
        </p:nvSpPr>
        <p:spPr>
          <a:xfrm>
            <a:off x="401789" y="1980690"/>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FAN</a:t>
            </a:r>
          </a:p>
        </p:txBody>
      </p:sp>
      <p:sp>
        <p:nvSpPr>
          <p:cNvPr id="6" name="Rectangle: Rounded Corners 5">
            <a:extLst>
              <a:ext uri="{FF2B5EF4-FFF2-40B4-BE49-F238E27FC236}">
                <a16:creationId xmlns:a16="http://schemas.microsoft.com/office/drawing/2014/main" id="{8ECAEB50-C091-2917-4B44-8831B163DF32}"/>
              </a:ext>
            </a:extLst>
          </p:cNvPr>
          <p:cNvSpPr/>
          <p:nvPr/>
        </p:nvSpPr>
        <p:spPr>
          <a:xfrm>
            <a:off x="401789" y="2379534"/>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Battery</a:t>
            </a:r>
          </a:p>
        </p:txBody>
      </p:sp>
      <p:sp>
        <p:nvSpPr>
          <p:cNvPr id="8" name="Rectangle: Rounded Corners 7">
            <a:extLst>
              <a:ext uri="{FF2B5EF4-FFF2-40B4-BE49-F238E27FC236}">
                <a16:creationId xmlns:a16="http://schemas.microsoft.com/office/drawing/2014/main" id="{8B5D60A6-7B79-B24C-191E-87F3A6AF6C84}"/>
              </a:ext>
            </a:extLst>
          </p:cNvPr>
          <p:cNvSpPr/>
          <p:nvPr/>
        </p:nvSpPr>
        <p:spPr>
          <a:xfrm>
            <a:off x="401789" y="2778378"/>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Battery Analysis</a:t>
            </a:r>
          </a:p>
        </p:txBody>
      </p:sp>
      <p:sp>
        <p:nvSpPr>
          <p:cNvPr id="9" name="Rectangle: Rounded Corners 8">
            <a:extLst>
              <a:ext uri="{FF2B5EF4-FFF2-40B4-BE49-F238E27FC236}">
                <a16:creationId xmlns:a16="http://schemas.microsoft.com/office/drawing/2014/main" id="{C5EF9CFE-A4E7-7FFF-9269-F562AA62F5B0}"/>
              </a:ext>
            </a:extLst>
          </p:cNvPr>
          <p:cNvSpPr/>
          <p:nvPr/>
        </p:nvSpPr>
        <p:spPr>
          <a:xfrm>
            <a:off x="175492" y="1052945"/>
            <a:ext cx="2286000" cy="5372794"/>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2" name="Rectangle: Rounded Corners 11">
            <a:extLst>
              <a:ext uri="{FF2B5EF4-FFF2-40B4-BE49-F238E27FC236}">
                <a16:creationId xmlns:a16="http://schemas.microsoft.com/office/drawing/2014/main" id="{A98CFFBB-CEB2-CA0E-8AD0-BF3A182041FD}"/>
              </a:ext>
            </a:extLst>
          </p:cNvPr>
          <p:cNvSpPr/>
          <p:nvPr/>
        </p:nvSpPr>
        <p:spPr>
          <a:xfrm>
            <a:off x="401789" y="3177222"/>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Battery Session</a:t>
            </a:r>
          </a:p>
        </p:txBody>
      </p:sp>
      <p:sp>
        <p:nvSpPr>
          <p:cNvPr id="13" name="Rectangle: Rounded Corners 12">
            <a:extLst>
              <a:ext uri="{FF2B5EF4-FFF2-40B4-BE49-F238E27FC236}">
                <a16:creationId xmlns:a16="http://schemas.microsoft.com/office/drawing/2014/main" id="{7FE67117-A6C6-0A5B-ADD0-F6AF0946D1FC}"/>
              </a:ext>
            </a:extLst>
          </p:cNvPr>
          <p:cNvSpPr/>
          <p:nvPr/>
        </p:nvSpPr>
        <p:spPr>
          <a:xfrm>
            <a:off x="401789" y="3576066"/>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Thermal</a:t>
            </a:r>
          </a:p>
        </p:txBody>
      </p:sp>
      <p:sp>
        <p:nvSpPr>
          <p:cNvPr id="19" name="Rectangle: Rounded Corners 18">
            <a:extLst>
              <a:ext uri="{FF2B5EF4-FFF2-40B4-BE49-F238E27FC236}">
                <a16:creationId xmlns:a16="http://schemas.microsoft.com/office/drawing/2014/main" id="{3D8EF089-7FE8-360E-6B9B-47404EAAD044}"/>
              </a:ext>
            </a:extLst>
          </p:cNvPr>
          <p:cNvSpPr/>
          <p:nvPr/>
        </p:nvSpPr>
        <p:spPr>
          <a:xfrm>
            <a:off x="401789" y="3974910"/>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BSOD Alerts</a:t>
            </a:r>
          </a:p>
        </p:txBody>
      </p:sp>
      <p:sp>
        <p:nvSpPr>
          <p:cNvPr id="22" name="Rectangle: Rounded Corners 21">
            <a:extLst>
              <a:ext uri="{FF2B5EF4-FFF2-40B4-BE49-F238E27FC236}">
                <a16:creationId xmlns:a16="http://schemas.microsoft.com/office/drawing/2014/main" id="{C9B671BB-923D-968B-F197-97CFD0AF353C}"/>
              </a:ext>
            </a:extLst>
          </p:cNvPr>
          <p:cNvSpPr/>
          <p:nvPr/>
        </p:nvSpPr>
        <p:spPr>
          <a:xfrm>
            <a:off x="401789" y="4373754"/>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Windows Config</a:t>
            </a:r>
          </a:p>
        </p:txBody>
      </p:sp>
      <p:sp>
        <p:nvSpPr>
          <p:cNvPr id="23" name="Rectangle: Rounded Corners 22">
            <a:extLst>
              <a:ext uri="{FF2B5EF4-FFF2-40B4-BE49-F238E27FC236}">
                <a16:creationId xmlns:a16="http://schemas.microsoft.com/office/drawing/2014/main" id="{7C162D59-E450-26A6-6848-E30781D61494}"/>
              </a:ext>
            </a:extLst>
          </p:cNvPr>
          <p:cNvSpPr/>
          <p:nvPr/>
        </p:nvSpPr>
        <p:spPr>
          <a:xfrm>
            <a:off x="401789" y="4772598"/>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OS Reboots</a:t>
            </a:r>
          </a:p>
        </p:txBody>
      </p:sp>
      <p:sp>
        <p:nvSpPr>
          <p:cNvPr id="26" name="Rectangle: Rounded Corners 25">
            <a:extLst>
              <a:ext uri="{FF2B5EF4-FFF2-40B4-BE49-F238E27FC236}">
                <a16:creationId xmlns:a16="http://schemas.microsoft.com/office/drawing/2014/main" id="{1200EDBC-9002-929B-CD7B-CAECCF69B15C}"/>
              </a:ext>
            </a:extLst>
          </p:cNvPr>
          <p:cNvSpPr/>
          <p:nvPr/>
        </p:nvSpPr>
        <p:spPr>
          <a:xfrm>
            <a:off x="401789" y="5171442"/>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Application Analysis</a:t>
            </a:r>
          </a:p>
        </p:txBody>
      </p:sp>
      <p:sp>
        <p:nvSpPr>
          <p:cNvPr id="27" name="Rectangle: Rounded Corners 26">
            <a:extLst>
              <a:ext uri="{FF2B5EF4-FFF2-40B4-BE49-F238E27FC236}">
                <a16:creationId xmlns:a16="http://schemas.microsoft.com/office/drawing/2014/main" id="{57BCC6DC-143E-BE8F-708F-FEF93379A49B}"/>
              </a:ext>
            </a:extLst>
          </p:cNvPr>
          <p:cNvSpPr/>
          <p:nvPr/>
        </p:nvSpPr>
        <p:spPr>
          <a:xfrm>
            <a:off x="401789" y="5570286"/>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Software Inventory</a:t>
            </a:r>
          </a:p>
        </p:txBody>
      </p:sp>
      <p:sp>
        <p:nvSpPr>
          <p:cNvPr id="28" name="Rectangle: Rounded Corners 27">
            <a:extLst>
              <a:ext uri="{FF2B5EF4-FFF2-40B4-BE49-F238E27FC236}">
                <a16:creationId xmlns:a16="http://schemas.microsoft.com/office/drawing/2014/main" id="{B41BE5FE-1A0B-DA89-1BC5-E1A28072A690}"/>
              </a:ext>
            </a:extLst>
          </p:cNvPr>
          <p:cNvSpPr/>
          <p:nvPr/>
        </p:nvSpPr>
        <p:spPr>
          <a:xfrm>
            <a:off x="401789" y="5969133"/>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Unexpected Shutdown</a:t>
            </a:r>
          </a:p>
        </p:txBody>
      </p:sp>
      <p:sp>
        <p:nvSpPr>
          <p:cNvPr id="31" name="TextBox 30">
            <a:extLst>
              <a:ext uri="{FF2B5EF4-FFF2-40B4-BE49-F238E27FC236}">
                <a16:creationId xmlns:a16="http://schemas.microsoft.com/office/drawing/2014/main" id="{84E09793-0E48-C21A-85E3-FF0ECD79EB04}"/>
              </a:ext>
            </a:extLst>
          </p:cNvPr>
          <p:cNvSpPr txBox="1"/>
          <p:nvPr/>
        </p:nvSpPr>
        <p:spPr>
          <a:xfrm>
            <a:off x="711202" y="1197371"/>
            <a:ext cx="1228435" cy="279180"/>
          </a:xfrm>
          <a:prstGeom prst="rect">
            <a:avLst/>
          </a:prstGeom>
          <a:noFill/>
        </p:spPr>
        <p:txBody>
          <a:bodyPr vert="horz" wrap="square" lIns="90000" tIns="46800" rIns="90000" bIns="46800" rtlCol="0" anchor="ctr">
            <a:spAutoFit/>
          </a:bodyPr>
          <a:lstStyle/>
          <a:p>
            <a:pPr algn="l">
              <a:spcBef>
                <a:spcPct val="0"/>
              </a:spcBef>
            </a:pPr>
            <a:r>
              <a:rPr lang="en-US" sz="1200" b="1" dirty="0">
                <a:solidFill>
                  <a:schemeClr val="bg1"/>
                </a:solidFill>
              </a:rPr>
              <a:t>Sensors Data</a:t>
            </a:r>
          </a:p>
        </p:txBody>
      </p:sp>
      <p:sp>
        <p:nvSpPr>
          <p:cNvPr id="32" name="Rectangle: Rounded Corners 31">
            <a:extLst>
              <a:ext uri="{FF2B5EF4-FFF2-40B4-BE49-F238E27FC236}">
                <a16:creationId xmlns:a16="http://schemas.microsoft.com/office/drawing/2014/main" id="{BBD990A4-88DA-5302-489F-7AAE85FF86CC}"/>
              </a:ext>
            </a:extLst>
          </p:cNvPr>
          <p:cNvSpPr/>
          <p:nvPr/>
        </p:nvSpPr>
        <p:spPr>
          <a:xfrm>
            <a:off x="3851571" y="1558755"/>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34" name="Rectangle: Rounded Corners 33">
            <a:extLst>
              <a:ext uri="{FF2B5EF4-FFF2-40B4-BE49-F238E27FC236}">
                <a16:creationId xmlns:a16="http://schemas.microsoft.com/office/drawing/2014/main" id="{E6736B16-6F8E-6C6F-6076-B4979FDDD09D}"/>
              </a:ext>
            </a:extLst>
          </p:cNvPr>
          <p:cNvSpPr/>
          <p:nvPr/>
        </p:nvSpPr>
        <p:spPr>
          <a:xfrm>
            <a:off x="3851571" y="1957599"/>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35" name="Rectangle: Rounded Corners 34">
            <a:extLst>
              <a:ext uri="{FF2B5EF4-FFF2-40B4-BE49-F238E27FC236}">
                <a16:creationId xmlns:a16="http://schemas.microsoft.com/office/drawing/2014/main" id="{88338EE8-9F18-E821-E447-ED546B145C59}"/>
              </a:ext>
            </a:extLst>
          </p:cNvPr>
          <p:cNvSpPr/>
          <p:nvPr/>
        </p:nvSpPr>
        <p:spPr>
          <a:xfrm>
            <a:off x="3851571" y="2356443"/>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Man Kendall</a:t>
            </a:r>
          </a:p>
        </p:txBody>
      </p:sp>
      <p:sp>
        <p:nvSpPr>
          <p:cNvPr id="36" name="Rectangle: Rounded Corners 35">
            <a:extLst>
              <a:ext uri="{FF2B5EF4-FFF2-40B4-BE49-F238E27FC236}">
                <a16:creationId xmlns:a16="http://schemas.microsoft.com/office/drawing/2014/main" id="{61A942C4-8C6F-1FF5-BE75-ED8A9779BDDE}"/>
              </a:ext>
            </a:extLst>
          </p:cNvPr>
          <p:cNvSpPr/>
          <p:nvPr/>
        </p:nvSpPr>
        <p:spPr>
          <a:xfrm>
            <a:off x="3851571" y="2755287"/>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CUSUM</a:t>
            </a:r>
          </a:p>
        </p:txBody>
      </p:sp>
      <p:sp>
        <p:nvSpPr>
          <p:cNvPr id="37" name="Rectangle: Rounded Corners 36">
            <a:extLst>
              <a:ext uri="{FF2B5EF4-FFF2-40B4-BE49-F238E27FC236}">
                <a16:creationId xmlns:a16="http://schemas.microsoft.com/office/drawing/2014/main" id="{ED44C29A-0822-5F27-9E28-DA3458BD9AA7}"/>
              </a:ext>
            </a:extLst>
          </p:cNvPr>
          <p:cNvSpPr/>
          <p:nvPr/>
        </p:nvSpPr>
        <p:spPr>
          <a:xfrm>
            <a:off x="3625274" y="1029854"/>
            <a:ext cx="2286000" cy="5372794"/>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38" name="Rectangle: Rounded Corners 37">
            <a:extLst>
              <a:ext uri="{FF2B5EF4-FFF2-40B4-BE49-F238E27FC236}">
                <a16:creationId xmlns:a16="http://schemas.microsoft.com/office/drawing/2014/main" id="{4462C465-EB76-0AB9-2199-7E0A50063D51}"/>
              </a:ext>
            </a:extLst>
          </p:cNvPr>
          <p:cNvSpPr/>
          <p:nvPr/>
        </p:nvSpPr>
        <p:spPr>
          <a:xfrm>
            <a:off x="3851571" y="3154131"/>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CUSUM</a:t>
            </a:r>
          </a:p>
        </p:txBody>
      </p:sp>
      <p:sp>
        <p:nvSpPr>
          <p:cNvPr id="48" name="Rectangle: Rounded Corners 47">
            <a:extLst>
              <a:ext uri="{FF2B5EF4-FFF2-40B4-BE49-F238E27FC236}">
                <a16:creationId xmlns:a16="http://schemas.microsoft.com/office/drawing/2014/main" id="{4CDA114F-569B-B674-4D17-44030EECF5E3}"/>
              </a:ext>
            </a:extLst>
          </p:cNvPr>
          <p:cNvSpPr/>
          <p:nvPr/>
        </p:nvSpPr>
        <p:spPr>
          <a:xfrm>
            <a:off x="3851571" y="3552975"/>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49" name="Rectangle: Rounded Corners 48">
            <a:extLst>
              <a:ext uri="{FF2B5EF4-FFF2-40B4-BE49-F238E27FC236}">
                <a16:creationId xmlns:a16="http://schemas.microsoft.com/office/drawing/2014/main" id="{127C5CD9-038B-9492-7F00-D7A34A7135D5}"/>
              </a:ext>
            </a:extLst>
          </p:cNvPr>
          <p:cNvSpPr/>
          <p:nvPr/>
        </p:nvSpPr>
        <p:spPr>
          <a:xfrm>
            <a:off x="3851571" y="3951819"/>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Rules Based</a:t>
            </a:r>
          </a:p>
        </p:txBody>
      </p:sp>
      <p:sp>
        <p:nvSpPr>
          <p:cNvPr id="50" name="Rectangle: Rounded Corners 49">
            <a:extLst>
              <a:ext uri="{FF2B5EF4-FFF2-40B4-BE49-F238E27FC236}">
                <a16:creationId xmlns:a16="http://schemas.microsoft.com/office/drawing/2014/main" id="{9399D6C9-83E9-DA02-55A7-BA20994C6089}"/>
              </a:ext>
            </a:extLst>
          </p:cNvPr>
          <p:cNvSpPr/>
          <p:nvPr/>
        </p:nvSpPr>
        <p:spPr>
          <a:xfrm>
            <a:off x="3851571" y="4350663"/>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51" name="Rectangle: Rounded Corners 50">
            <a:extLst>
              <a:ext uri="{FF2B5EF4-FFF2-40B4-BE49-F238E27FC236}">
                <a16:creationId xmlns:a16="http://schemas.microsoft.com/office/drawing/2014/main" id="{74F1A987-556F-593D-06E3-D134E9C15355}"/>
              </a:ext>
            </a:extLst>
          </p:cNvPr>
          <p:cNvSpPr/>
          <p:nvPr/>
        </p:nvSpPr>
        <p:spPr>
          <a:xfrm>
            <a:off x="3851571" y="4749507"/>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52" name="Rectangle: Rounded Corners 51">
            <a:extLst>
              <a:ext uri="{FF2B5EF4-FFF2-40B4-BE49-F238E27FC236}">
                <a16:creationId xmlns:a16="http://schemas.microsoft.com/office/drawing/2014/main" id="{109DB278-7EAB-CFC1-5318-42E29CED4BE1}"/>
              </a:ext>
            </a:extLst>
          </p:cNvPr>
          <p:cNvSpPr/>
          <p:nvPr/>
        </p:nvSpPr>
        <p:spPr>
          <a:xfrm>
            <a:off x="3851571" y="5148351"/>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53" name="Rectangle: Rounded Corners 52">
            <a:extLst>
              <a:ext uri="{FF2B5EF4-FFF2-40B4-BE49-F238E27FC236}">
                <a16:creationId xmlns:a16="http://schemas.microsoft.com/office/drawing/2014/main" id="{FBD6FA9A-2FFE-229C-5643-BD54384DEA35}"/>
              </a:ext>
            </a:extLst>
          </p:cNvPr>
          <p:cNvSpPr/>
          <p:nvPr/>
        </p:nvSpPr>
        <p:spPr>
          <a:xfrm>
            <a:off x="3851571" y="5547195"/>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54" name="Rectangle: Rounded Corners 53">
            <a:extLst>
              <a:ext uri="{FF2B5EF4-FFF2-40B4-BE49-F238E27FC236}">
                <a16:creationId xmlns:a16="http://schemas.microsoft.com/office/drawing/2014/main" id="{9A9D12A5-6E63-2A21-CF86-5F4438E35E6E}"/>
              </a:ext>
            </a:extLst>
          </p:cNvPr>
          <p:cNvSpPr/>
          <p:nvPr/>
        </p:nvSpPr>
        <p:spPr>
          <a:xfrm>
            <a:off x="3851571" y="5946042"/>
            <a:ext cx="1828800" cy="2286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Logistic Regression</a:t>
            </a:r>
          </a:p>
        </p:txBody>
      </p:sp>
      <p:sp>
        <p:nvSpPr>
          <p:cNvPr id="55" name="TextBox 54">
            <a:extLst>
              <a:ext uri="{FF2B5EF4-FFF2-40B4-BE49-F238E27FC236}">
                <a16:creationId xmlns:a16="http://schemas.microsoft.com/office/drawing/2014/main" id="{5E99BD8C-0DCB-F715-9078-D5B35B0B721D}"/>
              </a:ext>
            </a:extLst>
          </p:cNvPr>
          <p:cNvSpPr txBox="1"/>
          <p:nvPr/>
        </p:nvSpPr>
        <p:spPr>
          <a:xfrm>
            <a:off x="4216403" y="1197371"/>
            <a:ext cx="1011380" cy="279180"/>
          </a:xfrm>
          <a:prstGeom prst="rect">
            <a:avLst/>
          </a:prstGeom>
          <a:noFill/>
        </p:spPr>
        <p:txBody>
          <a:bodyPr vert="horz" wrap="square" lIns="90000" tIns="46800" rIns="90000" bIns="46800" rtlCol="0" anchor="ctr">
            <a:spAutoFit/>
          </a:bodyPr>
          <a:lstStyle/>
          <a:p>
            <a:pPr algn="l">
              <a:spcBef>
                <a:spcPct val="0"/>
              </a:spcBef>
            </a:pPr>
            <a:r>
              <a:rPr lang="en-US" sz="1200" b="1" dirty="0">
                <a:solidFill>
                  <a:schemeClr val="bg1"/>
                </a:solidFill>
              </a:rPr>
              <a:t>ML Models</a:t>
            </a:r>
          </a:p>
        </p:txBody>
      </p:sp>
      <p:sp>
        <p:nvSpPr>
          <p:cNvPr id="56" name="Arrow: Right 55">
            <a:extLst>
              <a:ext uri="{FF2B5EF4-FFF2-40B4-BE49-F238E27FC236}">
                <a16:creationId xmlns:a16="http://schemas.microsoft.com/office/drawing/2014/main" id="{24ADF079-D962-24BD-94CD-5FE210A0EA4F}"/>
              </a:ext>
            </a:extLst>
          </p:cNvPr>
          <p:cNvSpPr/>
          <p:nvPr/>
        </p:nvSpPr>
        <p:spPr>
          <a:xfrm>
            <a:off x="2678545" y="1597893"/>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59" name="Arrow: Right 58">
            <a:extLst>
              <a:ext uri="{FF2B5EF4-FFF2-40B4-BE49-F238E27FC236}">
                <a16:creationId xmlns:a16="http://schemas.microsoft.com/office/drawing/2014/main" id="{44FA5E63-A290-7384-8D33-37DC85873859}"/>
              </a:ext>
            </a:extLst>
          </p:cNvPr>
          <p:cNvSpPr/>
          <p:nvPr/>
        </p:nvSpPr>
        <p:spPr>
          <a:xfrm>
            <a:off x="2678545" y="1993797"/>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2" name="Arrow: Right 61">
            <a:extLst>
              <a:ext uri="{FF2B5EF4-FFF2-40B4-BE49-F238E27FC236}">
                <a16:creationId xmlns:a16="http://schemas.microsoft.com/office/drawing/2014/main" id="{15983734-45CE-1F1C-BBF3-02E2F7358788}"/>
              </a:ext>
            </a:extLst>
          </p:cNvPr>
          <p:cNvSpPr/>
          <p:nvPr/>
        </p:nvSpPr>
        <p:spPr>
          <a:xfrm>
            <a:off x="2678545" y="2389701"/>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3" name="Arrow: Right 62">
            <a:extLst>
              <a:ext uri="{FF2B5EF4-FFF2-40B4-BE49-F238E27FC236}">
                <a16:creationId xmlns:a16="http://schemas.microsoft.com/office/drawing/2014/main" id="{7E0F3DD5-8FDE-C028-39E1-B87BB517A846}"/>
              </a:ext>
            </a:extLst>
          </p:cNvPr>
          <p:cNvSpPr/>
          <p:nvPr/>
        </p:nvSpPr>
        <p:spPr>
          <a:xfrm>
            <a:off x="2678545" y="2785605"/>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4" name="Arrow: Right 63">
            <a:extLst>
              <a:ext uri="{FF2B5EF4-FFF2-40B4-BE49-F238E27FC236}">
                <a16:creationId xmlns:a16="http://schemas.microsoft.com/office/drawing/2014/main" id="{F138DCD0-4613-3FB3-F6C5-51F5CCA4C279}"/>
              </a:ext>
            </a:extLst>
          </p:cNvPr>
          <p:cNvSpPr/>
          <p:nvPr/>
        </p:nvSpPr>
        <p:spPr>
          <a:xfrm>
            <a:off x="2678545" y="3181509"/>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6" name="Arrow: Right 65">
            <a:extLst>
              <a:ext uri="{FF2B5EF4-FFF2-40B4-BE49-F238E27FC236}">
                <a16:creationId xmlns:a16="http://schemas.microsoft.com/office/drawing/2014/main" id="{9D8658A4-7088-7CBC-5959-9C3F87204316}"/>
              </a:ext>
            </a:extLst>
          </p:cNvPr>
          <p:cNvSpPr/>
          <p:nvPr/>
        </p:nvSpPr>
        <p:spPr>
          <a:xfrm>
            <a:off x="2678545" y="3577413"/>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8" name="Arrow: Right 67">
            <a:extLst>
              <a:ext uri="{FF2B5EF4-FFF2-40B4-BE49-F238E27FC236}">
                <a16:creationId xmlns:a16="http://schemas.microsoft.com/office/drawing/2014/main" id="{3E1B6848-FE8F-8900-ADBF-7A90CD68F45D}"/>
              </a:ext>
            </a:extLst>
          </p:cNvPr>
          <p:cNvSpPr/>
          <p:nvPr/>
        </p:nvSpPr>
        <p:spPr>
          <a:xfrm>
            <a:off x="2678545" y="3973317"/>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69" name="Arrow: Right 68">
            <a:extLst>
              <a:ext uri="{FF2B5EF4-FFF2-40B4-BE49-F238E27FC236}">
                <a16:creationId xmlns:a16="http://schemas.microsoft.com/office/drawing/2014/main" id="{B1143918-1F74-DCDC-94E1-10EE2DBE7582}"/>
              </a:ext>
            </a:extLst>
          </p:cNvPr>
          <p:cNvSpPr/>
          <p:nvPr/>
        </p:nvSpPr>
        <p:spPr>
          <a:xfrm>
            <a:off x="2678545" y="4369221"/>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71" name="Arrow: Right 70">
            <a:extLst>
              <a:ext uri="{FF2B5EF4-FFF2-40B4-BE49-F238E27FC236}">
                <a16:creationId xmlns:a16="http://schemas.microsoft.com/office/drawing/2014/main" id="{87A0B77E-FAC2-EA6D-FCCE-FCB8F581905A}"/>
              </a:ext>
            </a:extLst>
          </p:cNvPr>
          <p:cNvSpPr/>
          <p:nvPr/>
        </p:nvSpPr>
        <p:spPr>
          <a:xfrm>
            <a:off x="2678545" y="4765125"/>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72" name="Arrow: Right 71">
            <a:extLst>
              <a:ext uri="{FF2B5EF4-FFF2-40B4-BE49-F238E27FC236}">
                <a16:creationId xmlns:a16="http://schemas.microsoft.com/office/drawing/2014/main" id="{718190EC-B1AC-DCCD-607C-0CEFDFB3BF6E}"/>
              </a:ext>
            </a:extLst>
          </p:cNvPr>
          <p:cNvSpPr/>
          <p:nvPr/>
        </p:nvSpPr>
        <p:spPr>
          <a:xfrm>
            <a:off x="2678545" y="5161029"/>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74" name="Arrow: Right 73">
            <a:extLst>
              <a:ext uri="{FF2B5EF4-FFF2-40B4-BE49-F238E27FC236}">
                <a16:creationId xmlns:a16="http://schemas.microsoft.com/office/drawing/2014/main" id="{1BDB453A-1F8C-4028-A230-4DBA854E3E67}"/>
              </a:ext>
            </a:extLst>
          </p:cNvPr>
          <p:cNvSpPr/>
          <p:nvPr/>
        </p:nvSpPr>
        <p:spPr>
          <a:xfrm>
            <a:off x="2678545" y="5556933"/>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75" name="Arrow: Right 74">
            <a:extLst>
              <a:ext uri="{FF2B5EF4-FFF2-40B4-BE49-F238E27FC236}">
                <a16:creationId xmlns:a16="http://schemas.microsoft.com/office/drawing/2014/main" id="{927EAB86-7526-F8AB-0D0E-BD974418851B}"/>
              </a:ext>
            </a:extLst>
          </p:cNvPr>
          <p:cNvSpPr/>
          <p:nvPr/>
        </p:nvSpPr>
        <p:spPr>
          <a:xfrm>
            <a:off x="2678545" y="5952839"/>
            <a:ext cx="757382" cy="193964"/>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76" name="TextBox 75">
            <a:extLst>
              <a:ext uri="{FF2B5EF4-FFF2-40B4-BE49-F238E27FC236}">
                <a16:creationId xmlns:a16="http://schemas.microsoft.com/office/drawing/2014/main" id="{10F289B3-8433-0AA4-643F-925F30B4E545}"/>
              </a:ext>
            </a:extLst>
          </p:cNvPr>
          <p:cNvSpPr txBox="1"/>
          <p:nvPr/>
        </p:nvSpPr>
        <p:spPr>
          <a:xfrm>
            <a:off x="2549235" y="1024222"/>
            <a:ext cx="1025237" cy="463846"/>
          </a:xfrm>
          <a:prstGeom prst="rect">
            <a:avLst/>
          </a:prstGeom>
          <a:noFill/>
        </p:spPr>
        <p:txBody>
          <a:bodyPr vert="horz" wrap="square" lIns="90000" tIns="46800" rIns="90000" bIns="46800" rtlCol="0" anchor="ctr">
            <a:spAutoFit/>
          </a:bodyPr>
          <a:lstStyle/>
          <a:p>
            <a:pPr algn="ctr">
              <a:spcBef>
                <a:spcPct val="0"/>
              </a:spcBef>
            </a:pPr>
            <a:r>
              <a:rPr lang="en-US" sz="1200" dirty="0">
                <a:solidFill>
                  <a:schemeClr val="bg1"/>
                </a:solidFill>
              </a:rPr>
              <a:t>CSV Collectors</a:t>
            </a:r>
          </a:p>
        </p:txBody>
      </p:sp>
      <p:sp>
        <p:nvSpPr>
          <p:cNvPr id="77" name="Rectangle: Rounded Corners 76">
            <a:extLst>
              <a:ext uri="{FF2B5EF4-FFF2-40B4-BE49-F238E27FC236}">
                <a16:creationId xmlns:a16="http://schemas.microsoft.com/office/drawing/2014/main" id="{9DB4635D-76DD-B4A4-4E0D-E735CB18A8F9}"/>
              </a:ext>
            </a:extLst>
          </p:cNvPr>
          <p:cNvSpPr/>
          <p:nvPr/>
        </p:nvSpPr>
        <p:spPr>
          <a:xfrm>
            <a:off x="6714838" y="3140363"/>
            <a:ext cx="1754908" cy="637310"/>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Correlation Model</a:t>
            </a:r>
          </a:p>
        </p:txBody>
      </p:sp>
      <p:sp>
        <p:nvSpPr>
          <p:cNvPr id="78" name="Arrow: Right 77">
            <a:extLst>
              <a:ext uri="{FF2B5EF4-FFF2-40B4-BE49-F238E27FC236}">
                <a16:creationId xmlns:a16="http://schemas.microsoft.com/office/drawing/2014/main" id="{A77F3DE4-D79C-CA0C-B86A-681D0F75DDFF}"/>
              </a:ext>
            </a:extLst>
          </p:cNvPr>
          <p:cNvSpPr/>
          <p:nvPr/>
        </p:nvSpPr>
        <p:spPr>
          <a:xfrm>
            <a:off x="6132945" y="3214254"/>
            <a:ext cx="480291" cy="517236"/>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80" name="Rectangle: Rounded Corners 79">
            <a:extLst>
              <a:ext uri="{FF2B5EF4-FFF2-40B4-BE49-F238E27FC236}">
                <a16:creationId xmlns:a16="http://schemas.microsoft.com/office/drawing/2014/main" id="{BA3A7E24-B920-6668-3EB9-6C4A407874C2}"/>
              </a:ext>
            </a:extLst>
          </p:cNvPr>
          <p:cNvSpPr/>
          <p:nvPr/>
        </p:nvSpPr>
        <p:spPr>
          <a:xfrm>
            <a:off x="9531927" y="3144981"/>
            <a:ext cx="1242291" cy="637310"/>
          </a:xfrm>
          <a:prstGeom prst="roundRect">
            <a:avLst/>
          </a:prstGeom>
          <a:noFill/>
          <a:ln w="38100">
            <a:solidFill>
              <a:schemeClr val="accent5">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SLM</a:t>
            </a:r>
          </a:p>
        </p:txBody>
      </p:sp>
      <p:sp>
        <p:nvSpPr>
          <p:cNvPr id="81" name="Arrow: Right 80">
            <a:extLst>
              <a:ext uri="{FF2B5EF4-FFF2-40B4-BE49-F238E27FC236}">
                <a16:creationId xmlns:a16="http://schemas.microsoft.com/office/drawing/2014/main" id="{BB0EC329-99BE-7E6E-3FF5-33D0CB047BC2}"/>
              </a:ext>
            </a:extLst>
          </p:cNvPr>
          <p:cNvSpPr/>
          <p:nvPr/>
        </p:nvSpPr>
        <p:spPr>
          <a:xfrm>
            <a:off x="8742218" y="3200399"/>
            <a:ext cx="480291" cy="517236"/>
          </a:xfrm>
          <a:prstGeom prst="right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83" name="Graphic 82" descr="Document with solid fill">
            <a:extLst>
              <a:ext uri="{FF2B5EF4-FFF2-40B4-BE49-F238E27FC236}">
                <a16:creationId xmlns:a16="http://schemas.microsoft.com/office/drawing/2014/main" id="{8526BEA6-AFE9-5474-00B7-32AB74AC32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7491" y="3849255"/>
            <a:ext cx="914400" cy="914400"/>
          </a:xfrm>
          <a:prstGeom prst="rect">
            <a:avLst/>
          </a:prstGeom>
        </p:spPr>
      </p:pic>
      <p:sp>
        <p:nvSpPr>
          <p:cNvPr id="84" name="Arrow: Down 83">
            <a:extLst>
              <a:ext uri="{FF2B5EF4-FFF2-40B4-BE49-F238E27FC236}">
                <a16:creationId xmlns:a16="http://schemas.microsoft.com/office/drawing/2014/main" id="{779F85B9-F895-9B00-05A5-8972B815A2DB}"/>
              </a:ext>
            </a:extLst>
          </p:cNvPr>
          <p:cNvSpPr/>
          <p:nvPr/>
        </p:nvSpPr>
        <p:spPr>
          <a:xfrm>
            <a:off x="9809018" y="2595418"/>
            <a:ext cx="498764" cy="387927"/>
          </a:xfrm>
          <a:prstGeom prst="down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Tree>
    <p:extLst>
      <p:ext uri="{BB962C8B-B14F-4D97-AF65-F5344CB8AC3E}">
        <p14:creationId xmlns:p14="http://schemas.microsoft.com/office/powerpoint/2010/main" val="3472389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DF636-C5B1-1F7D-4085-6BD60E342D4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5EA4899-60DA-C95A-0E70-5A555A57765A}"/>
              </a:ext>
            </a:extLst>
          </p:cNvPr>
          <p:cNvSpPr>
            <a:spLocks noGrp="1"/>
          </p:cNvSpPr>
          <p:nvPr>
            <p:ph type="ctrTitle"/>
          </p:nvPr>
        </p:nvSpPr>
        <p:spPr>
          <a:xfrm>
            <a:off x="193339" y="541896"/>
            <a:ext cx="11090276" cy="747897"/>
          </a:xfrm>
        </p:spPr>
        <p:txBody>
          <a:bodyPr/>
          <a:lstStyle/>
          <a:p>
            <a:r>
              <a:rPr lang="en-US"/>
              <a:t>Thank you!</a:t>
            </a:r>
          </a:p>
        </p:txBody>
      </p:sp>
      <p:sp>
        <p:nvSpPr>
          <p:cNvPr id="6" name="ZoneTexte 5">
            <a:extLst>
              <a:ext uri="{FF2B5EF4-FFF2-40B4-BE49-F238E27FC236}">
                <a16:creationId xmlns:a16="http://schemas.microsoft.com/office/drawing/2014/main" id="{ED602DB6-2011-E878-BE9E-6E47D0DCCAE1}"/>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algn="r">
              <a:spcBef>
                <a:spcPct val="0"/>
              </a:spcBef>
            </a:pPr>
            <a:r>
              <a:rPr lang="en-US" sz="1000">
                <a:solidFill>
                  <a:schemeClr val="bg2">
                    <a:lumMod val="75000"/>
                  </a:schemeClr>
                </a:solidFill>
              </a:rPr>
              <a:t>Company confidential</a:t>
            </a:r>
          </a:p>
        </p:txBody>
      </p:sp>
      <p:sp>
        <p:nvSpPr>
          <p:cNvPr id="8" name="Subtitle 7">
            <a:extLst>
              <a:ext uri="{FF2B5EF4-FFF2-40B4-BE49-F238E27FC236}">
                <a16:creationId xmlns:a16="http://schemas.microsoft.com/office/drawing/2014/main" id="{FCEEE36C-E918-60F5-E0EB-5128FE063ACB}"/>
              </a:ext>
            </a:extLst>
          </p:cNvPr>
          <p:cNvSpPr>
            <a:spLocks noGrp="1"/>
          </p:cNvSpPr>
          <p:nvPr>
            <p:ph type="subTitle" idx="1"/>
          </p:nvPr>
        </p:nvSpPr>
        <p:spPr>
          <a:xfrm>
            <a:off x="407988" y="5136776"/>
            <a:ext cx="11090275" cy="246221"/>
          </a:xfrm>
        </p:spPr>
        <p:txBody>
          <a:bodyPr anchor="t"/>
          <a:lstStyle/>
          <a:p>
            <a:r>
              <a:rPr lang="en-US">
                <a:latin typeface="Ubuntu Light"/>
              </a:rPr>
              <a:t>August 2025</a:t>
            </a:r>
            <a:endParaRPr lang="en-US"/>
          </a:p>
        </p:txBody>
      </p:sp>
    </p:spTree>
    <p:extLst>
      <p:ext uri="{BB962C8B-B14F-4D97-AF65-F5344CB8AC3E}">
        <p14:creationId xmlns:p14="http://schemas.microsoft.com/office/powerpoint/2010/main" val="1582518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CBD8-2269-232A-7814-A739826AE8F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7FA3C60-76EB-2C55-F0AB-641F9FDF1EAD}"/>
              </a:ext>
            </a:extLst>
          </p:cNvPr>
          <p:cNvSpPr/>
          <p:nvPr/>
        </p:nvSpPr>
        <p:spPr>
          <a:xfrm>
            <a:off x="14435174" y="4100929"/>
            <a:ext cx="925285" cy="1349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 name="Title 2">
            <a:extLst>
              <a:ext uri="{FF2B5EF4-FFF2-40B4-BE49-F238E27FC236}">
                <a16:creationId xmlns:a16="http://schemas.microsoft.com/office/drawing/2014/main" id="{6E43D1D6-5D43-2B6F-6400-5D1500638FDF}"/>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a:effectLst/>
                <a:latin typeface="Calibri" panose="020F0502020204030204" pitchFamily="34" charset="0"/>
              </a:rPr>
              <a:t>Objectives</a:t>
            </a:r>
            <a:endParaRPr lang="en-IN" sz="3200" b="1" u="sng">
              <a:solidFill>
                <a:schemeClr val="accent1"/>
              </a:solidFill>
            </a:endParaRPr>
          </a:p>
        </p:txBody>
      </p:sp>
      <p:graphicFrame>
        <p:nvGraphicFramePr>
          <p:cNvPr id="3" name="Table 2">
            <a:extLst>
              <a:ext uri="{FF2B5EF4-FFF2-40B4-BE49-F238E27FC236}">
                <a16:creationId xmlns:a16="http://schemas.microsoft.com/office/drawing/2014/main" id="{99B7F1CF-4546-AA9A-BF6F-9756BE5AB690}"/>
              </a:ext>
            </a:extLst>
          </p:cNvPr>
          <p:cNvGraphicFramePr>
            <a:graphicFrameLocks noGrp="1"/>
          </p:cNvGraphicFramePr>
          <p:nvPr>
            <p:extLst>
              <p:ext uri="{D42A27DB-BD31-4B8C-83A1-F6EECF244321}">
                <p14:modId xmlns:p14="http://schemas.microsoft.com/office/powerpoint/2010/main" val="4001805535"/>
              </p:ext>
            </p:extLst>
          </p:nvPr>
        </p:nvGraphicFramePr>
        <p:xfrm>
          <a:off x="397161" y="1005999"/>
          <a:ext cx="11425383" cy="4835724"/>
        </p:xfrm>
        <a:graphic>
          <a:graphicData uri="http://schemas.openxmlformats.org/drawingml/2006/table">
            <a:tbl>
              <a:tblPr firstRow="1" bandRow="1">
                <a:tableStyleId>{0E3FDE45-AF77-4B5C-9715-49D594BDF05E}</a:tableStyleId>
              </a:tblPr>
              <a:tblGrid>
                <a:gridCol w="932875">
                  <a:extLst>
                    <a:ext uri="{9D8B030D-6E8A-4147-A177-3AD203B41FA5}">
                      <a16:colId xmlns:a16="http://schemas.microsoft.com/office/drawing/2014/main" val="1030510339"/>
                    </a:ext>
                  </a:extLst>
                </a:gridCol>
                <a:gridCol w="3241964">
                  <a:extLst>
                    <a:ext uri="{9D8B030D-6E8A-4147-A177-3AD203B41FA5}">
                      <a16:colId xmlns:a16="http://schemas.microsoft.com/office/drawing/2014/main" val="561920210"/>
                    </a:ext>
                  </a:extLst>
                </a:gridCol>
                <a:gridCol w="4128654">
                  <a:extLst>
                    <a:ext uri="{9D8B030D-6E8A-4147-A177-3AD203B41FA5}">
                      <a16:colId xmlns:a16="http://schemas.microsoft.com/office/drawing/2014/main" val="1822367099"/>
                    </a:ext>
                  </a:extLst>
                </a:gridCol>
                <a:gridCol w="3121890">
                  <a:extLst>
                    <a:ext uri="{9D8B030D-6E8A-4147-A177-3AD203B41FA5}">
                      <a16:colId xmlns:a16="http://schemas.microsoft.com/office/drawing/2014/main" val="2588953829"/>
                    </a:ext>
                  </a:extLst>
                </a:gridCol>
              </a:tblGrid>
              <a:tr h="365108">
                <a:tc>
                  <a:txBody>
                    <a:bodyPr/>
                    <a:lstStyle/>
                    <a:p>
                      <a:pPr algn="ctr"/>
                      <a:r>
                        <a:rPr lang="en-US">
                          <a:solidFill>
                            <a:schemeClr val="bg1"/>
                          </a:solidFill>
                        </a:rPr>
                        <a:t>Sr. No.</a:t>
                      </a:r>
                    </a:p>
                  </a:txBody>
                  <a:tcPr anchor="ctr"/>
                </a:tc>
                <a:tc>
                  <a:txBody>
                    <a:bodyPr/>
                    <a:lstStyle/>
                    <a:p>
                      <a:pPr algn="ctr"/>
                      <a:r>
                        <a:rPr lang="en-US" dirty="0">
                          <a:solidFill>
                            <a:schemeClr val="bg1"/>
                          </a:solidFill>
                        </a:rPr>
                        <a:t>Objective</a:t>
                      </a:r>
                    </a:p>
                  </a:txBody>
                  <a:tcPr anchor="ctr"/>
                </a:tc>
                <a:tc>
                  <a:txBody>
                    <a:bodyPr/>
                    <a:lstStyle/>
                    <a:p>
                      <a:pPr algn="ctr"/>
                      <a:r>
                        <a:rPr lang="en-US">
                          <a:solidFill>
                            <a:schemeClr val="bg1"/>
                          </a:solidFill>
                        </a:rPr>
                        <a:t>Definition</a:t>
                      </a:r>
                    </a:p>
                  </a:txBody>
                  <a:tcPr anchor="ctr"/>
                </a:tc>
                <a:tc>
                  <a:txBody>
                    <a:bodyPr/>
                    <a:lstStyle/>
                    <a:p>
                      <a:pPr algn="ctr"/>
                      <a:r>
                        <a:rPr lang="en-US">
                          <a:solidFill>
                            <a:schemeClr val="bg1"/>
                          </a:solidFill>
                        </a:rPr>
                        <a:t>Target</a:t>
                      </a:r>
                    </a:p>
                  </a:txBody>
                  <a:tcPr anchor="ctr"/>
                </a:tc>
                <a:extLst>
                  <a:ext uri="{0D108BD9-81ED-4DB2-BD59-A6C34878D82A}">
                    <a16:rowId xmlns:a16="http://schemas.microsoft.com/office/drawing/2014/main" val="4072640770"/>
                  </a:ext>
                </a:extLst>
              </a:tr>
              <a:tr h="517238">
                <a:tc>
                  <a:txBody>
                    <a:bodyPr/>
                    <a:lstStyle/>
                    <a:p>
                      <a:pPr algn="ctr"/>
                      <a:r>
                        <a:rPr lang="en-US" sz="1400">
                          <a:solidFill>
                            <a:schemeClr val="bg1"/>
                          </a:solidFill>
                        </a:rPr>
                        <a:t>1</a:t>
                      </a:r>
                    </a:p>
                  </a:txBody>
                  <a:tcPr anchor="ctr"/>
                </a:tc>
                <a:tc>
                  <a:txBody>
                    <a:bodyPr/>
                    <a:lstStyle/>
                    <a:p>
                      <a:r>
                        <a:rPr lang="en-US" sz="1400">
                          <a:solidFill>
                            <a:schemeClr val="bg1"/>
                          </a:solidFill>
                        </a:rPr>
                        <a:t>Reduce support ticket volume</a:t>
                      </a:r>
                    </a:p>
                  </a:txBody>
                  <a:tcPr anchor="ctr"/>
                </a:tc>
                <a:tc>
                  <a:txBody>
                    <a:bodyPr/>
                    <a:lstStyle/>
                    <a:p>
                      <a:r>
                        <a:rPr lang="en-US" sz="1400">
                          <a:solidFill>
                            <a:schemeClr val="bg1"/>
                          </a:solidFill>
                        </a:rPr>
                        <a:t>L1 tickets per 1,000 devices (top 8 issue categories)</a:t>
                      </a:r>
                    </a:p>
                  </a:txBody>
                  <a:tcPr anchor="ctr"/>
                </a:tc>
                <a:tc>
                  <a:txBody>
                    <a:bodyPr/>
                    <a:lstStyle/>
                    <a:p>
                      <a:r>
                        <a:rPr lang="en-US" sz="1400">
                          <a:solidFill>
                            <a:schemeClr val="bg1"/>
                          </a:solidFill>
                        </a:rPr>
                        <a:t>~25–40% via auto-heal deflection</a:t>
                      </a:r>
                    </a:p>
                  </a:txBody>
                  <a:tcPr anchor="ctr"/>
                </a:tc>
                <a:extLst>
                  <a:ext uri="{0D108BD9-81ED-4DB2-BD59-A6C34878D82A}">
                    <a16:rowId xmlns:a16="http://schemas.microsoft.com/office/drawing/2014/main" val="3130976208"/>
                  </a:ext>
                </a:extLst>
              </a:tr>
              <a:tr h="767879">
                <a:tc>
                  <a:txBody>
                    <a:bodyPr/>
                    <a:lstStyle/>
                    <a:p>
                      <a:pPr algn="ctr"/>
                      <a:r>
                        <a:rPr lang="en-US" sz="1400">
                          <a:solidFill>
                            <a:schemeClr val="bg1"/>
                          </a:solidFill>
                        </a:rPr>
                        <a:t>2</a:t>
                      </a:r>
                    </a:p>
                  </a:txBody>
                  <a:tcPr anchor="ctr"/>
                </a:tc>
                <a:tc>
                  <a:txBody>
                    <a:bodyPr/>
                    <a:lstStyle/>
                    <a:p>
                      <a:r>
                        <a:rPr lang="en-US" sz="1400">
                          <a:solidFill>
                            <a:schemeClr val="bg1"/>
                          </a:solidFill>
                        </a:rPr>
                        <a:t>Prevent issues predictively</a:t>
                      </a:r>
                    </a:p>
                  </a:txBody>
                  <a:tcPr anchor="ctr"/>
                </a:tc>
                <a:tc>
                  <a:txBody>
                    <a:bodyPr/>
                    <a:lstStyle/>
                    <a:p>
                      <a:r>
                        <a:rPr lang="en-US" sz="1400">
                          <a:solidFill>
                            <a:schemeClr val="bg1"/>
                          </a:solidFill>
                        </a:rPr>
                        <a:t>% incidents resolved before a ticket is opened; crash/fault rate per device</a:t>
                      </a:r>
                    </a:p>
                  </a:txBody>
                  <a:tcPr anchor="ctr"/>
                </a:tc>
                <a:tc>
                  <a:txBody>
                    <a:bodyPr/>
                    <a:lstStyle/>
                    <a:p>
                      <a:r>
                        <a:rPr lang="en-US" sz="1400">
                          <a:solidFill>
                            <a:schemeClr val="bg1"/>
                          </a:solidFill>
                        </a:rPr>
                        <a:t>≥20% proactive resolutions; −25% crash/fault rate on pilot SKUs</a:t>
                      </a:r>
                    </a:p>
                  </a:txBody>
                  <a:tcPr anchor="ctr"/>
                </a:tc>
                <a:extLst>
                  <a:ext uri="{0D108BD9-81ED-4DB2-BD59-A6C34878D82A}">
                    <a16:rowId xmlns:a16="http://schemas.microsoft.com/office/drawing/2014/main" val="1568817275"/>
                  </a:ext>
                </a:extLst>
              </a:tr>
              <a:tr h="517238">
                <a:tc>
                  <a:txBody>
                    <a:bodyPr/>
                    <a:lstStyle/>
                    <a:p>
                      <a:pPr algn="ctr"/>
                      <a:r>
                        <a:rPr lang="en-US" sz="1400">
                          <a:solidFill>
                            <a:schemeClr val="bg1"/>
                          </a:solidFill>
                        </a:rPr>
                        <a:t>3</a:t>
                      </a:r>
                    </a:p>
                  </a:txBody>
                  <a:tcPr anchor="ctr"/>
                </a:tc>
                <a:tc>
                  <a:txBody>
                    <a:bodyPr/>
                    <a:lstStyle/>
                    <a:p>
                      <a:r>
                        <a:rPr lang="en-US" sz="1400">
                          <a:solidFill>
                            <a:schemeClr val="bg1"/>
                          </a:solidFill>
                        </a:rPr>
                        <a:t>Accelerate time to resolution (TTR)</a:t>
                      </a:r>
                    </a:p>
                  </a:txBody>
                  <a:tcPr anchor="ctr"/>
                </a:tc>
                <a:tc>
                  <a:txBody>
                    <a:bodyPr/>
                    <a:lstStyle/>
                    <a:p>
                      <a:r>
                        <a:rPr lang="en-US" sz="1400">
                          <a:solidFill>
                            <a:schemeClr val="bg1"/>
                          </a:solidFill>
                        </a:rPr>
                        <a:t> Mean time to resolve for remaining tickets</a:t>
                      </a:r>
                    </a:p>
                  </a:txBody>
                  <a:tcPr anchor="ctr"/>
                </a:tc>
                <a:tc>
                  <a:txBody>
                    <a:bodyPr/>
                    <a:lstStyle/>
                    <a:p>
                      <a:r>
                        <a:rPr lang="en-US" sz="1400">
                          <a:solidFill>
                            <a:schemeClr val="bg1"/>
                          </a:solidFill>
                        </a:rPr>
                        <a:t>~35–50% MTTR via on-box triage + guided fixes.</a:t>
                      </a:r>
                    </a:p>
                  </a:txBody>
                  <a:tcPr anchor="ctr"/>
                </a:tc>
                <a:extLst>
                  <a:ext uri="{0D108BD9-81ED-4DB2-BD59-A6C34878D82A}">
                    <a16:rowId xmlns:a16="http://schemas.microsoft.com/office/drawing/2014/main" val="276412790"/>
                  </a:ext>
                </a:extLst>
              </a:tr>
              <a:tr h="590676">
                <a:tc>
                  <a:txBody>
                    <a:bodyPr/>
                    <a:lstStyle/>
                    <a:p>
                      <a:pPr algn="ctr"/>
                      <a:r>
                        <a:rPr lang="en-US" sz="1400">
                          <a:solidFill>
                            <a:schemeClr val="bg1"/>
                          </a:solidFill>
                        </a:rPr>
                        <a:t>4</a:t>
                      </a:r>
                    </a:p>
                  </a:txBody>
                  <a:tcPr anchor="ctr"/>
                </a:tc>
                <a:tc>
                  <a:txBody>
                    <a:bodyPr/>
                    <a:lstStyle/>
                    <a:p>
                      <a:r>
                        <a:rPr lang="en-US" sz="1400">
                          <a:solidFill>
                            <a:schemeClr val="bg1"/>
                          </a:solidFill>
                        </a:rPr>
                        <a:t>Increase customer satisfaction</a:t>
                      </a:r>
                    </a:p>
                  </a:txBody>
                  <a:tcPr anchor="ctr"/>
                </a:tc>
                <a:tc>
                  <a:txBody>
                    <a:bodyPr/>
                    <a:lstStyle/>
                    <a:p>
                      <a:r>
                        <a:rPr lang="en-US" sz="1400">
                          <a:solidFill>
                            <a:schemeClr val="bg1"/>
                          </a:solidFill>
                        </a:rPr>
                        <a:t>CSAT/NPS for support interactions; “silent fix” satisfaction.</a:t>
                      </a:r>
                    </a:p>
                  </a:txBody>
                  <a:tcPr anchor="ctr"/>
                </a:tc>
                <a:tc>
                  <a:txBody>
                    <a:bodyPr/>
                    <a:lstStyle/>
                    <a:p>
                      <a:r>
                        <a:rPr lang="en-US" sz="1400">
                          <a:solidFill>
                            <a:schemeClr val="bg1"/>
                          </a:solidFill>
                        </a:rPr>
                        <a:t>+8–12 CSAT pts, ≥90% “issue fixed without disruption</a:t>
                      </a:r>
                    </a:p>
                  </a:txBody>
                  <a:tcPr anchor="ctr"/>
                </a:tc>
                <a:extLst>
                  <a:ext uri="{0D108BD9-81ED-4DB2-BD59-A6C34878D82A}">
                    <a16:rowId xmlns:a16="http://schemas.microsoft.com/office/drawing/2014/main" val="4088298686"/>
                  </a:ext>
                </a:extLst>
              </a:tr>
              <a:tr h="517238">
                <a:tc>
                  <a:txBody>
                    <a:bodyPr/>
                    <a:lstStyle/>
                    <a:p>
                      <a:pPr algn="ctr"/>
                      <a:r>
                        <a:rPr lang="en-US" sz="1400">
                          <a:solidFill>
                            <a:schemeClr val="bg1"/>
                          </a:solidFill>
                        </a:rPr>
                        <a:t>5</a:t>
                      </a:r>
                    </a:p>
                  </a:txBody>
                  <a:tcPr anchor="ctr"/>
                </a:tc>
                <a:tc>
                  <a:txBody>
                    <a:bodyPr/>
                    <a:lstStyle/>
                    <a:p>
                      <a:r>
                        <a:rPr lang="en-US" sz="1400">
                          <a:solidFill>
                            <a:schemeClr val="bg1"/>
                          </a:solidFill>
                        </a:rPr>
                        <a:t>Cut warranty &amp; service costs</a:t>
                      </a:r>
                    </a:p>
                  </a:txBody>
                  <a:tcPr anchor="ctr"/>
                </a:tc>
                <a:tc>
                  <a:txBody>
                    <a:bodyPr/>
                    <a:lstStyle/>
                    <a:p>
                      <a:r>
                        <a:rPr lang="en-US" sz="1400">
                          <a:solidFill>
                            <a:schemeClr val="bg1"/>
                          </a:solidFill>
                        </a:rPr>
                        <a:t>$/device warranty spend; “No Problem Found” (NPF) RMAs</a:t>
                      </a:r>
                    </a:p>
                  </a:txBody>
                  <a:tcPr anchor="ctr"/>
                </a:tc>
                <a:tc>
                  <a:txBody>
                    <a:bodyPr/>
                    <a:lstStyle/>
                    <a:p>
                      <a:r>
                        <a:rPr lang="en-US" sz="1400">
                          <a:solidFill>
                            <a:schemeClr val="bg1"/>
                          </a:solidFill>
                        </a:rPr>
                        <a:t>~15–25% warranty cost; ~25–35% NPF returns.</a:t>
                      </a:r>
                    </a:p>
                  </a:txBody>
                  <a:tcPr anchor="ctr"/>
                </a:tc>
                <a:extLst>
                  <a:ext uri="{0D108BD9-81ED-4DB2-BD59-A6C34878D82A}">
                    <a16:rowId xmlns:a16="http://schemas.microsoft.com/office/drawing/2014/main" val="2815784294"/>
                  </a:ext>
                </a:extLst>
              </a:tr>
              <a:tr h="413472">
                <a:tc>
                  <a:txBody>
                    <a:bodyPr/>
                    <a:lstStyle/>
                    <a:p>
                      <a:pPr algn="ctr"/>
                      <a:r>
                        <a:rPr lang="en-US" sz="1400">
                          <a:solidFill>
                            <a:schemeClr val="bg1"/>
                          </a:solidFill>
                        </a:rPr>
                        <a:t>6</a:t>
                      </a:r>
                    </a:p>
                  </a:txBody>
                  <a:tcPr anchor="ctr"/>
                </a:tc>
                <a:tc>
                  <a:txBody>
                    <a:bodyPr/>
                    <a:lstStyle/>
                    <a:p>
                      <a:r>
                        <a:rPr lang="en-US" sz="1400">
                          <a:solidFill>
                            <a:schemeClr val="bg1"/>
                          </a:solidFill>
                        </a:rPr>
                        <a:t>Lower repeat incidents</a:t>
                      </a:r>
                    </a:p>
                  </a:txBody>
                  <a:tcPr anchor="ctr"/>
                </a:tc>
                <a:tc>
                  <a:txBody>
                    <a:bodyPr/>
                    <a:lstStyle/>
                    <a:p>
                      <a:r>
                        <a:rPr lang="en-US" sz="1400">
                          <a:solidFill>
                            <a:schemeClr val="bg1"/>
                          </a:solidFill>
                        </a:rPr>
                        <a:t>7/30-day recurrence rate for resolved issues.</a:t>
                      </a:r>
                    </a:p>
                  </a:txBody>
                  <a:tcPr anchor="ctr"/>
                </a:tc>
                <a:tc>
                  <a:txBody>
                    <a:bodyPr/>
                    <a:lstStyle/>
                    <a:p>
                      <a:r>
                        <a:rPr lang="en-US" sz="1400">
                          <a:solidFill>
                            <a:schemeClr val="bg1"/>
                          </a:solidFill>
                        </a:rPr>
                        <a:t>~40–60% repeat incidents.</a:t>
                      </a:r>
                    </a:p>
                  </a:txBody>
                  <a:tcPr anchor="ctr"/>
                </a:tc>
                <a:extLst>
                  <a:ext uri="{0D108BD9-81ED-4DB2-BD59-A6C34878D82A}">
                    <a16:rowId xmlns:a16="http://schemas.microsoft.com/office/drawing/2014/main" val="928105840"/>
                  </a:ext>
                </a:extLst>
              </a:tr>
              <a:tr h="517238">
                <a:tc>
                  <a:txBody>
                    <a:bodyPr/>
                    <a:lstStyle/>
                    <a:p>
                      <a:pPr algn="ctr"/>
                      <a:r>
                        <a:rPr lang="en-US" sz="1400">
                          <a:solidFill>
                            <a:schemeClr val="bg1"/>
                          </a:solidFill>
                        </a:rPr>
                        <a:t>7</a:t>
                      </a:r>
                    </a:p>
                  </a:txBody>
                  <a:tcPr anchor="ctr"/>
                </a:tc>
                <a:tc>
                  <a:txBody>
                    <a:bodyPr/>
                    <a:lstStyle/>
                    <a:p>
                      <a:r>
                        <a:rPr lang="en-US" sz="1400">
                          <a:solidFill>
                            <a:schemeClr val="bg1"/>
                          </a:solidFill>
                        </a:rPr>
                        <a:t>Boost support productivity</a:t>
                      </a:r>
                    </a:p>
                  </a:txBody>
                  <a:tcPr anchor="ctr"/>
                </a:tc>
                <a:tc>
                  <a:txBody>
                    <a:bodyPr/>
                    <a:lstStyle/>
                    <a:p>
                      <a:r>
                        <a:rPr lang="en-US" sz="1400">
                          <a:solidFill>
                            <a:schemeClr val="bg1"/>
                          </a:solidFill>
                        </a:rPr>
                        <a:t>Average handle time (AHT) and L2/L3 escalation rate</a:t>
                      </a:r>
                    </a:p>
                  </a:txBody>
                  <a:tcPr anchor="ctr"/>
                </a:tc>
                <a:tc>
                  <a:txBody>
                    <a:bodyPr/>
                    <a:lstStyle/>
                    <a:p>
                      <a:r>
                        <a:rPr lang="en-US" sz="1400">
                          <a:solidFill>
                            <a:schemeClr val="bg1"/>
                          </a:solidFill>
                        </a:rPr>
                        <a:t>−15–25% AHT; −20–30% fewer escalations</a:t>
                      </a:r>
                    </a:p>
                  </a:txBody>
                  <a:tcPr anchor="ctr"/>
                </a:tc>
                <a:extLst>
                  <a:ext uri="{0D108BD9-81ED-4DB2-BD59-A6C34878D82A}">
                    <a16:rowId xmlns:a16="http://schemas.microsoft.com/office/drawing/2014/main" val="307388589"/>
                  </a:ext>
                </a:extLst>
              </a:tr>
              <a:tr h="625297">
                <a:tc>
                  <a:txBody>
                    <a:bodyPr/>
                    <a:lstStyle/>
                    <a:p>
                      <a:pPr algn="ctr"/>
                      <a:r>
                        <a:rPr lang="en-US" sz="1400">
                          <a:solidFill>
                            <a:schemeClr val="bg1"/>
                          </a:solidFill>
                        </a:rPr>
                        <a:t>8</a:t>
                      </a:r>
                    </a:p>
                  </a:txBody>
                  <a:tcPr anchor="ctr"/>
                </a:tc>
                <a:tc>
                  <a:txBody>
                    <a:bodyPr/>
                    <a:lstStyle/>
                    <a:p>
                      <a:r>
                        <a:rPr lang="en-US" sz="1400">
                          <a:solidFill>
                            <a:schemeClr val="bg1"/>
                          </a:solidFill>
                        </a:rPr>
                        <a:t>Improve release quality &amp; brand trust</a:t>
                      </a:r>
                    </a:p>
                  </a:txBody>
                  <a:tcPr anchor="ctr"/>
                </a:tc>
                <a:tc>
                  <a:txBody>
                    <a:bodyPr/>
                    <a:lstStyle/>
                    <a:p>
                      <a:r>
                        <a:rPr lang="en-US" sz="1400">
                          <a:solidFill>
                            <a:schemeClr val="bg1"/>
                          </a:solidFill>
                        </a:rPr>
                        <a:t>Field regressions per driver/firmware update; update rollback rate</a:t>
                      </a:r>
                    </a:p>
                  </a:txBody>
                  <a:tcPr anchor="ctr"/>
                </a:tc>
                <a:tc>
                  <a:txBody>
                    <a:bodyPr/>
                    <a:lstStyle/>
                    <a:p>
                      <a:r>
                        <a:rPr lang="en-US" sz="1400" dirty="0">
                          <a:solidFill>
                            <a:schemeClr val="bg1"/>
                          </a:solidFill>
                        </a:rPr>
                        <a:t>−30% regressions; −25% rollbacks via on-box verification gates.</a:t>
                      </a:r>
                    </a:p>
                  </a:txBody>
                  <a:tcPr anchor="ctr"/>
                </a:tc>
                <a:extLst>
                  <a:ext uri="{0D108BD9-81ED-4DB2-BD59-A6C34878D82A}">
                    <a16:rowId xmlns:a16="http://schemas.microsoft.com/office/drawing/2014/main" val="1745716648"/>
                  </a:ext>
                </a:extLst>
              </a:tr>
            </a:tbl>
          </a:graphicData>
        </a:graphic>
      </p:graphicFrame>
    </p:spTree>
    <p:extLst>
      <p:ext uri="{BB962C8B-B14F-4D97-AF65-F5344CB8AC3E}">
        <p14:creationId xmlns:p14="http://schemas.microsoft.com/office/powerpoint/2010/main" val="1579993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65BC-4CBF-BFCA-DE7C-D6BD6D309C0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41DF0A9-B90E-1E0C-FADF-D65B406632D6}"/>
              </a:ext>
            </a:extLst>
          </p:cNvPr>
          <p:cNvSpPr/>
          <p:nvPr/>
        </p:nvSpPr>
        <p:spPr>
          <a:xfrm>
            <a:off x="14435174" y="4100929"/>
            <a:ext cx="925285" cy="1349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 name="Title 2">
            <a:extLst>
              <a:ext uri="{FF2B5EF4-FFF2-40B4-BE49-F238E27FC236}">
                <a16:creationId xmlns:a16="http://schemas.microsoft.com/office/drawing/2014/main" id="{312F5AE8-9EAA-0E63-3AAD-2C2D7881E16B}"/>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dirty="0">
                <a:latin typeface="Calibri"/>
                <a:ea typeface="Calibri"/>
                <a:cs typeface="Calibri"/>
              </a:rPr>
              <a:t>Scenarios:  On the Box (CPU/NPU/GPU) -&gt; HYBRID</a:t>
            </a:r>
            <a:endParaRPr lang="en-US" dirty="0"/>
          </a:p>
        </p:txBody>
      </p:sp>
      <p:graphicFrame>
        <p:nvGraphicFramePr>
          <p:cNvPr id="2" name="Diagram 1">
            <a:extLst>
              <a:ext uri="{FF2B5EF4-FFF2-40B4-BE49-F238E27FC236}">
                <a16:creationId xmlns:a16="http://schemas.microsoft.com/office/drawing/2014/main" id="{A04E7B20-7FB3-C1A4-FF3F-64DBE5E382D9}"/>
              </a:ext>
            </a:extLst>
          </p:cNvPr>
          <p:cNvGraphicFramePr/>
          <p:nvPr>
            <p:extLst>
              <p:ext uri="{D42A27DB-BD31-4B8C-83A1-F6EECF244321}">
                <p14:modId xmlns:p14="http://schemas.microsoft.com/office/powerpoint/2010/main" val="370108608"/>
              </p:ext>
            </p:extLst>
          </p:nvPr>
        </p:nvGraphicFramePr>
        <p:xfrm>
          <a:off x="415636" y="738139"/>
          <a:ext cx="11314545" cy="50530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7691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E9F0C-AC9D-DEE8-68CB-5F561381330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A11AEB4-13F9-3DFF-87FA-2E6CB2BABBC8}"/>
              </a:ext>
            </a:extLst>
          </p:cNvPr>
          <p:cNvSpPr/>
          <p:nvPr/>
        </p:nvSpPr>
        <p:spPr>
          <a:xfrm>
            <a:off x="14435174" y="4100929"/>
            <a:ext cx="925285" cy="1349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 name="Title 2">
            <a:extLst>
              <a:ext uri="{FF2B5EF4-FFF2-40B4-BE49-F238E27FC236}">
                <a16:creationId xmlns:a16="http://schemas.microsoft.com/office/drawing/2014/main" id="{DB54A922-0A05-A47F-5191-4F33D15C86B2}"/>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dirty="0">
                <a:latin typeface="Calibri" panose="020F0502020204030204" pitchFamily="34" charset="0"/>
              </a:rPr>
              <a:t>Use Cases</a:t>
            </a:r>
            <a:endParaRPr lang="en-IN" sz="3200" b="1" u="sng" dirty="0">
              <a:solidFill>
                <a:schemeClr val="accent1"/>
              </a:solidFill>
            </a:endParaRPr>
          </a:p>
        </p:txBody>
      </p:sp>
      <p:graphicFrame>
        <p:nvGraphicFramePr>
          <p:cNvPr id="2" name="Table 1">
            <a:extLst>
              <a:ext uri="{FF2B5EF4-FFF2-40B4-BE49-F238E27FC236}">
                <a16:creationId xmlns:a16="http://schemas.microsoft.com/office/drawing/2014/main" id="{5A54D116-EEB3-F149-8CFE-E892217642B6}"/>
              </a:ext>
            </a:extLst>
          </p:cNvPr>
          <p:cNvGraphicFramePr>
            <a:graphicFrameLocks noGrp="1"/>
          </p:cNvGraphicFramePr>
          <p:nvPr>
            <p:extLst>
              <p:ext uri="{D42A27DB-BD31-4B8C-83A1-F6EECF244321}">
                <p14:modId xmlns:p14="http://schemas.microsoft.com/office/powerpoint/2010/main" val="2843421601"/>
              </p:ext>
            </p:extLst>
          </p:nvPr>
        </p:nvGraphicFramePr>
        <p:xfrm>
          <a:off x="450478" y="828765"/>
          <a:ext cx="11399520" cy="5516880"/>
        </p:xfrm>
        <a:graphic>
          <a:graphicData uri="http://schemas.openxmlformats.org/drawingml/2006/table">
            <a:tbl>
              <a:tblPr firstRow="1" bandRow="1">
                <a:tableStyleId>{8799B23B-EC83-4686-B30A-512413B5E67A}</a:tableStyleId>
              </a:tblPr>
              <a:tblGrid>
                <a:gridCol w="2547245">
                  <a:extLst>
                    <a:ext uri="{9D8B030D-6E8A-4147-A177-3AD203B41FA5}">
                      <a16:colId xmlns:a16="http://schemas.microsoft.com/office/drawing/2014/main" val="725064475"/>
                    </a:ext>
                  </a:extLst>
                </a:gridCol>
                <a:gridCol w="4666268">
                  <a:extLst>
                    <a:ext uri="{9D8B030D-6E8A-4147-A177-3AD203B41FA5}">
                      <a16:colId xmlns:a16="http://schemas.microsoft.com/office/drawing/2014/main" val="715286484"/>
                    </a:ext>
                  </a:extLst>
                </a:gridCol>
                <a:gridCol w="4186007">
                  <a:extLst>
                    <a:ext uri="{9D8B030D-6E8A-4147-A177-3AD203B41FA5}">
                      <a16:colId xmlns:a16="http://schemas.microsoft.com/office/drawing/2014/main" val="2305249854"/>
                    </a:ext>
                  </a:extLst>
                </a:gridCol>
              </a:tblGrid>
              <a:tr h="236028">
                <a:tc>
                  <a:txBody>
                    <a:bodyPr/>
                    <a:lstStyle/>
                    <a:p>
                      <a:r>
                        <a:rPr lang="en-US" sz="1400" b="1">
                          <a:solidFill>
                            <a:schemeClr val="bg1"/>
                          </a:solidFill>
                        </a:rPr>
                        <a:t>Use Case</a:t>
                      </a:r>
                    </a:p>
                  </a:txBody>
                  <a:tcPr/>
                </a:tc>
                <a:tc>
                  <a:txBody>
                    <a:bodyPr/>
                    <a:lstStyle/>
                    <a:p>
                      <a:r>
                        <a:rPr lang="en-US" sz="1400" b="1">
                          <a:solidFill>
                            <a:schemeClr val="bg1"/>
                          </a:solidFill>
                        </a:rPr>
                        <a:t>Description</a:t>
                      </a:r>
                    </a:p>
                  </a:txBody>
                  <a:tcPr/>
                </a:tc>
                <a:tc>
                  <a:txBody>
                    <a:bodyPr/>
                    <a:lstStyle/>
                    <a:p>
                      <a:r>
                        <a:rPr lang="en-US" sz="1400" b="1">
                          <a:solidFill>
                            <a:schemeClr val="bg1"/>
                          </a:solidFill>
                        </a:rPr>
                        <a:t>Data Sources</a:t>
                      </a:r>
                    </a:p>
                  </a:txBody>
                  <a:tcPr/>
                </a:tc>
                <a:extLst>
                  <a:ext uri="{0D108BD9-81ED-4DB2-BD59-A6C34878D82A}">
                    <a16:rowId xmlns:a16="http://schemas.microsoft.com/office/drawing/2014/main" val="2621713094"/>
                  </a:ext>
                </a:extLst>
              </a:tr>
              <a:tr h="929453">
                <a:tc>
                  <a:txBody>
                    <a:bodyPr/>
                    <a:lstStyle/>
                    <a:p>
                      <a:r>
                        <a:rPr lang="en-US" sz="1200" b="0" i="0" kern="1200" dirty="0">
                          <a:solidFill>
                            <a:schemeClr val="bg1"/>
                          </a:solidFill>
                          <a:effectLst/>
                          <a:latin typeface="+mn-lt"/>
                          <a:ea typeface="+mn-ea"/>
                          <a:cs typeface="+mn-cs"/>
                        </a:rPr>
                        <a:t>Automated performance issue detection and root cause analysis</a:t>
                      </a:r>
                      <a:endParaRPr lang="en-US" sz="1200" dirty="0">
                        <a:solidFill>
                          <a:schemeClr val="bg1"/>
                        </a:solidFill>
                      </a:endParaRPr>
                    </a:p>
                  </a:txBody>
                  <a:tcPr/>
                </a:tc>
                <a:tc>
                  <a:txBody>
                    <a:bodyPr/>
                    <a:lstStyle/>
                    <a:p>
                      <a:pPr marL="0" indent="0">
                        <a:buFont typeface="Arial" panose="020B0604020202020204" pitchFamily="34" charset="0"/>
                        <a:buNone/>
                      </a:pPr>
                      <a:r>
                        <a:rPr lang="en-US" sz="1200" kern="1200" dirty="0">
                          <a:solidFill>
                            <a:schemeClr val="bg1"/>
                          </a:solidFill>
                          <a:latin typeface="+mn-lt"/>
                          <a:ea typeface="+mn-ea"/>
                          <a:cs typeface="+mn-cs"/>
                        </a:rPr>
                        <a:t>Train the SLM to correlate performance metric fluctuations with specific events, process behaviors, or application actions. </a:t>
                      </a:r>
                    </a:p>
                    <a:p>
                      <a:pPr marL="285750" indent="-285750">
                        <a:buFont typeface="Arial" panose="020B0604020202020204" pitchFamily="34" charset="0"/>
                        <a:buChar char="•"/>
                      </a:pPr>
                      <a:r>
                        <a:rPr lang="en-US" sz="1200" kern="1200" dirty="0">
                          <a:solidFill>
                            <a:schemeClr val="bg1"/>
                          </a:solidFill>
                          <a:latin typeface="+mn-lt"/>
                          <a:ea typeface="+mn-ea"/>
                          <a:cs typeface="+mn-cs"/>
                        </a:rPr>
                        <a:t>High CPU, memory usage</a:t>
                      </a:r>
                    </a:p>
                    <a:p>
                      <a:pPr marL="285750" indent="-285750">
                        <a:buFont typeface="Arial" panose="020B0604020202020204" pitchFamily="34" charset="0"/>
                        <a:buChar char="•"/>
                      </a:pPr>
                      <a:r>
                        <a:rPr lang="en-US" sz="1200" kern="1200" dirty="0">
                          <a:solidFill>
                            <a:schemeClr val="bg1"/>
                          </a:solidFill>
                          <a:latin typeface="+mn-lt"/>
                          <a:ea typeface="+mn-ea"/>
                          <a:cs typeface="+mn-cs"/>
                        </a:rPr>
                        <a:t>Slow application start-up and response time</a:t>
                      </a:r>
                    </a:p>
                    <a:p>
                      <a:pPr marL="285750" indent="-285750">
                        <a:buFont typeface="Arial" panose="020B0604020202020204" pitchFamily="34" charset="0"/>
                        <a:buChar char="•"/>
                      </a:pPr>
                      <a:r>
                        <a:rPr lang="en-US" sz="1200" kern="1200" dirty="0">
                          <a:solidFill>
                            <a:schemeClr val="bg1"/>
                          </a:solidFill>
                          <a:latin typeface="+mn-lt"/>
                          <a:ea typeface="+mn-ea"/>
                          <a:cs typeface="+mn-cs"/>
                        </a:rPr>
                        <a:t>High disk, network usage</a:t>
                      </a:r>
                    </a:p>
                    <a:p>
                      <a:endParaRPr lang="en-US" sz="1200" kern="1200" dirty="0">
                        <a:solidFill>
                          <a:schemeClr val="bg1"/>
                        </a:solidFill>
                        <a:latin typeface="+mn-lt"/>
                        <a:ea typeface="+mn-ea"/>
                        <a:cs typeface="+mn-cs"/>
                      </a:endParaRPr>
                    </a:p>
                  </a:txBody>
                  <a:tcPr/>
                </a:tc>
                <a:tc>
                  <a:txBody>
                    <a:bodyPr/>
                    <a:lstStyle/>
                    <a:p>
                      <a:r>
                        <a:rPr lang="en-US" sz="1200" b="0" i="0" kern="1200" dirty="0">
                          <a:solidFill>
                            <a:schemeClr val="bg1"/>
                          </a:solidFill>
                          <a:effectLst/>
                          <a:latin typeface="+mn-lt"/>
                          <a:ea typeface="+mn-ea"/>
                          <a:cs typeface="+mn-cs"/>
                        </a:rPr>
                        <a:t>Feed the SLM with structured telemetry data (ETW events, performance counters) related to CPU usage, disk I/O, memory consumption, network activity, and process information.</a:t>
                      </a:r>
                      <a:endParaRPr lang="en-US" sz="1200" dirty="0">
                        <a:solidFill>
                          <a:schemeClr val="bg1"/>
                        </a:solidFill>
                      </a:endParaRPr>
                    </a:p>
                  </a:txBody>
                  <a:tcPr/>
                </a:tc>
                <a:extLst>
                  <a:ext uri="{0D108BD9-81ED-4DB2-BD59-A6C34878D82A}">
                    <a16:rowId xmlns:a16="http://schemas.microsoft.com/office/drawing/2014/main" val="3181684165"/>
                  </a:ext>
                </a:extLst>
              </a:tr>
              <a:tr h="637275">
                <a:tc>
                  <a:txBody>
                    <a:bodyPr/>
                    <a:lstStyle/>
                    <a:p>
                      <a:r>
                        <a:rPr lang="en-US" sz="1200">
                          <a:solidFill>
                            <a:schemeClr val="bg1"/>
                          </a:solidFill>
                        </a:rPr>
                        <a:t>Security incidents detection</a:t>
                      </a:r>
                    </a:p>
                  </a:txBody>
                  <a:tcPr/>
                </a:tc>
                <a:tc>
                  <a:txBody>
                    <a:bodyPr/>
                    <a:lstStyle/>
                    <a:p>
                      <a:pPr marL="0" indent="0">
                        <a:buFontTx/>
                        <a:buNone/>
                      </a:pPr>
                      <a:r>
                        <a:rPr lang="en-US" sz="1200" dirty="0">
                          <a:solidFill>
                            <a:schemeClr val="bg1"/>
                          </a:solidFill>
                        </a:rPr>
                        <a:t>Train SLM to detect security incidents like:</a:t>
                      </a:r>
                    </a:p>
                    <a:p>
                      <a:pPr marL="285750" indent="-285750">
                        <a:buFontTx/>
                        <a:buChar char="-"/>
                      </a:pPr>
                      <a:r>
                        <a:rPr lang="en-US" sz="1200" dirty="0">
                          <a:solidFill>
                            <a:schemeClr val="bg1"/>
                          </a:solidFill>
                        </a:rPr>
                        <a:t>Malicious access</a:t>
                      </a:r>
                    </a:p>
                    <a:p>
                      <a:pPr marL="285750" indent="-285750">
                        <a:buFontTx/>
                        <a:buChar char="-"/>
                      </a:pPr>
                      <a:r>
                        <a:rPr lang="en-US" sz="1200" dirty="0">
                          <a:solidFill>
                            <a:schemeClr val="bg1"/>
                          </a:solidFill>
                        </a:rPr>
                        <a:t>Process execution with elevated permission </a:t>
                      </a:r>
                    </a:p>
                    <a:p>
                      <a:pPr marL="285750" indent="-285750">
                        <a:buFontTx/>
                        <a:buChar char="-"/>
                      </a:pPr>
                      <a:r>
                        <a:rPr lang="en-US" sz="1200" dirty="0">
                          <a:solidFill>
                            <a:schemeClr val="bg1"/>
                          </a:solidFill>
                        </a:rPr>
                        <a:t>Outbound connections to unknown IP addresses</a:t>
                      </a:r>
                    </a:p>
                  </a:txBody>
                  <a:tcPr/>
                </a:tc>
                <a:tc>
                  <a:txBody>
                    <a:bodyPr/>
                    <a:lstStyle/>
                    <a:p>
                      <a:r>
                        <a:rPr lang="en-US" sz="1200" b="0" i="0" kern="1200" dirty="0">
                          <a:solidFill>
                            <a:schemeClr val="bg1"/>
                          </a:solidFill>
                          <a:effectLst/>
                          <a:latin typeface="+mn-lt"/>
                          <a:ea typeface="+mn-ea"/>
                          <a:cs typeface="+mn-cs"/>
                        </a:rPr>
                        <a:t>Provide the SLM with Windows event logs (Security, System, Application), Sysmon logs, PowerShell logs, and other security-related telemetry data.</a:t>
                      </a:r>
                    </a:p>
                  </a:txBody>
                  <a:tcPr/>
                </a:tc>
                <a:extLst>
                  <a:ext uri="{0D108BD9-81ED-4DB2-BD59-A6C34878D82A}">
                    <a16:rowId xmlns:a16="http://schemas.microsoft.com/office/drawing/2014/main" val="2356121908"/>
                  </a:ext>
                </a:extLst>
              </a:tr>
              <a:tr h="778891">
                <a:tc>
                  <a:txBody>
                    <a:bodyPr/>
                    <a:lstStyle/>
                    <a:p>
                      <a:r>
                        <a:rPr lang="en-US" sz="1200">
                          <a:solidFill>
                            <a:schemeClr val="bg1"/>
                          </a:solidFill>
                        </a:rPr>
                        <a:t>Health monitoring</a:t>
                      </a:r>
                    </a:p>
                  </a:txBody>
                  <a:tcPr/>
                </a:tc>
                <a:tc>
                  <a:txBody>
                    <a:bodyPr/>
                    <a:lstStyle/>
                    <a:p>
                      <a:pPr marL="0" indent="0">
                        <a:buFontTx/>
                        <a:buNone/>
                      </a:pPr>
                      <a:r>
                        <a:rPr lang="en-US" sz="1200">
                          <a:solidFill>
                            <a:schemeClr val="bg1"/>
                          </a:solidFill>
                        </a:rPr>
                        <a:t>Application health issues like:</a:t>
                      </a:r>
                    </a:p>
                    <a:p>
                      <a:pPr marL="0" indent="0">
                        <a:buFontTx/>
                        <a:buNone/>
                      </a:pPr>
                      <a:r>
                        <a:rPr lang="en-US" sz="1200" kern="1200">
                          <a:solidFill>
                            <a:schemeClr val="bg1"/>
                          </a:solidFill>
                          <a:latin typeface="+mn-lt"/>
                          <a:ea typeface="+mn-ea"/>
                          <a:cs typeface="+mn-cs"/>
                        </a:rPr>
                        <a:t>- crashes and hangs to slow response times, impacting user experience and productivity.</a:t>
                      </a:r>
                    </a:p>
                    <a:p>
                      <a:pPr marL="0" indent="0">
                        <a:buFontTx/>
                        <a:buNone/>
                      </a:pPr>
                      <a:r>
                        <a:rPr lang="en-US" sz="1200" kern="1200">
                          <a:solidFill>
                            <a:schemeClr val="bg1"/>
                          </a:solidFill>
                          <a:latin typeface="+mn-lt"/>
                          <a:ea typeface="+mn-ea"/>
                          <a:cs typeface="+mn-cs"/>
                        </a:rPr>
                        <a:t>Hardware health issues like:</a:t>
                      </a:r>
                    </a:p>
                    <a:p>
                      <a:pPr marL="0" indent="0">
                        <a:buFontTx/>
                        <a:buNone/>
                      </a:pPr>
                      <a:r>
                        <a:rPr lang="en-US" sz="1200" kern="1200">
                          <a:solidFill>
                            <a:schemeClr val="bg1"/>
                          </a:solidFill>
                          <a:latin typeface="+mn-lt"/>
                          <a:ea typeface="+mn-ea"/>
                          <a:cs typeface="+mn-cs"/>
                        </a:rPr>
                        <a:t>- Battery life</a:t>
                      </a:r>
                    </a:p>
                  </a:txBody>
                  <a:tcPr/>
                </a:tc>
                <a:tc>
                  <a:txBody>
                    <a:bodyPr/>
                    <a:lstStyle/>
                    <a:p>
                      <a:r>
                        <a:rPr lang="en-US" sz="1200" b="0" i="0" kern="1200" dirty="0">
                          <a:solidFill>
                            <a:schemeClr val="bg1"/>
                          </a:solidFill>
                          <a:effectLst/>
                          <a:latin typeface="+mn-lt"/>
                          <a:ea typeface="+mn-ea"/>
                          <a:cs typeface="+mn-cs"/>
                        </a:rPr>
                        <a:t>Feed the SLM with application-specific telemetry data (e.g., Application Insights logs, custom application logs), combined with Windows System and Application event logs.</a:t>
                      </a:r>
                    </a:p>
                  </a:txBody>
                  <a:tcPr/>
                </a:tc>
                <a:extLst>
                  <a:ext uri="{0D108BD9-81ED-4DB2-BD59-A6C34878D82A}">
                    <a16:rowId xmlns:a16="http://schemas.microsoft.com/office/drawing/2014/main" val="3494131561"/>
                  </a:ext>
                </a:extLst>
              </a:tr>
              <a:tr h="778891">
                <a:tc>
                  <a:txBody>
                    <a:bodyPr/>
                    <a:lstStyle/>
                    <a:p>
                      <a:r>
                        <a:rPr lang="en-US" sz="1200" dirty="0">
                          <a:solidFill>
                            <a:schemeClr val="bg1"/>
                          </a:solidFill>
                        </a:rPr>
                        <a:t>Compliance monitoring</a:t>
                      </a:r>
                    </a:p>
                  </a:txBody>
                  <a:tcPr/>
                </a:tc>
                <a:tc>
                  <a:txBody>
                    <a:bodyPr/>
                    <a:lstStyle/>
                    <a:p>
                      <a:pPr marL="0" indent="0">
                        <a:buFontTx/>
                        <a:buNone/>
                      </a:pPr>
                      <a:r>
                        <a:rPr lang="en-US" sz="1200" kern="1200" dirty="0">
                          <a:solidFill>
                            <a:schemeClr val="bg1"/>
                          </a:solidFill>
                          <a:latin typeface="+mn-lt"/>
                          <a:ea typeface="+mn-ea"/>
                          <a:cs typeface="+mn-cs"/>
                        </a:rPr>
                        <a:t>Detect compliance breaches for:</a:t>
                      </a:r>
                    </a:p>
                    <a:p>
                      <a:pPr marL="285750" indent="-285750">
                        <a:buFontTx/>
                        <a:buChar char="-"/>
                      </a:pPr>
                      <a:r>
                        <a:rPr lang="en-US" sz="1200" kern="1200" dirty="0">
                          <a:solidFill>
                            <a:schemeClr val="bg1"/>
                          </a:solidFill>
                          <a:latin typeface="+mn-lt"/>
                          <a:ea typeface="+mn-ea"/>
                          <a:cs typeface="+mn-cs"/>
                        </a:rPr>
                        <a:t>Regulatory requirement</a:t>
                      </a:r>
                    </a:p>
                    <a:p>
                      <a:pPr marL="285750" indent="-285750">
                        <a:buFontTx/>
                        <a:buChar char="-"/>
                      </a:pPr>
                      <a:r>
                        <a:rPr lang="en-US" sz="1200" kern="1200" dirty="0">
                          <a:solidFill>
                            <a:schemeClr val="bg1"/>
                          </a:solidFill>
                          <a:latin typeface="+mn-lt"/>
                          <a:ea typeface="+mn-ea"/>
                          <a:cs typeface="+mn-cs"/>
                        </a:rPr>
                        <a:t>Encryption</a:t>
                      </a:r>
                    </a:p>
                    <a:p>
                      <a:pPr marL="285750" indent="-285750">
                        <a:buFontTx/>
                        <a:buChar char="-"/>
                      </a:pPr>
                      <a:r>
                        <a:rPr lang="en-US" sz="1200" kern="1200" dirty="0">
                          <a:solidFill>
                            <a:schemeClr val="bg1"/>
                          </a:solidFill>
                          <a:latin typeface="+mn-lt"/>
                          <a:ea typeface="+mn-ea"/>
                          <a:cs typeface="+mn-cs"/>
                        </a:rPr>
                        <a:t>RBAC</a:t>
                      </a:r>
                    </a:p>
                    <a:p>
                      <a:pPr marL="285750" indent="-285750">
                        <a:buFontTx/>
                        <a:buChar char="-"/>
                      </a:pPr>
                      <a:r>
                        <a:rPr lang="en-US" sz="1200" kern="1200" dirty="0">
                          <a:solidFill>
                            <a:schemeClr val="bg1"/>
                          </a:solidFill>
                          <a:latin typeface="+mn-lt"/>
                          <a:ea typeface="+mn-ea"/>
                          <a:cs typeface="+mn-cs"/>
                        </a:rPr>
                        <a:t>Policies </a:t>
                      </a:r>
                    </a:p>
                  </a:txBody>
                  <a:tcPr/>
                </a:tc>
                <a:tc>
                  <a:txBody>
                    <a:bodyPr/>
                    <a:lstStyle/>
                    <a:p>
                      <a:r>
                        <a:rPr lang="en-US" sz="1200" b="0" i="0" kern="1200" dirty="0">
                          <a:solidFill>
                            <a:schemeClr val="bg1"/>
                          </a:solidFill>
                          <a:effectLst/>
                          <a:latin typeface="+mn-lt"/>
                          <a:ea typeface="+mn-ea"/>
                          <a:cs typeface="+mn-cs"/>
                        </a:rPr>
                        <a:t>Windows OS configuration/settings data</a:t>
                      </a:r>
                    </a:p>
                  </a:txBody>
                  <a:tcPr/>
                </a:tc>
                <a:extLst>
                  <a:ext uri="{0D108BD9-81ED-4DB2-BD59-A6C34878D82A}">
                    <a16:rowId xmlns:a16="http://schemas.microsoft.com/office/drawing/2014/main" val="2922019688"/>
                  </a:ext>
                </a:extLst>
              </a:tr>
              <a:tr h="929453">
                <a:tc>
                  <a:txBody>
                    <a:bodyPr/>
                    <a:lstStyle/>
                    <a:p>
                      <a:r>
                        <a:rPr lang="en-US" sz="1200">
                          <a:solidFill>
                            <a:schemeClr val="bg1"/>
                          </a:solidFill>
                        </a:rPr>
                        <a:t>Predictive maintenance</a:t>
                      </a:r>
                    </a:p>
                  </a:txBody>
                  <a:tcPr/>
                </a:tc>
                <a:tc>
                  <a:txBody>
                    <a:bodyPr/>
                    <a:lstStyle/>
                    <a:p>
                      <a:r>
                        <a:rPr lang="en-US" sz="1200" kern="1200" dirty="0">
                          <a:solidFill>
                            <a:schemeClr val="bg1"/>
                          </a:solidFill>
                          <a:latin typeface="+mn-lt"/>
                          <a:ea typeface="+mn-ea"/>
                          <a:cs typeface="+mn-cs"/>
                        </a:rPr>
                        <a:t>Find hardware and software issues proactively:</a:t>
                      </a:r>
                    </a:p>
                    <a:p>
                      <a:pPr marL="285750" indent="-285750">
                        <a:buFont typeface="Arial" panose="020B0604020202020204" pitchFamily="34" charset="0"/>
                        <a:buChar char="•"/>
                      </a:pPr>
                      <a:r>
                        <a:rPr lang="en-US" sz="1200" kern="1200" dirty="0">
                          <a:solidFill>
                            <a:schemeClr val="bg1"/>
                          </a:solidFill>
                          <a:latin typeface="+mn-lt"/>
                          <a:ea typeface="+mn-ea"/>
                          <a:cs typeface="+mn-cs"/>
                        </a:rPr>
                        <a:t>Failing disk</a:t>
                      </a:r>
                    </a:p>
                    <a:p>
                      <a:pPr marL="285750" indent="-285750">
                        <a:buFont typeface="Arial" panose="020B0604020202020204" pitchFamily="34" charset="0"/>
                        <a:buChar char="•"/>
                      </a:pPr>
                      <a:r>
                        <a:rPr lang="en-US" sz="1200" kern="1200" dirty="0">
                          <a:solidFill>
                            <a:schemeClr val="bg1"/>
                          </a:solidFill>
                          <a:latin typeface="+mn-lt"/>
                          <a:ea typeface="+mn-ea"/>
                          <a:cs typeface="+mn-cs"/>
                        </a:rPr>
                        <a:t>Thermal issues related to fans</a:t>
                      </a:r>
                    </a:p>
                    <a:p>
                      <a:pPr marL="285750" indent="-285750">
                        <a:buFont typeface="Arial" panose="020B0604020202020204" pitchFamily="34" charset="0"/>
                        <a:buChar char="•"/>
                      </a:pPr>
                      <a:r>
                        <a:rPr lang="en-US" sz="1200" kern="1200" dirty="0">
                          <a:solidFill>
                            <a:schemeClr val="bg1"/>
                          </a:solidFill>
                          <a:latin typeface="+mn-lt"/>
                          <a:ea typeface="+mn-ea"/>
                          <a:cs typeface="+mn-cs"/>
                        </a:rPr>
                        <a:t>Disk, memory limit reached</a:t>
                      </a:r>
                    </a:p>
                    <a:p>
                      <a:pPr marL="285750" indent="-285750">
                        <a:buFont typeface="Arial" panose="020B0604020202020204" pitchFamily="34" charset="0"/>
                        <a:buChar char="•"/>
                      </a:pPr>
                      <a:r>
                        <a:rPr lang="en-US" sz="1200" kern="1200" dirty="0">
                          <a:solidFill>
                            <a:schemeClr val="bg1"/>
                          </a:solidFill>
                          <a:latin typeface="+mn-lt"/>
                          <a:ea typeface="+mn-ea"/>
                          <a:cs typeface="+mn-cs"/>
                        </a:rPr>
                        <a:t>Disk I/O errors</a:t>
                      </a:r>
                    </a:p>
                    <a:p>
                      <a:pPr marL="285750" indent="-285750">
                        <a:buFont typeface="Arial" panose="020B0604020202020204" pitchFamily="34" charset="0"/>
                        <a:buChar char="•"/>
                      </a:pPr>
                      <a:r>
                        <a:rPr lang="en-US" sz="1200" kern="1200" dirty="0">
                          <a:solidFill>
                            <a:schemeClr val="bg1"/>
                          </a:solidFill>
                          <a:latin typeface="+mn-lt"/>
                          <a:ea typeface="+mn-ea"/>
                          <a:cs typeface="+mn-cs"/>
                        </a:rPr>
                        <a:t>Disk read/write latency</a:t>
                      </a:r>
                    </a:p>
                  </a:txBody>
                  <a:tcPr/>
                </a:tc>
                <a:tc>
                  <a:txBody>
                    <a:bodyPr/>
                    <a:lstStyle/>
                    <a:p>
                      <a:r>
                        <a:rPr lang="en-US" sz="1200" dirty="0">
                          <a:solidFill>
                            <a:schemeClr val="bg1"/>
                          </a:solidFill>
                        </a:rPr>
                        <a:t>Windows OS metric data</a:t>
                      </a:r>
                    </a:p>
                  </a:txBody>
                  <a:tcPr/>
                </a:tc>
                <a:extLst>
                  <a:ext uri="{0D108BD9-81ED-4DB2-BD59-A6C34878D82A}">
                    <a16:rowId xmlns:a16="http://schemas.microsoft.com/office/drawing/2014/main" val="2330710005"/>
                  </a:ext>
                </a:extLst>
              </a:tr>
            </a:tbl>
          </a:graphicData>
        </a:graphic>
      </p:graphicFrame>
    </p:spTree>
    <p:extLst>
      <p:ext uri="{BB962C8B-B14F-4D97-AF65-F5344CB8AC3E}">
        <p14:creationId xmlns:p14="http://schemas.microsoft.com/office/powerpoint/2010/main" val="1095438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26872-00AB-53A6-4878-5C94344F19BB}"/>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33F563AB-45A1-EB58-4A23-BD5003D80F75}"/>
              </a:ext>
            </a:extLst>
          </p:cNvPr>
          <p:cNvSpPr/>
          <p:nvPr/>
        </p:nvSpPr>
        <p:spPr>
          <a:xfrm>
            <a:off x="14435174" y="4100929"/>
            <a:ext cx="925285" cy="1349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 name="Title 2">
            <a:extLst>
              <a:ext uri="{FF2B5EF4-FFF2-40B4-BE49-F238E27FC236}">
                <a16:creationId xmlns:a16="http://schemas.microsoft.com/office/drawing/2014/main" id="{6E16A076-DB78-E274-EE56-5EF49E3A4889}"/>
              </a:ext>
            </a:extLst>
          </p:cNvPr>
          <p:cNvSpPr>
            <a:spLocks noGrp="1"/>
          </p:cNvSpPr>
          <p:nvPr>
            <p:ph type="title"/>
          </p:nvPr>
        </p:nvSpPr>
        <p:spPr>
          <a:xfrm>
            <a:off x="407989" y="187615"/>
            <a:ext cx="11039374" cy="1093765"/>
          </a:xfrm>
          <a:ln>
            <a:noFill/>
          </a:ln>
        </p:spPr>
        <p:txBody>
          <a:bodyPr vert="horz" lIns="0" tIns="45720" rIns="91440" bIns="45720" anchor="t"/>
          <a:lstStyle/>
          <a:p>
            <a:r>
              <a:rPr lang="en-US" sz="3200" dirty="0">
                <a:effectLst/>
                <a:latin typeface="Calibri" panose="020F0502020204030204" pitchFamily="34" charset="0"/>
              </a:rPr>
              <a:t>Hybrid Solution – OTB [Original]</a:t>
            </a:r>
            <a:endParaRPr lang="en-IN" sz="3200" b="1" u="sng" dirty="0">
              <a:solidFill>
                <a:schemeClr val="accent1"/>
              </a:solidFill>
            </a:endParaRPr>
          </a:p>
        </p:txBody>
      </p:sp>
      <p:sp>
        <p:nvSpPr>
          <p:cNvPr id="8" name="Rectangle: Rounded Corners 7">
            <a:extLst>
              <a:ext uri="{FF2B5EF4-FFF2-40B4-BE49-F238E27FC236}">
                <a16:creationId xmlns:a16="http://schemas.microsoft.com/office/drawing/2014/main" id="{4D076D17-8C83-811D-BDFD-0ABD511CF816}"/>
              </a:ext>
            </a:extLst>
          </p:cNvPr>
          <p:cNvSpPr/>
          <p:nvPr/>
        </p:nvSpPr>
        <p:spPr>
          <a:xfrm>
            <a:off x="282804" y="3864987"/>
            <a:ext cx="3346516" cy="457200"/>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Telemetry Data Collection Agent</a:t>
            </a:r>
          </a:p>
        </p:txBody>
      </p:sp>
      <p:sp>
        <p:nvSpPr>
          <p:cNvPr id="9" name="Rectangle: Rounded Corners 8">
            <a:extLst>
              <a:ext uri="{FF2B5EF4-FFF2-40B4-BE49-F238E27FC236}">
                <a16:creationId xmlns:a16="http://schemas.microsoft.com/office/drawing/2014/main" id="{4B5EC0B6-1933-1E77-7173-2174B118B934}"/>
              </a:ext>
            </a:extLst>
          </p:cNvPr>
          <p:cNvSpPr/>
          <p:nvPr/>
        </p:nvSpPr>
        <p:spPr>
          <a:xfrm>
            <a:off x="216811" y="4967925"/>
            <a:ext cx="3450213" cy="1366888"/>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1"/>
                </a:solidFill>
              </a:rPr>
              <a:t>TYPICAL LOGS SOURCES</a:t>
            </a:r>
          </a:p>
          <a:p>
            <a:pPr marL="285750" indent="-285750">
              <a:buFont typeface="Wingdings" panose="05000000000000000000" pitchFamily="2" charset="2"/>
              <a:buChar char="ü"/>
            </a:pPr>
            <a:r>
              <a:rPr lang="en-US" sz="1050" dirty="0">
                <a:solidFill>
                  <a:schemeClr val="tx1"/>
                </a:solidFill>
              </a:rPr>
              <a:t>Windows Event Logs (Event Viewer)</a:t>
            </a:r>
          </a:p>
          <a:p>
            <a:pPr marL="285750" indent="-285750">
              <a:buFont typeface="Wingdings" panose="05000000000000000000" pitchFamily="2" charset="2"/>
              <a:buChar char="ü"/>
            </a:pPr>
            <a:r>
              <a:rPr lang="en-US" sz="1050" dirty="0">
                <a:solidFill>
                  <a:schemeClr val="tx1"/>
                </a:solidFill>
              </a:rPr>
              <a:t>Windows Error Reporting (WER)</a:t>
            </a:r>
          </a:p>
          <a:p>
            <a:pPr marL="285750" indent="-285750">
              <a:buFont typeface="Wingdings" panose="05000000000000000000" pitchFamily="2" charset="2"/>
              <a:buChar char="ü"/>
            </a:pPr>
            <a:r>
              <a:rPr lang="en-US" sz="1050" dirty="0">
                <a:solidFill>
                  <a:schemeClr val="tx1"/>
                </a:solidFill>
              </a:rPr>
              <a:t>Windows Update Log (get-</a:t>
            </a:r>
            <a:r>
              <a:rPr lang="en-US" sz="1050" dirty="0" err="1">
                <a:solidFill>
                  <a:schemeClr val="tx1"/>
                </a:solidFill>
              </a:rPr>
              <a:t>WindowsUpdateLog</a:t>
            </a:r>
            <a:r>
              <a:rPr lang="en-US" sz="1050" dirty="0">
                <a:solidFill>
                  <a:schemeClr val="tx1"/>
                </a:solidFill>
              </a:rPr>
              <a:t>)</a:t>
            </a:r>
          </a:p>
          <a:p>
            <a:pPr marL="285750" indent="-285750">
              <a:buFont typeface="Wingdings" panose="05000000000000000000" pitchFamily="2" charset="2"/>
              <a:buChar char="ü"/>
            </a:pPr>
            <a:r>
              <a:rPr lang="en-US" sz="1050" dirty="0">
                <a:solidFill>
                  <a:schemeClr val="tx1"/>
                </a:solidFill>
              </a:rPr>
              <a:t>Device Drivers and PnP Logs</a:t>
            </a:r>
          </a:p>
          <a:p>
            <a:pPr marL="285750" indent="-285750">
              <a:buFont typeface="Wingdings" panose="05000000000000000000" pitchFamily="2" charset="2"/>
              <a:buChar char="ü"/>
            </a:pPr>
            <a:r>
              <a:rPr lang="en-US" sz="1050" dirty="0">
                <a:solidFill>
                  <a:schemeClr val="tx1"/>
                </a:solidFill>
              </a:rPr>
              <a:t>Security Log</a:t>
            </a:r>
          </a:p>
          <a:p>
            <a:pPr marL="285750" indent="-285750">
              <a:buFont typeface="Wingdings" panose="05000000000000000000" pitchFamily="2" charset="2"/>
              <a:buChar char="ü"/>
            </a:pPr>
            <a:r>
              <a:rPr lang="en-US" sz="1050" dirty="0">
                <a:solidFill>
                  <a:schemeClr val="tx1"/>
                </a:solidFill>
              </a:rPr>
              <a:t>Network / Firewall Logs</a:t>
            </a:r>
          </a:p>
        </p:txBody>
      </p:sp>
      <p:cxnSp>
        <p:nvCxnSpPr>
          <p:cNvPr id="12" name="Straight Arrow Connector 11">
            <a:extLst>
              <a:ext uri="{FF2B5EF4-FFF2-40B4-BE49-F238E27FC236}">
                <a16:creationId xmlns:a16="http://schemas.microsoft.com/office/drawing/2014/main" id="{CAEA12AA-3F99-F348-E0FD-9611357C3703}"/>
              </a:ext>
            </a:extLst>
          </p:cNvPr>
          <p:cNvCxnSpPr>
            <a:cxnSpLocks/>
            <a:stCxn id="9" idx="0"/>
            <a:endCxn id="8" idx="2"/>
          </p:cNvCxnSpPr>
          <p:nvPr/>
        </p:nvCxnSpPr>
        <p:spPr>
          <a:xfrm flipV="1">
            <a:off x="1941918" y="4322187"/>
            <a:ext cx="14144" cy="645738"/>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3B02E4D4-4E25-13DA-536F-D0021401AD3F}"/>
              </a:ext>
            </a:extLst>
          </p:cNvPr>
          <p:cNvSpPr/>
          <p:nvPr/>
        </p:nvSpPr>
        <p:spPr>
          <a:xfrm>
            <a:off x="664590" y="3091993"/>
            <a:ext cx="2582944" cy="4572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Diagnostician</a:t>
            </a:r>
          </a:p>
          <a:p>
            <a:pPr algn="ctr"/>
            <a:r>
              <a:rPr lang="en-US" sz="1050">
                <a:solidFill>
                  <a:schemeClr val="bg1"/>
                </a:solidFill>
              </a:rPr>
              <a:t>(Use Case Based Agent)</a:t>
            </a:r>
            <a:endParaRPr lang="en-US" sz="1400">
              <a:solidFill>
                <a:schemeClr val="bg1"/>
              </a:solidFill>
            </a:endParaRPr>
          </a:p>
        </p:txBody>
      </p:sp>
      <p:cxnSp>
        <p:nvCxnSpPr>
          <p:cNvPr id="59" name="Straight Arrow Connector 58">
            <a:extLst>
              <a:ext uri="{FF2B5EF4-FFF2-40B4-BE49-F238E27FC236}">
                <a16:creationId xmlns:a16="http://schemas.microsoft.com/office/drawing/2014/main" id="{F6E6AA30-0516-47DD-B8DA-C8ABF0C18A1B}"/>
              </a:ext>
            </a:extLst>
          </p:cNvPr>
          <p:cNvCxnSpPr>
            <a:cxnSpLocks/>
            <a:stCxn id="8" idx="0"/>
            <a:endCxn id="29" idx="2"/>
          </p:cNvCxnSpPr>
          <p:nvPr/>
        </p:nvCxnSpPr>
        <p:spPr>
          <a:xfrm flipV="1">
            <a:off x="1956062" y="3549193"/>
            <a:ext cx="0" cy="315794"/>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A1738BCD-E4F0-0298-260D-C5FED84365F7}"/>
              </a:ext>
            </a:extLst>
          </p:cNvPr>
          <p:cNvSpPr/>
          <p:nvPr/>
        </p:nvSpPr>
        <p:spPr>
          <a:xfrm>
            <a:off x="5967168" y="6457361"/>
            <a:ext cx="1097280" cy="27432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a:solidFill>
                  <a:schemeClr val="bg1"/>
                </a:solidFill>
              </a:rPr>
              <a:t>AI Enabled</a:t>
            </a:r>
          </a:p>
        </p:txBody>
      </p:sp>
      <p:sp>
        <p:nvSpPr>
          <p:cNvPr id="64" name="Rectangle: Rounded Corners 63">
            <a:extLst>
              <a:ext uri="{FF2B5EF4-FFF2-40B4-BE49-F238E27FC236}">
                <a16:creationId xmlns:a16="http://schemas.microsoft.com/office/drawing/2014/main" id="{65C1EB4F-85CE-77F0-8767-13DF698639AB}"/>
              </a:ext>
            </a:extLst>
          </p:cNvPr>
          <p:cNvSpPr/>
          <p:nvPr/>
        </p:nvSpPr>
        <p:spPr>
          <a:xfrm>
            <a:off x="7118806" y="6454218"/>
            <a:ext cx="1280160" cy="274320"/>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a:solidFill>
                  <a:schemeClr val="tx1"/>
                </a:solidFill>
              </a:rPr>
              <a:t>Standard Agent</a:t>
            </a:r>
          </a:p>
        </p:txBody>
      </p:sp>
      <p:cxnSp>
        <p:nvCxnSpPr>
          <p:cNvPr id="66" name="Straight Connector 65">
            <a:extLst>
              <a:ext uri="{FF2B5EF4-FFF2-40B4-BE49-F238E27FC236}">
                <a16:creationId xmlns:a16="http://schemas.microsoft.com/office/drawing/2014/main" id="{C5892DE7-65FA-D9FA-B786-402F4BF4F39B}"/>
              </a:ext>
            </a:extLst>
          </p:cNvPr>
          <p:cNvCxnSpPr>
            <a:cxnSpLocks/>
          </p:cNvCxnSpPr>
          <p:nvPr/>
        </p:nvCxnSpPr>
        <p:spPr>
          <a:xfrm>
            <a:off x="4242062" y="725864"/>
            <a:ext cx="0" cy="5486400"/>
          </a:xfrm>
          <a:prstGeom prst="line">
            <a:avLst/>
          </a:prstGeom>
          <a:ln w="38100">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B1E496A-0036-770B-5972-5F5F206B4E7A}"/>
              </a:ext>
            </a:extLst>
          </p:cNvPr>
          <p:cNvCxnSpPr>
            <a:cxnSpLocks/>
          </p:cNvCxnSpPr>
          <p:nvPr/>
        </p:nvCxnSpPr>
        <p:spPr>
          <a:xfrm>
            <a:off x="7854099" y="725864"/>
            <a:ext cx="0" cy="5486400"/>
          </a:xfrm>
          <a:prstGeom prst="line">
            <a:avLst/>
          </a:prstGeom>
          <a:ln w="38100">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FB82CDF-A2FE-6530-24AC-934DDC027449}"/>
              </a:ext>
            </a:extLst>
          </p:cNvPr>
          <p:cNvCxnSpPr>
            <a:cxnSpLocks/>
          </p:cNvCxnSpPr>
          <p:nvPr/>
        </p:nvCxnSpPr>
        <p:spPr>
          <a:xfrm>
            <a:off x="11513269" y="725864"/>
            <a:ext cx="0" cy="5486400"/>
          </a:xfrm>
          <a:prstGeom prst="line">
            <a:avLst/>
          </a:prstGeom>
          <a:ln w="38100">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77" name="Rectangle: Rounded Corners 76">
            <a:extLst>
              <a:ext uri="{FF2B5EF4-FFF2-40B4-BE49-F238E27FC236}">
                <a16:creationId xmlns:a16="http://schemas.microsoft.com/office/drawing/2014/main" id="{79D7C46C-3EDC-DAF5-F8CF-F0DF4C1D02FC}"/>
              </a:ext>
            </a:extLst>
          </p:cNvPr>
          <p:cNvSpPr/>
          <p:nvPr/>
        </p:nvSpPr>
        <p:spPr>
          <a:xfrm>
            <a:off x="622169" y="895545"/>
            <a:ext cx="3365369" cy="593890"/>
          </a:xfrm>
          <a:prstGeom prst="roundRect">
            <a:avLst/>
          </a:prstGeom>
          <a:no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100">
                <a:solidFill>
                  <a:schemeClr val="bg1"/>
                </a:solidFill>
              </a:rPr>
              <a:t>Fast and most accurate results</a:t>
            </a:r>
          </a:p>
          <a:p>
            <a:pPr marL="171450" indent="-171450">
              <a:buFont typeface="Arial" panose="020B0604020202020204" pitchFamily="34" charset="0"/>
              <a:buChar char="•"/>
            </a:pPr>
            <a:r>
              <a:rPr lang="en-US" sz="1100">
                <a:solidFill>
                  <a:schemeClr val="bg1"/>
                </a:solidFill>
              </a:rPr>
              <a:t>Data Transfer is huge </a:t>
            </a:r>
          </a:p>
          <a:p>
            <a:pPr marL="171450" indent="-171450">
              <a:buFont typeface="Arial" panose="020B0604020202020204" pitchFamily="34" charset="0"/>
              <a:buChar char="•"/>
            </a:pPr>
            <a:r>
              <a:rPr lang="en-US" sz="1100">
                <a:solidFill>
                  <a:schemeClr val="bg1"/>
                </a:solidFill>
              </a:rPr>
              <a:t>Chipset agnostic solution</a:t>
            </a:r>
          </a:p>
        </p:txBody>
      </p:sp>
      <p:sp>
        <p:nvSpPr>
          <p:cNvPr id="80" name="Rectangle: Rounded Corners 79">
            <a:extLst>
              <a:ext uri="{FF2B5EF4-FFF2-40B4-BE49-F238E27FC236}">
                <a16:creationId xmlns:a16="http://schemas.microsoft.com/office/drawing/2014/main" id="{C5E18A23-9788-AA48-A3C8-99150CAB3C15}"/>
              </a:ext>
            </a:extLst>
          </p:cNvPr>
          <p:cNvSpPr/>
          <p:nvPr/>
        </p:nvSpPr>
        <p:spPr>
          <a:xfrm>
            <a:off x="4681979" y="3091993"/>
            <a:ext cx="2582944" cy="457200"/>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Remediator</a:t>
            </a:r>
          </a:p>
        </p:txBody>
      </p:sp>
      <p:sp>
        <p:nvSpPr>
          <p:cNvPr id="81" name="Rectangle: Rounded Corners 80">
            <a:extLst>
              <a:ext uri="{FF2B5EF4-FFF2-40B4-BE49-F238E27FC236}">
                <a16:creationId xmlns:a16="http://schemas.microsoft.com/office/drawing/2014/main" id="{9D319E99-4279-11EF-BA1A-F6FEFB17F9E4}"/>
              </a:ext>
            </a:extLst>
          </p:cNvPr>
          <p:cNvSpPr/>
          <p:nvPr/>
        </p:nvSpPr>
        <p:spPr>
          <a:xfrm>
            <a:off x="8360003" y="3091993"/>
            <a:ext cx="2582944" cy="457200"/>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Executor</a:t>
            </a:r>
          </a:p>
        </p:txBody>
      </p:sp>
      <p:cxnSp>
        <p:nvCxnSpPr>
          <p:cNvPr id="82" name="Straight Arrow Connector 81">
            <a:extLst>
              <a:ext uri="{FF2B5EF4-FFF2-40B4-BE49-F238E27FC236}">
                <a16:creationId xmlns:a16="http://schemas.microsoft.com/office/drawing/2014/main" id="{8EB626EF-19A4-1FEB-2042-0F5A3427AF8B}"/>
              </a:ext>
            </a:extLst>
          </p:cNvPr>
          <p:cNvCxnSpPr>
            <a:cxnSpLocks/>
            <a:stCxn id="29" idx="3"/>
            <a:endCxn id="80" idx="1"/>
          </p:cNvCxnSpPr>
          <p:nvPr/>
        </p:nvCxnSpPr>
        <p:spPr>
          <a:xfrm>
            <a:off x="3247534" y="3320593"/>
            <a:ext cx="1434445" cy="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38397BF-1467-34D3-3818-C45F506CB2FC}"/>
              </a:ext>
            </a:extLst>
          </p:cNvPr>
          <p:cNvCxnSpPr>
            <a:cxnSpLocks/>
            <a:stCxn id="81" idx="1"/>
            <a:endCxn id="80" idx="3"/>
          </p:cNvCxnSpPr>
          <p:nvPr/>
        </p:nvCxnSpPr>
        <p:spPr>
          <a:xfrm flipH="1">
            <a:off x="7264923" y="3320593"/>
            <a:ext cx="1095080" cy="0"/>
          </a:xfrm>
          <a:prstGeom prst="straightConnector1">
            <a:avLst/>
          </a:prstGeom>
          <a:ln w="381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95" name="Graphic 94" descr="Database with solid fill">
            <a:extLst>
              <a:ext uri="{FF2B5EF4-FFF2-40B4-BE49-F238E27FC236}">
                <a16:creationId xmlns:a16="http://schemas.microsoft.com/office/drawing/2014/main" id="{63BE31CC-6D7C-CC2E-7A3A-BA4A154A34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910" y="2264791"/>
            <a:ext cx="457200" cy="457200"/>
          </a:xfrm>
          <a:prstGeom prst="rect">
            <a:avLst/>
          </a:prstGeom>
        </p:spPr>
      </p:pic>
      <p:sp>
        <p:nvSpPr>
          <p:cNvPr id="96" name="TextBox 95">
            <a:extLst>
              <a:ext uri="{FF2B5EF4-FFF2-40B4-BE49-F238E27FC236}">
                <a16:creationId xmlns:a16="http://schemas.microsoft.com/office/drawing/2014/main" id="{85AF89B9-DAD6-D8E7-0D35-A25A4A8AF231}"/>
              </a:ext>
            </a:extLst>
          </p:cNvPr>
          <p:cNvSpPr txBox="1"/>
          <p:nvPr/>
        </p:nvSpPr>
        <p:spPr>
          <a:xfrm>
            <a:off x="122549" y="2265695"/>
            <a:ext cx="857839" cy="417679"/>
          </a:xfrm>
          <a:prstGeom prst="rect">
            <a:avLst/>
          </a:prstGeom>
          <a:noFill/>
        </p:spPr>
        <p:txBody>
          <a:bodyPr vert="horz" wrap="square" lIns="90000" tIns="46800" rIns="90000" bIns="46800" rtlCol="0" anchor="ctr">
            <a:spAutoFit/>
          </a:bodyPr>
          <a:lstStyle/>
          <a:p>
            <a:pPr algn="ctr">
              <a:spcBef>
                <a:spcPct val="0"/>
              </a:spcBef>
            </a:pPr>
            <a:r>
              <a:rPr lang="en-US" sz="1050">
                <a:solidFill>
                  <a:schemeClr val="bg1"/>
                </a:solidFill>
              </a:rPr>
              <a:t>Diagnostic Dataset</a:t>
            </a:r>
          </a:p>
        </p:txBody>
      </p:sp>
      <p:pic>
        <p:nvPicPr>
          <p:cNvPr id="101" name="Graphic 100" descr="Artificial Intelligence with solid fill">
            <a:extLst>
              <a:ext uri="{FF2B5EF4-FFF2-40B4-BE49-F238E27FC236}">
                <a16:creationId xmlns:a16="http://schemas.microsoft.com/office/drawing/2014/main" id="{29EE1BB0-FD3A-BD84-1902-E396EDDBD4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2400692" y="2264791"/>
            <a:ext cx="457200" cy="457200"/>
          </a:xfrm>
          <a:prstGeom prst="rect">
            <a:avLst/>
          </a:prstGeom>
        </p:spPr>
      </p:pic>
      <p:cxnSp>
        <p:nvCxnSpPr>
          <p:cNvPr id="102" name="Connector: Elbow 101">
            <a:extLst>
              <a:ext uri="{FF2B5EF4-FFF2-40B4-BE49-F238E27FC236}">
                <a16:creationId xmlns:a16="http://schemas.microsoft.com/office/drawing/2014/main" id="{FD130C9B-2899-B1EA-9FE1-9B5B8B70DC03}"/>
              </a:ext>
            </a:extLst>
          </p:cNvPr>
          <p:cNvCxnSpPr>
            <a:cxnSpLocks/>
            <a:stCxn id="101" idx="2"/>
            <a:endCxn id="29" idx="0"/>
          </p:cNvCxnSpPr>
          <p:nvPr/>
        </p:nvCxnSpPr>
        <p:spPr>
          <a:xfrm rot="5400000">
            <a:off x="2107676" y="2570377"/>
            <a:ext cx="370002" cy="673230"/>
          </a:xfrm>
          <a:prstGeom prst="bentConnector3">
            <a:avLst>
              <a:gd name="adj1" fmla="val 50000"/>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7" name="Graphic 106" descr="Database with solid fill">
            <a:extLst>
              <a:ext uri="{FF2B5EF4-FFF2-40B4-BE49-F238E27FC236}">
                <a16:creationId xmlns:a16="http://schemas.microsoft.com/office/drawing/2014/main" id="{661FA7E6-7A23-0A98-B4A9-CC29DC92A3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8349" y="4623061"/>
            <a:ext cx="640080" cy="640080"/>
          </a:xfrm>
          <a:prstGeom prst="rect">
            <a:avLst/>
          </a:prstGeom>
        </p:spPr>
      </p:pic>
      <p:sp>
        <p:nvSpPr>
          <p:cNvPr id="108" name="TextBox 107">
            <a:extLst>
              <a:ext uri="{FF2B5EF4-FFF2-40B4-BE49-F238E27FC236}">
                <a16:creationId xmlns:a16="http://schemas.microsoft.com/office/drawing/2014/main" id="{97A3730E-D92E-80AA-9240-9C7A07028910}"/>
              </a:ext>
            </a:extLst>
          </p:cNvPr>
          <p:cNvSpPr txBox="1"/>
          <p:nvPr/>
        </p:nvSpPr>
        <p:spPr>
          <a:xfrm>
            <a:off x="4449452" y="5189574"/>
            <a:ext cx="1038519" cy="417679"/>
          </a:xfrm>
          <a:prstGeom prst="rect">
            <a:avLst/>
          </a:prstGeom>
          <a:noFill/>
        </p:spPr>
        <p:txBody>
          <a:bodyPr vert="horz" wrap="square" lIns="90000" tIns="46800" rIns="90000" bIns="46800" rtlCol="0" anchor="ctr">
            <a:spAutoFit/>
          </a:bodyPr>
          <a:lstStyle/>
          <a:p>
            <a:pPr algn="ctr">
              <a:spcBef>
                <a:spcPct val="0"/>
              </a:spcBef>
            </a:pPr>
            <a:r>
              <a:rPr lang="en-US" sz="1050">
                <a:solidFill>
                  <a:schemeClr val="bg1"/>
                </a:solidFill>
              </a:rPr>
              <a:t>Knowledge Repository</a:t>
            </a:r>
          </a:p>
        </p:txBody>
      </p:sp>
      <p:pic>
        <p:nvPicPr>
          <p:cNvPr id="109" name="Graphic 108" descr="Artificial Intelligence with solid fill">
            <a:extLst>
              <a:ext uri="{FF2B5EF4-FFF2-40B4-BE49-F238E27FC236}">
                <a16:creationId xmlns:a16="http://schemas.microsoft.com/office/drawing/2014/main" id="{EE8C756E-0D10-3C49-A2F6-8C519369EB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6304959" y="4623061"/>
            <a:ext cx="640080" cy="640080"/>
          </a:xfrm>
          <a:prstGeom prst="rect">
            <a:avLst/>
          </a:prstGeom>
        </p:spPr>
      </p:pic>
      <p:sp>
        <p:nvSpPr>
          <p:cNvPr id="110" name="TextBox 109">
            <a:extLst>
              <a:ext uri="{FF2B5EF4-FFF2-40B4-BE49-F238E27FC236}">
                <a16:creationId xmlns:a16="http://schemas.microsoft.com/office/drawing/2014/main" id="{B9FC6955-AF51-5E24-DB5A-1D0DFB791AA5}"/>
              </a:ext>
            </a:extLst>
          </p:cNvPr>
          <p:cNvSpPr txBox="1"/>
          <p:nvPr/>
        </p:nvSpPr>
        <p:spPr>
          <a:xfrm>
            <a:off x="6215405" y="5253082"/>
            <a:ext cx="997670" cy="256097"/>
          </a:xfrm>
          <a:prstGeom prst="rect">
            <a:avLst/>
          </a:prstGeom>
          <a:noFill/>
        </p:spPr>
        <p:txBody>
          <a:bodyPr vert="horz" wrap="square" lIns="90000" tIns="46800" rIns="90000" bIns="46800" rtlCol="0" anchor="ctr">
            <a:spAutoFit/>
          </a:bodyPr>
          <a:lstStyle/>
          <a:p>
            <a:pPr algn="ctr">
              <a:spcBef>
                <a:spcPct val="0"/>
              </a:spcBef>
            </a:pPr>
            <a:r>
              <a:rPr lang="en-US" sz="1050" dirty="0">
                <a:solidFill>
                  <a:schemeClr val="bg1"/>
                </a:solidFill>
              </a:rPr>
              <a:t>SLM</a:t>
            </a:r>
          </a:p>
        </p:txBody>
      </p:sp>
      <p:cxnSp>
        <p:nvCxnSpPr>
          <p:cNvPr id="115" name="Connector: Elbow 114">
            <a:extLst>
              <a:ext uri="{FF2B5EF4-FFF2-40B4-BE49-F238E27FC236}">
                <a16:creationId xmlns:a16="http://schemas.microsoft.com/office/drawing/2014/main" id="{F525C45B-7DCD-2DBD-F2F0-3DADF7BBB062}"/>
              </a:ext>
            </a:extLst>
          </p:cNvPr>
          <p:cNvCxnSpPr>
            <a:cxnSpLocks/>
            <a:stCxn id="109" idx="0"/>
            <a:endCxn id="80" idx="2"/>
          </p:cNvCxnSpPr>
          <p:nvPr/>
        </p:nvCxnSpPr>
        <p:spPr>
          <a:xfrm rot="16200000" flipV="1">
            <a:off x="5762291" y="3760353"/>
            <a:ext cx="1073868" cy="651548"/>
          </a:xfrm>
          <a:prstGeom prst="bentConnector3">
            <a:avLst>
              <a:gd name="adj1" fmla="val 50000"/>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CCBE778C-4776-F1FF-D840-074F804540B1}"/>
              </a:ext>
            </a:extLst>
          </p:cNvPr>
          <p:cNvCxnSpPr>
            <a:cxnSpLocks/>
            <a:stCxn id="95" idx="3"/>
            <a:endCxn id="101" idx="3"/>
          </p:cNvCxnSpPr>
          <p:nvPr/>
        </p:nvCxnSpPr>
        <p:spPr>
          <a:xfrm>
            <a:off x="1322110" y="2493391"/>
            <a:ext cx="1078582"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DBC1FE66-D66B-B711-8984-6E21FB486B32}"/>
              </a:ext>
            </a:extLst>
          </p:cNvPr>
          <p:cNvSpPr txBox="1"/>
          <p:nvPr/>
        </p:nvSpPr>
        <p:spPr>
          <a:xfrm>
            <a:off x="1473725" y="2255361"/>
            <a:ext cx="816990" cy="256097"/>
          </a:xfrm>
          <a:prstGeom prst="rect">
            <a:avLst/>
          </a:prstGeom>
          <a:noFill/>
        </p:spPr>
        <p:txBody>
          <a:bodyPr vert="horz" wrap="square" lIns="90000" tIns="46800" rIns="90000" bIns="46800" rtlCol="0" anchor="ctr">
            <a:spAutoFit/>
          </a:bodyPr>
          <a:lstStyle/>
          <a:p>
            <a:pPr algn="l">
              <a:spcBef>
                <a:spcPct val="0"/>
              </a:spcBef>
            </a:pPr>
            <a:r>
              <a:rPr lang="en-US" sz="1050">
                <a:solidFill>
                  <a:schemeClr val="bg1"/>
                </a:solidFill>
              </a:rPr>
              <a:t>RAG Data</a:t>
            </a:r>
          </a:p>
        </p:txBody>
      </p:sp>
      <p:cxnSp>
        <p:nvCxnSpPr>
          <p:cNvPr id="125" name="Straight Arrow Connector 124">
            <a:extLst>
              <a:ext uri="{FF2B5EF4-FFF2-40B4-BE49-F238E27FC236}">
                <a16:creationId xmlns:a16="http://schemas.microsoft.com/office/drawing/2014/main" id="{98544E21-D014-D7A8-C676-40D712CE2B8A}"/>
              </a:ext>
            </a:extLst>
          </p:cNvPr>
          <p:cNvCxnSpPr>
            <a:cxnSpLocks/>
            <a:stCxn id="107" idx="3"/>
            <a:endCxn id="109" idx="3"/>
          </p:cNvCxnSpPr>
          <p:nvPr/>
        </p:nvCxnSpPr>
        <p:spPr>
          <a:xfrm>
            <a:off x="5258429" y="4943101"/>
            <a:ext cx="1046530"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5D0BD316-E340-119B-16BE-F992B81F4743}"/>
              </a:ext>
            </a:extLst>
          </p:cNvPr>
          <p:cNvSpPr txBox="1"/>
          <p:nvPr/>
        </p:nvSpPr>
        <p:spPr>
          <a:xfrm>
            <a:off x="5396846" y="4670194"/>
            <a:ext cx="816990" cy="256097"/>
          </a:xfrm>
          <a:prstGeom prst="rect">
            <a:avLst/>
          </a:prstGeom>
          <a:noFill/>
        </p:spPr>
        <p:txBody>
          <a:bodyPr vert="horz" wrap="square" lIns="90000" tIns="46800" rIns="90000" bIns="46800" rtlCol="0" anchor="ctr">
            <a:spAutoFit/>
          </a:bodyPr>
          <a:lstStyle/>
          <a:p>
            <a:pPr algn="l">
              <a:spcBef>
                <a:spcPct val="0"/>
              </a:spcBef>
            </a:pPr>
            <a:r>
              <a:rPr lang="en-US" sz="1050">
                <a:solidFill>
                  <a:schemeClr val="bg1"/>
                </a:solidFill>
              </a:rPr>
              <a:t>RAG Data</a:t>
            </a:r>
          </a:p>
        </p:txBody>
      </p:sp>
      <p:sp>
        <p:nvSpPr>
          <p:cNvPr id="131" name="Rectangle: Rounded Corners 130">
            <a:extLst>
              <a:ext uri="{FF2B5EF4-FFF2-40B4-BE49-F238E27FC236}">
                <a16:creationId xmlns:a16="http://schemas.microsoft.com/office/drawing/2014/main" id="{304A903A-A6C1-1277-E7BC-B2904AA9D524}"/>
              </a:ext>
            </a:extLst>
          </p:cNvPr>
          <p:cNvSpPr/>
          <p:nvPr/>
        </p:nvSpPr>
        <p:spPr>
          <a:xfrm>
            <a:off x="4487160" y="895545"/>
            <a:ext cx="3195686" cy="603317"/>
          </a:xfrm>
          <a:prstGeom prst="roundRect">
            <a:avLst/>
          </a:prstGeom>
          <a:no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100">
                <a:solidFill>
                  <a:schemeClr val="bg1"/>
                </a:solidFill>
              </a:rPr>
              <a:t>Well Trained LLM Model</a:t>
            </a:r>
          </a:p>
          <a:p>
            <a:pPr marL="171450" indent="-171450">
              <a:buFont typeface="Arial" panose="020B0604020202020204" pitchFamily="34" charset="0"/>
              <a:buChar char="•"/>
            </a:pPr>
            <a:r>
              <a:rPr lang="en-US" sz="1100">
                <a:solidFill>
                  <a:schemeClr val="bg1"/>
                </a:solidFill>
              </a:rPr>
              <a:t>Fast and Accurate remediation plan</a:t>
            </a:r>
          </a:p>
        </p:txBody>
      </p:sp>
      <p:pic>
        <p:nvPicPr>
          <p:cNvPr id="133" name="Graphic 132" descr="Tools with solid fill">
            <a:extLst>
              <a:ext uri="{FF2B5EF4-FFF2-40B4-BE49-F238E27FC236}">
                <a16:creationId xmlns:a16="http://schemas.microsoft.com/office/drawing/2014/main" id="{94843EAB-7E61-1B94-4A78-3647092AB24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08763" y="4103016"/>
            <a:ext cx="457200" cy="457200"/>
          </a:xfrm>
          <a:prstGeom prst="rect">
            <a:avLst/>
          </a:prstGeom>
        </p:spPr>
      </p:pic>
      <p:pic>
        <p:nvPicPr>
          <p:cNvPr id="135" name="Graphic 134" descr="Gears with solid fill">
            <a:extLst>
              <a:ext uri="{FF2B5EF4-FFF2-40B4-BE49-F238E27FC236}">
                <a16:creationId xmlns:a16="http://schemas.microsoft.com/office/drawing/2014/main" id="{76F7F1E6-B186-89C0-F791-615867EED9E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29134" y="4103016"/>
            <a:ext cx="457200" cy="457200"/>
          </a:xfrm>
          <a:prstGeom prst="rect">
            <a:avLst/>
          </a:prstGeom>
        </p:spPr>
      </p:pic>
      <p:pic>
        <p:nvPicPr>
          <p:cNvPr id="137" name="Graphic 136" descr="Lightbulb and gear with solid fill">
            <a:extLst>
              <a:ext uri="{FF2B5EF4-FFF2-40B4-BE49-F238E27FC236}">
                <a16:creationId xmlns:a16="http://schemas.microsoft.com/office/drawing/2014/main" id="{79ADF789-62EB-DCAB-AA25-06533FF63DA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18949" y="4103016"/>
            <a:ext cx="457200" cy="457200"/>
          </a:xfrm>
          <a:prstGeom prst="rect">
            <a:avLst/>
          </a:prstGeom>
        </p:spPr>
      </p:pic>
      <p:sp>
        <p:nvSpPr>
          <p:cNvPr id="138" name="TextBox 137">
            <a:extLst>
              <a:ext uri="{FF2B5EF4-FFF2-40B4-BE49-F238E27FC236}">
                <a16:creationId xmlns:a16="http://schemas.microsoft.com/office/drawing/2014/main" id="{CA94899A-74A2-A4A1-E488-E3AD63C1F04F}"/>
              </a:ext>
            </a:extLst>
          </p:cNvPr>
          <p:cNvSpPr txBox="1"/>
          <p:nvPr/>
        </p:nvSpPr>
        <p:spPr>
          <a:xfrm>
            <a:off x="8616100" y="4794220"/>
            <a:ext cx="1894787" cy="771623"/>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100">
                <a:solidFill>
                  <a:schemeClr val="bg1"/>
                </a:solidFill>
              </a:rPr>
              <a:t>Diagnostic tools</a:t>
            </a:r>
          </a:p>
          <a:p>
            <a:pPr marL="285750" indent="-285750" algn="l">
              <a:spcBef>
                <a:spcPct val="0"/>
              </a:spcBef>
              <a:buFont typeface="Arial" panose="020B0604020202020204" pitchFamily="34" charset="0"/>
              <a:buChar char="•"/>
            </a:pPr>
            <a:r>
              <a:rPr lang="en-US" sz="1100">
                <a:solidFill>
                  <a:schemeClr val="bg1"/>
                </a:solidFill>
              </a:rPr>
              <a:t>Pre &amp; Post Checks</a:t>
            </a:r>
          </a:p>
          <a:p>
            <a:pPr marL="285750" indent="-285750" algn="l">
              <a:spcBef>
                <a:spcPct val="0"/>
              </a:spcBef>
              <a:buFont typeface="Arial" panose="020B0604020202020204" pitchFamily="34" charset="0"/>
              <a:buChar char="•"/>
            </a:pPr>
            <a:r>
              <a:rPr lang="en-US" sz="1100">
                <a:solidFill>
                  <a:schemeClr val="bg1"/>
                </a:solidFill>
              </a:rPr>
              <a:t>Result Parsers</a:t>
            </a:r>
          </a:p>
          <a:p>
            <a:pPr marL="285750" indent="-285750" algn="l">
              <a:spcBef>
                <a:spcPct val="0"/>
              </a:spcBef>
              <a:buFont typeface="Arial" panose="020B0604020202020204" pitchFamily="34" charset="0"/>
              <a:buChar char="•"/>
            </a:pPr>
            <a:r>
              <a:rPr lang="en-US" sz="1100">
                <a:solidFill>
                  <a:schemeClr val="bg1"/>
                </a:solidFill>
              </a:rPr>
              <a:t>Hardware Tools kits </a:t>
            </a:r>
          </a:p>
        </p:txBody>
      </p:sp>
      <p:sp>
        <p:nvSpPr>
          <p:cNvPr id="139" name="Rectangle: Rounded Corners 138">
            <a:extLst>
              <a:ext uri="{FF2B5EF4-FFF2-40B4-BE49-F238E27FC236}">
                <a16:creationId xmlns:a16="http://schemas.microsoft.com/office/drawing/2014/main" id="{C1B0F4E3-9379-0E30-3282-7A5BD183B7F8}"/>
              </a:ext>
            </a:extLst>
          </p:cNvPr>
          <p:cNvSpPr/>
          <p:nvPr/>
        </p:nvSpPr>
        <p:spPr>
          <a:xfrm>
            <a:off x="8155758" y="895545"/>
            <a:ext cx="3195686" cy="846843"/>
          </a:xfrm>
          <a:prstGeom prst="roundRect">
            <a:avLst/>
          </a:prstGeom>
          <a:noFill/>
          <a:ln w="285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100">
                <a:solidFill>
                  <a:schemeClr val="bg1"/>
                </a:solidFill>
              </a:rPr>
              <a:t>Full blown access to the Tools</a:t>
            </a:r>
          </a:p>
          <a:p>
            <a:pPr marL="171450" indent="-171450">
              <a:buFont typeface="Arial" panose="020B0604020202020204" pitchFamily="34" charset="0"/>
              <a:buChar char="•"/>
            </a:pPr>
            <a:r>
              <a:rPr lang="en-US" sz="1100">
                <a:solidFill>
                  <a:schemeClr val="bg1"/>
                </a:solidFill>
              </a:rPr>
              <a:t>Orchestrate the results </a:t>
            </a:r>
          </a:p>
          <a:p>
            <a:pPr marL="171450" indent="-171450">
              <a:buFont typeface="Arial" panose="020B0604020202020204" pitchFamily="34" charset="0"/>
              <a:buChar char="•"/>
            </a:pPr>
            <a:r>
              <a:rPr lang="en-US" sz="1100">
                <a:solidFill>
                  <a:schemeClr val="bg1"/>
                </a:solidFill>
              </a:rPr>
              <a:t>Provide the feedback to remediator</a:t>
            </a:r>
          </a:p>
        </p:txBody>
      </p:sp>
      <p:sp>
        <p:nvSpPr>
          <p:cNvPr id="146" name="TextBox 145">
            <a:extLst>
              <a:ext uri="{FF2B5EF4-FFF2-40B4-BE49-F238E27FC236}">
                <a16:creationId xmlns:a16="http://schemas.microsoft.com/office/drawing/2014/main" id="{FBDF354E-3CFC-353A-7711-63D63B09007D}"/>
              </a:ext>
            </a:extLst>
          </p:cNvPr>
          <p:cNvSpPr txBox="1"/>
          <p:nvPr/>
        </p:nvSpPr>
        <p:spPr>
          <a:xfrm>
            <a:off x="1979625" y="4345757"/>
            <a:ext cx="1356759" cy="556179"/>
          </a:xfrm>
          <a:prstGeom prst="rect">
            <a:avLst/>
          </a:prstGeom>
          <a:noFill/>
        </p:spPr>
        <p:txBody>
          <a:bodyPr vert="horz" wrap="none" lIns="90000" tIns="46800" rIns="90000" bIns="46800" rtlCol="0" anchor="ctr">
            <a:spAutoFit/>
          </a:bodyPr>
          <a:lstStyle/>
          <a:p>
            <a:pPr marL="171450" indent="-171450" algn="l">
              <a:spcBef>
                <a:spcPct val="0"/>
              </a:spcBef>
              <a:buFont typeface="Arial" panose="020B0604020202020204" pitchFamily="34" charset="0"/>
              <a:buChar char="•"/>
            </a:pPr>
            <a:r>
              <a:rPr lang="en-US" sz="1000">
                <a:solidFill>
                  <a:schemeClr val="bg1"/>
                </a:solidFill>
              </a:rPr>
              <a:t>Normalize </a:t>
            </a:r>
          </a:p>
          <a:p>
            <a:pPr marL="171450" indent="-171450" algn="l">
              <a:spcBef>
                <a:spcPct val="0"/>
              </a:spcBef>
              <a:buFont typeface="Arial" panose="020B0604020202020204" pitchFamily="34" charset="0"/>
              <a:buChar char="•"/>
            </a:pPr>
            <a:r>
              <a:rPr lang="en-US" sz="1000">
                <a:solidFill>
                  <a:schemeClr val="bg1"/>
                </a:solidFill>
              </a:rPr>
              <a:t>Enrich </a:t>
            </a:r>
          </a:p>
          <a:p>
            <a:pPr marL="171450" indent="-171450" algn="l">
              <a:spcBef>
                <a:spcPct val="0"/>
              </a:spcBef>
              <a:buFont typeface="Arial" panose="020B0604020202020204" pitchFamily="34" charset="0"/>
              <a:buChar char="•"/>
            </a:pPr>
            <a:r>
              <a:rPr lang="en-US" sz="1000">
                <a:solidFill>
                  <a:schemeClr val="bg1"/>
                </a:solidFill>
              </a:rPr>
              <a:t>Time‑series store</a:t>
            </a:r>
          </a:p>
        </p:txBody>
      </p:sp>
      <p:sp>
        <p:nvSpPr>
          <p:cNvPr id="154" name="TextBox 153">
            <a:extLst>
              <a:ext uri="{FF2B5EF4-FFF2-40B4-BE49-F238E27FC236}">
                <a16:creationId xmlns:a16="http://schemas.microsoft.com/office/drawing/2014/main" id="{1E91A833-3E63-6218-155F-F67F9C17FD15}"/>
              </a:ext>
            </a:extLst>
          </p:cNvPr>
          <p:cNvSpPr txBox="1"/>
          <p:nvPr/>
        </p:nvSpPr>
        <p:spPr>
          <a:xfrm>
            <a:off x="7032396" y="2014681"/>
            <a:ext cx="1743959" cy="861774"/>
          </a:xfrm>
          <a:prstGeom prst="rect">
            <a:avLst/>
          </a:prstGeom>
          <a:solidFill>
            <a:srgbClr val="272936"/>
          </a:solidFill>
        </p:spPr>
        <p:txBody>
          <a:bodyPr wrap="square">
            <a:spAutoFit/>
          </a:bodyPr>
          <a:lstStyle/>
          <a:p>
            <a:pPr marL="171450" indent="-171450">
              <a:buFont typeface="Arial" panose="020B0604020202020204" pitchFamily="34" charset="0"/>
              <a:buChar char="•"/>
            </a:pPr>
            <a:r>
              <a:rPr lang="en-US" sz="1000">
                <a:solidFill>
                  <a:schemeClr val="bg1"/>
                </a:solidFill>
              </a:rPr>
              <a:t>Retrieval Over Timeline</a:t>
            </a:r>
          </a:p>
          <a:p>
            <a:pPr marL="171450" indent="-171450">
              <a:buFont typeface="Arial" panose="020B0604020202020204" pitchFamily="34" charset="0"/>
              <a:buChar char="•"/>
            </a:pPr>
            <a:r>
              <a:rPr lang="en-US" sz="1000">
                <a:solidFill>
                  <a:schemeClr val="bg1"/>
                </a:solidFill>
              </a:rPr>
              <a:t>Knowledge</a:t>
            </a:r>
            <a:br>
              <a:rPr lang="en-US" sz="1000">
                <a:solidFill>
                  <a:schemeClr val="bg1"/>
                </a:solidFill>
              </a:rPr>
            </a:br>
            <a:r>
              <a:rPr lang="en-US" sz="1000">
                <a:solidFill>
                  <a:schemeClr val="bg1"/>
                </a:solidFill>
              </a:rPr>
              <a:t>Hypotheses </a:t>
            </a:r>
          </a:p>
          <a:p>
            <a:pPr marL="171450" indent="-171450">
              <a:buFont typeface="Arial" panose="020B0604020202020204" pitchFamily="34" charset="0"/>
              <a:buChar char="•"/>
            </a:pPr>
            <a:r>
              <a:rPr lang="en-US" sz="1000">
                <a:solidFill>
                  <a:schemeClr val="bg1"/>
                </a:solidFill>
              </a:rPr>
              <a:t>Triage steps </a:t>
            </a:r>
          </a:p>
          <a:p>
            <a:pPr marL="171450" indent="-171450">
              <a:buFont typeface="Arial" panose="020B0604020202020204" pitchFamily="34" charset="0"/>
              <a:buChar char="•"/>
            </a:pPr>
            <a:r>
              <a:rPr lang="en-US" sz="1000">
                <a:solidFill>
                  <a:schemeClr val="bg1"/>
                </a:solidFill>
              </a:rPr>
              <a:t>Confidence</a:t>
            </a:r>
          </a:p>
        </p:txBody>
      </p:sp>
      <p:sp>
        <p:nvSpPr>
          <p:cNvPr id="155" name="TextBox 154">
            <a:extLst>
              <a:ext uri="{FF2B5EF4-FFF2-40B4-BE49-F238E27FC236}">
                <a16:creationId xmlns:a16="http://schemas.microsoft.com/office/drawing/2014/main" id="{3D3C3A68-4056-AF26-6535-8D043EEDA8DF}"/>
              </a:ext>
            </a:extLst>
          </p:cNvPr>
          <p:cNvSpPr txBox="1"/>
          <p:nvPr/>
        </p:nvSpPr>
        <p:spPr>
          <a:xfrm>
            <a:off x="4383465" y="5600007"/>
            <a:ext cx="1923068" cy="602345"/>
          </a:xfrm>
          <a:prstGeom prst="rect">
            <a:avLst/>
          </a:prstGeom>
          <a:noFill/>
        </p:spPr>
        <p:txBody>
          <a:bodyPr vert="horz" wrap="square" lIns="90000" tIns="46800" rIns="90000" bIns="46800" rtlCol="0" anchor="ctr">
            <a:spAutoFit/>
          </a:bodyPr>
          <a:lstStyle/>
          <a:p>
            <a:pPr marL="171450" indent="-171450" algn="l">
              <a:spcBef>
                <a:spcPct val="0"/>
              </a:spcBef>
              <a:buFont typeface="Arial" panose="020B0604020202020204" pitchFamily="34" charset="0"/>
              <a:buChar char="•"/>
            </a:pPr>
            <a:r>
              <a:rPr lang="en-US" sz="1100">
                <a:solidFill>
                  <a:schemeClr val="bg1"/>
                </a:solidFill>
              </a:rPr>
              <a:t>Per‑product SLM‑RAG </a:t>
            </a:r>
          </a:p>
          <a:p>
            <a:pPr marL="171450" indent="-171450" algn="l">
              <a:spcBef>
                <a:spcPct val="0"/>
              </a:spcBef>
              <a:buFont typeface="Arial" panose="020B0604020202020204" pitchFamily="34" charset="0"/>
              <a:buChar char="•"/>
            </a:pPr>
            <a:r>
              <a:rPr lang="en-US" sz="1100">
                <a:solidFill>
                  <a:schemeClr val="bg1"/>
                </a:solidFill>
              </a:rPr>
              <a:t>Known issues </a:t>
            </a:r>
          </a:p>
          <a:p>
            <a:pPr marL="171450" indent="-171450" algn="l">
              <a:spcBef>
                <a:spcPct val="0"/>
              </a:spcBef>
              <a:buFont typeface="Arial" panose="020B0604020202020204" pitchFamily="34" charset="0"/>
              <a:buChar char="•"/>
            </a:pPr>
            <a:r>
              <a:rPr lang="en-US" sz="1100">
                <a:solidFill>
                  <a:schemeClr val="bg1"/>
                </a:solidFill>
              </a:rPr>
              <a:t>Playbooks</a:t>
            </a:r>
          </a:p>
        </p:txBody>
      </p:sp>
      <p:pic>
        <p:nvPicPr>
          <p:cNvPr id="2" name="Graphic 1" descr="Syncing cloud with solid fill">
            <a:extLst>
              <a:ext uri="{FF2B5EF4-FFF2-40B4-BE49-F238E27FC236}">
                <a16:creationId xmlns:a16="http://schemas.microsoft.com/office/drawing/2014/main" id="{2B1A38DC-E222-9FD1-6E6D-EB86BC77DE7A}"/>
              </a:ext>
            </a:extLst>
          </p:cNvPr>
          <p:cNvPicPr>
            <a:picLocks noChangeAspect="1"/>
          </p:cNvPicPr>
          <p:nvPr/>
        </p:nvPicPr>
        <p:blipFill>
          <a:blip r:embed="rId13">
            <a:extLst>
              <a:ext uri="{96DAC541-7B7A-43D3-8B79-37D633B846F1}">
                <asvg:svgBlip xmlns:asvg="http://schemas.microsoft.com/office/drawing/2016/SVG/main" r:embed="rId14"/>
              </a:ext>
            </a:extLst>
          </a:blip>
          <a:srcRect t="18586" b="14580"/>
          <a:stretch>
            <a:fillRect/>
          </a:stretch>
        </p:blipFill>
        <p:spPr>
          <a:xfrm>
            <a:off x="2356701" y="1627522"/>
            <a:ext cx="547271" cy="365760"/>
          </a:xfrm>
          <a:prstGeom prst="rect">
            <a:avLst/>
          </a:prstGeom>
        </p:spPr>
      </p:pic>
      <p:sp>
        <p:nvSpPr>
          <p:cNvPr id="3" name="Arrow: Right 2">
            <a:extLst>
              <a:ext uri="{FF2B5EF4-FFF2-40B4-BE49-F238E27FC236}">
                <a16:creationId xmlns:a16="http://schemas.microsoft.com/office/drawing/2014/main" id="{486AD1CB-2045-DA1A-FBB7-9177583E2CC7}"/>
              </a:ext>
            </a:extLst>
          </p:cNvPr>
          <p:cNvSpPr/>
          <p:nvPr/>
        </p:nvSpPr>
        <p:spPr>
          <a:xfrm rot="16200000">
            <a:off x="2559379" y="1927782"/>
            <a:ext cx="150828" cy="348792"/>
          </a:xfrm>
          <a:prstGeom prst="rightArrow">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4" name="Graphic 3" descr="Syncing cloud with solid fill">
            <a:extLst>
              <a:ext uri="{FF2B5EF4-FFF2-40B4-BE49-F238E27FC236}">
                <a16:creationId xmlns:a16="http://schemas.microsoft.com/office/drawing/2014/main" id="{6A251692-7D54-67B0-8255-83BE164A14E2}"/>
              </a:ext>
            </a:extLst>
          </p:cNvPr>
          <p:cNvPicPr>
            <a:picLocks noChangeAspect="1"/>
          </p:cNvPicPr>
          <p:nvPr/>
        </p:nvPicPr>
        <p:blipFill>
          <a:blip r:embed="rId13">
            <a:extLst>
              <a:ext uri="{96DAC541-7B7A-43D3-8B79-37D633B846F1}">
                <asvg:svgBlip xmlns:asvg="http://schemas.microsoft.com/office/drawing/2016/SVG/main" r:embed="rId14"/>
              </a:ext>
            </a:extLst>
          </a:blip>
          <a:srcRect t="18586" b="14580"/>
          <a:stretch>
            <a:fillRect/>
          </a:stretch>
        </p:blipFill>
        <p:spPr>
          <a:xfrm>
            <a:off x="5467548" y="1761068"/>
            <a:ext cx="1067316" cy="713324"/>
          </a:xfrm>
          <a:prstGeom prst="rect">
            <a:avLst/>
          </a:prstGeom>
        </p:spPr>
      </p:pic>
      <p:sp>
        <p:nvSpPr>
          <p:cNvPr id="6" name="Arrow: Right 5">
            <a:extLst>
              <a:ext uri="{FF2B5EF4-FFF2-40B4-BE49-F238E27FC236}">
                <a16:creationId xmlns:a16="http://schemas.microsoft.com/office/drawing/2014/main" id="{101AA9F8-2968-6AFC-290C-6765C8EC8DC0}"/>
              </a:ext>
            </a:extLst>
          </p:cNvPr>
          <p:cNvSpPr/>
          <p:nvPr/>
        </p:nvSpPr>
        <p:spPr>
          <a:xfrm rot="16200000">
            <a:off x="5770777" y="2384980"/>
            <a:ext cx="422634" cy="783998"/>
          </a:xfrm>
          <a:prstGeom prst="rightArrow">
            <a:avLst/>
          </a:prstGeom>
          <a:solidFill>
            <a:srgbClr val="A6A6A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TextBox 6">
            <a:extLst>
              <a:ext uri="{FF2B5EF4-FFF2-40B4-BE49-F238E27FC236}">
                <a16:creationId xmlns:a16="http://schemas.microsoft.com/office/drawing/2014/main" id="{E6DDA809-C4D5-5ED5-CFCD-2D313676FE84}"/>
              </a:ext>
            </a:extLst>
          </p:cNvPr>
          <p:cNvSpPr txBox="1"/>
          <p:nvPr/>
        </p:nvSpPr>
        <p:spPr>
          <a:xfrm>
            <a:off x="2774622" y="2244607"/>
            <a:ext cx="1109221" cy="579262"/>
          </a:xfrm>
          <a:prstGeom prst="rect">
            <a:avLst/>
          </a:prstGeom>
          <a:noFill/>
        </p:spPr>
        <p:txBody>
          <a:bodyPr vert="horz" wrap="square" lIns="90000" tIns="46800" rIns="90000" bIns="46800" rtlCol="0" anchor="ctr">
            <a:spAutoFit/>
          </a:bodyPr>
          <a:lstStyle/>
          <a:p>
            <a:pPr algn="ctr">
              <a:spcBef>
                <a:spcPct val="0"/>
              </a:spcBef>
            </a:pPr>
            <a:r>
              <a:rPr lang="en-US" sz="1050" dirty="0">
                <a:solidFill>
                  <a:schemeClr val="bg1"/>
                </a:solidFill>
              </a:rPr>
              <a:t>Power Doctor Scripts with SLM</a:t>
            </a:r>
          </a:p>
        </p:txBody>
      </p:sp>
    </p:spTree>
    <p:extLst>
      <p:ext uri="{BB962C8B-B14F-4D97-AF65-F5344CB8AC3E}">
        <p14:creationId xmlns:p14="http://schemas.microsoft.com/office/powerpoint/2010/main" val="109502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9942-86A7-828C-963F-6E57C16A947E}"/>
              </a:ext>
            </a:extLst>
          </p:cNvPr>
          <p:cNvSpPr>
            <a:spLocks noGrp="1"/>
          </p:cNvSpPr>
          <p:nvPr>
            <p:ph type="title"/>
          </p:nvPr>
        </p:nvSpPr>
        <p:spPr>
          <a:xfrm>
            <a:off x="414971" y="260351"/>
            <a:ext cx="11008413" cy="425450"/>
          </a:xfrm>
        </p:spPr>
        <p:txBody>
          <a:bodyPr/>
          <a:lstStyle/>
          <a:p>
            <a:r>
              <a:rPr lang="en-US" dirty="0"/>
              <a:t>Solution Strategy ( 1 of 2)</a:t>
            </a:r>
          </a:p>
        </p:txBody>
      </p:sp>
      <p:sp>
        <p:nvSpPr>
          <p:cNvPr id="7" name="TextBox 6">
            <a:extLst>
              <a:ext uri="{FF2B5EF4-FFF2-40B4-BE49-F238E27FC236}">
                <a16:creationId xmlns:a16="http://schemas.microsoft.com/office/drawing/2014/main" id="{85E67A8D-7C2F-C327-7335-9AB447EA17F7}"/>
              </a:ext>
            </a:extLst>
          </p:cNvPr>
          <p:cNvSpPr txBox="1"/>
          <p:nvPr/>
        </p:nvSpPr>
        <p:spPr>
          <a:xfrm>
            <a:off x="378691" y="702935"/>
            <a:ext cx="11674764" cy="3110724"/>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Model Management and  Workload Orchestration Agent</a:t>
            </a:r>
          </a:p>
          <a:p>
            <a:pPr marL="342900" indent="-342900">
              <a:spcBef>
                <a:spcPct val="0"/>
              </a:spcBef>
              <a:buAutoNum type="arabicPeriod"/>
            </a:pPr>
            <a:r>
              <a:rPr lang="en-US" sz="1200" dirty="0">
                <a:solidFill>
                  <a:schemeClr val="bg1"/>
                </a:solidFill>
              </a:rPr>
              <a:t>Monitor the performance of Individual Agent </a:t>
            </a:r>
          </a:p>
          <a:p>
            <a:pPr marL="342900" indent="-342900">
              <a:spcBef>
                <a:spcPct val="0"/>
              </a:spcBef>
              <a:buAutoNum type="arabicPeriod"/>
            </a:pPr>
            <a:r>
              <a:rPr lang="en-US" sz="1200" dirty="0">
                <a:solidFill>
                  <a:schemeClr val="bg1"/>
                </a:solidFill>
              </a:rPr>
              <a:t>Agent will select the best model (SLM or ML) for the anomaly detection or predictive  maintenance based on monitored performance </a:t>
            </a:r>
          </a:p>
          <a:p>
            <a:pPr marL="342900" indent="-342900">
              <a:spcBef>
                <a:spcPct val="0"/>
              </a:spcBef>
              <a:buAutoNum type="arabicPeriod"/>
            </a:pPr>
            <a:r>
              <a:rPr lang="en-US" sz="1200" dirty="0">
                <a:solidFill>
                  <a:schemeClr val="bg1"/>
                </a:solidFill>
              </a:rPr>
              <a:t>Responsible for model life cycle management, it will orchestrate the movement of agents between silicon or edge device per resource threshold</a:t>
            </a:r>
          </a:p>
          <a:p>
            <a:pPr marL="342900" indent="-342900">
              <a:spcBef>
                <a:spcPct val="0"/>
              </a:spcBef>
              <a:buAutoNum type="arabicPeriod"/>
            </a:pPr>
            <a:r>
              <a:rPr lang="en-US" sz="1200" dirty="0">
                <a:solidFill>
                  <a:schemeClr val="bg1"/>
                </a:solidFill>
              </a:rPr>
              <a:t>Manage lifecycle for Master SLM triggering load/unload of the SLM based on activity </a:t>
            </a:r>
          </a:p>
          <a:p>
            <a:pPr marL="342900" indent="-342900">
              <a:spcBef>
                <a:spcPct val="0"/>
              </a:spcBef>
              <a:buFontTx/>
              <a:buAutoNum type="arabicPeriod"/>
            </a:pPr>
            <a:r>
              <a:rPr lang="en-US" sz="1200" dirty="0">
                <a:solidFill>
                  <a:schemeClr val="bg1"/>
                </a:solidFill>
              </a:rPr>
              <a:t>Overload objective for the agent to provide feedback loop</a:t>
            </a:r>
          </a:p>
          <a:p>
            <a:pPr marL="800100" lvl="1" indent="-342900">
              <a:spcBef>
                <a:spcPct val="0"/>
              </a:spcBef>
              <a:buAutoNum type="arabicPeriod"/>
            </a:pPr>
            <a:r>
              <a:rPr lang="en-US" sz="1200" dirty="0">
                <a:solidFill>
                  <a:schemeClr val="bg1"/>
                </a:solidFill>
              </a:rPr>
              <a:t>Once the issue is detected the Detect agent will make entry into DB and trigger diagnosis agent </a:t>
            </a:r>
          </a:p>
          <a:p>
            <a:pPr marL="800100" lvl="1" indent="-342900">
              <a:spcBef>
                <a:spcPct val="0"/>
              </a:spcBef>
              <a:buAutoNum type="arabicPeriod"/>
            </a:pPr>
            <a:r>
              <a:rPr lang="en-US" sz="1200" dirty="0">
                <a:solidFill>
                  <a:schemeClr val="bg1"/>
                </a:solidFill>
              </a:rPr>
              <a:t>Diagnosis agent will read the entry get all information and produce the diagnosis, make the entry back to monitoring DB</a:t>
            </a:r>
          </a:p>
          <a:p>
            <a:pPr marL="800100" lvl="1" indent="-342900">
              <a:spcBef>
                <a:spcPct val="0"/>
              </a:spcBef>
              <a:buAutoNum type="arabicPeriod"/>
            </a:pPr>
            <a:r>
              <a:rPr lang="en-US" sz="1200" dirty="0">
                <a:solidFill>
                  <a:schemeClr val="bg1"/>
                </a:solidFill>
              </a:rPr>
              <a:t>Trigger Remediation Agent – Which reads the diagnosis and executes the remediation </a:t>
            </a:r>
          </a:p>
          <a:p>
            <a:pPr marL="800100" lvl="1" indent="-342900">
              <a:spcBef>
                <a:spcPct val="0"/>
              </a:spcBef>
              <a:buAutoNum type="arabicPeriod"/>
            </a:pPr>
            <a:r>
              <a:rPr lang="en-US" sz="1200" dirty="0">
                <a:solidFill>
                  <a:schemeClr val="bg1"/>
                </a:solidFill>
              </a:rPr>
              <a:t>Submit the remediation output back to monitoring DB</a:t>
            </a:r>
          </a:p>
          <a:p>
            <a:pPr marL="800100" lvl="1" indent="-342900">
              <a:spcBef>
                <a:spcPct val="0"/>
              </a:spcBef>
              <a:buAutoNum type="arabicPeriod"/>
            </a:pPr>
            <a:r>
              <a:rPr lang="en-US" sz="1200" dirty="0">
                <a:solidFill>
                  <a:schemeClr val="bg1"/>
                </a:solidFill>
              </a:rPr>
              <a:t>Here the agent will look at all data provided by all agents along with recent telemetry data to determine if issue resolved </a:t>
            </a:r>
          </a:p>
          <a:p>
            <a:pPr marL="1714500" lvl="3" indent="-342900">
              <a:spcBef>
                <a:spcPct val="0"/>
              </a:spcBef>
              <a:buAutoNum type="arabicPeriod"/>
            </a:pPr>
            <a:r>
              <a:rPr lang="en-US" sz="1200" dirty="0">
                <a:solidFill>
                  <a:schemeClr val="bg1"/>
                </a:solidFill>
              </a:rPr>
              <a:t>If yes, then it is marked as closed </a:t>
            </a:r>
          </a:p>
          <a:p>
            <a:pPr marL="1714500" lvl="3" indent="-342900">
              <a:spcBef>
                <a:spcPct val="0"/>
              </a:spcBef>
              <a:buAutoNum type="arabicPeriod"/>
            </a:pPr>
            <a:r>
              <a:rPr lang="en-US" sz="1200" dirty="0">
                <a:solidFill>
                  <a:schemeClr val="bg1"/>
                </a:solidFill>
              </a:rPr>
              <a:t>If no provides the information back to diagnosis agent to look at fresh telemetry </a:t>
            </a:r>
          </a:p>
          <a:p>
            <a:pPr marL="1714500" lvl="3" indent="-342900">
              <a:spcBef>
                <a:spcPct val="0"/>
              </a:spcBef>
              <a:buAutoNum type="arabicPeriod"/>
            </a:pPr>
            <a:r>
              <a:rPr lang="en-US" sz="1200" dirty="0">
                <a:solidFill>
                  <a:schemeClr val="bg1"/>
                </a:solidFill>
              </a:rPr>
              <a:t>This will continue in multiple iterations if remediation are not working e.g. after 5 iteration it will mark issue as resolvable and hand it over to Human Agent </a:t>
            </a:r>
          </a:p>
          <a:p>
            <a:pPr marL="342900" indent="-342900">
              <a:spcBef>
                <a:spcPct val="0"/>
              </a:spcBef>
              <a:buAutoNum type="arabicPeriod"/>
            </a:pPr>
            <a:r>
              <a:rPr lang="en-US" sz="1200" dirty="0">
                <a:solidFill>
                  <a:schemeClr val="bg1"/>
                </a:solidFill>
              </a:rPr>
              <a:t>The monitoring DB can act a training set for next agent training</a:t>
            </a:r>
          </a:p>
        </p:txBody>
      </p:sp>
      <p:sp>
        <p:nvSpPr>
          <p:cNvPr id="8" name="TextBox 7">
            <a:extLst>
              <a:ext uri="{FF2B5EF4-FFF2-40B4-BE49-F238E27FC236}">
                <a16:creationId xmlns:a16="http://schemas.microsoft.com/office/drawing/2014/main" id="{6C554122-65E5-4F77-8E40-EA35F839DBCE}"/>
              </a:ext>
            </a:extLst>
          </p:cNvPr>
          <p:cNvSpPr txBox="1"/>
          <p:nvPr/>
        </p:nvSpPr>
        <p:spPr>
          <a:xfrm>
            <a:off x="318654" y="3921565"/>
            <a:ext cx="11550072" cy="1633397"/>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SLMs</a:t>
            </a:r>
          </a:p>
          <a:p>
            <a:pPr marL="342900" indent="-342900" algn="l">
              <a:spcBef>
                <a:spcPct val="0"/>
              </a:spcBef>
              <a:buAutoNum type="arabicPeriod"/>
            </a:pPr>
            <a:r>
              <a:rPr lang="en-US" sz="1200" dirty="0">
                <a:solidFill>
                  <a:schemeClr val="bg1"/>
                </a:solidFill>
              </a:rPr>
              <a:t>Expert Models will be installed in two variants ML based Statistical Models and SLMs</a:t>
            </a:r>
          </a:p>
          <a:p>
            <a:pPr marL="342900" indent="-342900" algn="l">
              <a:spcBef>
                <a:spcPct val="0"/>
              </a:spcBef>
              <a:buAutoNum type="arabicPeriod"/>
            </a:pPr>
            <a:r>
              <a:rPr lang="en-US" sz="1200" dirty="0">
                <a:solidFill>
                  <a:schemeClr val="bg1"/>
                </a:solidFill>
              </a:rPr>
              <a:t>ML Statistical Models will be deployed first during initialization</a:t>
            </a:r>
          </a:p>
          <a:p>
            <a:pPr marL="342900" indent="-342900" algn="l">
              <a:spcBef>
                <a:spcPct val="0"/>
              </a:spcBef>
              <a:buAutoNum type="arabicPeriod"/>
            </a:pPr>
            <a:r>
              <a:rPr lang="en-US" sz="1200" dirty="0">
                <a:solidFill>
                  <a:schemeClr val="bg1"/>
                </a:solidFill>
              </a:rPr>
              <a:t>ML Statistical Models for Detect to save memory footprints (These models will be always running in background for real time events and for batch events it will be loaded on demand)</a:t>
            </a:r>
          </a:p>
          <a:p>
            <a:pPr marL="342900" indent="-342900" algn="l">
              <a:spcBef>
                <a:spcPct val="0"/>
              </a:spcBef>
              <a:buAutoNum type="arabicPeriod"/>
            </a:pPr>
            <a:r>
              <a:rPr lang="en-US" sz="1200" dirty="0">
                <a:solidFill>
                  <a:schemeClr val="bg1"/>
                </a:solidFill>
              </a:rPr>
              <a:t>Monitoring Agents will monitor the performance of ML Statistical models if needed they can be switched with SLMs</a:t>
            </a:r>
          </a:p>
          <a:p>
            <a:pPr marL="342900" indent="-342900" algn="l">
              <a:spcBef>
                <a:spcPct val="0"/>
              </a:spcBef>
              <a:buAutoNum type="arabicPeriod"/>
            </a:pPr>
            <a:r>
              <a:rPr lang="en-US" sz="1200" dirty="0">
                <a:solidFill>
                  <a:schemeClr val="bg1"/>
                </a:solidFill>
              </a:rPr>
              <a:t>To keep the runtime footprint minimal Expert Models will be running continuously however Master SLM will be loaded when detection agent has output.  Based on the trigger it will be loaded</a:t>
            </a:r>
          </a:p>
        </p:txBody>
      </p:sp>
      <p:sp>
        <p:nvSpPr>
          <p:cNvPr id="9" name="TextBox 8">
            <a:extLst>
              <a:ext uri="{FF2B5EF4-FFF2-40B4-BE49-F238E27FC236}">
                <a16:creationId xmlns:a16="http://schemas.microsoft.com/office/drawing/2014/main" id="{6F9D7D78-9A69-B48C-4458-00BCE75BB9CB}"/>
              </a:ext>
            </a:extLst>
          </p:cNvPr>
          <p:cNvSpPr txBox="1"/>
          <p:nvPr/>
        </p:nvSpPr>
        <p:spPr>
          <a:xfrm>
            <a:off x="295563" y="5588601"/>
            <a:ext cx="11550072" cy="894733"/>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Deployment</a:t>
            </a:r>
          </a:p>
          <a:p>
            <a:pPr marL="342900" indent="-342900" algn="l">
              <a:spcBef>
                <a:spcPct val="0"/>
              </a:spcBef>
              <a:buAutoNum type="arabicPeriod"/>
            </a:pPr>
            <a:r>
              <a:rPr lang="en-US" sz="1200" dirty="0">
                <a:solidFill>
                  <a:schemeClr val="bg1"/>
                </a:solidFill>
              </a:rPr>
              <a:t>All agent communication will be JSON Based and over HTTP</a:t>
            </a:r>
          </a:p>
          <a:p>
            <a:pPr marL="342900" indent="-342900" algn="l">
              <a:spcBef>
                <a:spcPct val="0"/>
              </a:spcBef>
              <a:buAutoNum type="arabicPeriod"/>
            </a:pPr>
            <a:r>
              <a:rPr lang="en-US" sz="1200" dirty="0">
                <a:solidFill>
                  <a:schemeClr val="bg1"/>
                </a:solidFill>
              </a:rPr>
              <a:t>This will make transition from On the box to out of box seamless </a:t>
            </a:r>
          </a:p>
          <a:p>
            <a:pPr marL="342900" indent="-342900" algn="l">
              <a:spcBef>
                <a:spcPct val="0"/>
              </a:spcBef>
              <a:buAutoNum type="arabicPeriod"/>
            </a:pPr>
            <a:r>
              <a:rPr lang="en-US" sz="1200" dirty="0">
                <a:solidFill>
                  <a:schemeClr val="bg1"/>
                </a:solidFill>
              </a:rPr>
              <a:t>Every Agent can be deployed as containerized service for ISG like deployments</a:t>
            </a:r>
          </a:p>
        </p:txBody>
      </p:sp>
    </p:spTree>
    <p:extLst>
      <p:ext uri="{BB962C8B-B14F-4D97-AF65-F5344CB8AC3E}">
        <p14:creationId xmlns:p14="http://schemas.microsoft.com/office/powerpoint/2010/main" val="3938935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3398-E9B1-54E6-CA3D-8B748ACA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C4C2C-1A25-CEE0-A625-8433567958FF}"/>
              </a:ext>
            </a:extLst>
          </p:cNvPr>
          <p:cNvSpPr>
            <a:spLocks noGrp="1"/>
          </p:cNvSpPr>
          <p:nvPr>
            <p:ph type="title"/>
          </p:nvPr>
        </p:nvSpPr>
        <p:spPr>
          <a:xfrm>
            <a:off x="414971" y="260351"/>
            <a:ext cx="11008413" cy="425450"/>
          </a:xfrm>
        </p:spPr>
        <p:txBody>
          <a:bodyPr/>
          <a:lstStyle/>
          <a:p>
            <a:r>
              <a:rPr lang="en-US" dirty="0"/>
              <a:t>Solution Strategy ( 2 of 2)</a:t>
            </a:r>
          </a:p>
        </p:txBody>
      </p:sp>
      <p:sp>
        <p:nvSpPr>
          <p:cNvPr id="7" name="TextBox 6">
            <a:extLst>
              <a:ext uri="{FF2B5EF4-FFF2-40B4-BE49-F238E27FC236}">
                <a16:creationId xmlns:a16="http://schemas.microsoft.com/office/drawing/2014/main" id="{18C96D82-ED1A-3B28-059F-B319AF597124}"/>
              </a:ext>
            </a:extLst>
          </p:cNvPr>
          <p:cNvSpPr txBox="1"/>
          <p:nvPr/>
        </p:nvSpPr>
        <p:spPr>
          <a:xfrm>
            <a:off x="414971" y="970074"/>
            <a:ext cx="11674764" cy="1494897"/>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Model Fine Tuning Strategy</a:t>
            </a:r>
          </a:p>
          <a:p>
            <a:pPr marL="285750" lvl="0" indent="-285750">
              <a:buFont typeface="Arial" panose="020B0604020202020204" pitchFamily="34" charset="0"/>
              <a:buChar char="•"/>
            </a:pPr>
            <a:r>
              <a:rPr lang="en-US" sz="1500" dirty="0">
                <a:solidFill>
                  <a:schemeClr val="bg1"/>
                </a:solidFill>
              </a:rPr>
              <a:t>Fine-tuning will typically be performed monthly once significant new telemetry data is collected and if model performance is not up to the baseline values</a:t>
            </a:r>
          </a:p>
          <a:p>
            <a:pPr marL="285750" indent="-285750">
              <a:buFont typeface="Arial" panose="020B0604020202020204" pitchFamily="34" charset="0"/>
              <a:buChar char="•"/>
            </a:pPr>
            <a:r>
              <a:rPr lang="en-US" sz="1500" dirty="0">
                <a:solidFill>
                  <a:schemeClr val="bg1"/>
                </a:solidFill>
              </a:rPr>
              <a:t>Monitoring DB in orchestration agent will serve as a feedback loop and source of truth for model performance evaluation.</a:t>
            </a:r>
          </a:p>
          <a:p>
            <a:pPr marL="285750" lvl="0" indent="-285750">
              <a:buFont typeface="Arial" panose="020B0604020202020204" pitchFamily="34" charset="0"/>
              <a:buChar char="•"/>
            </a:pPr>
            <a:r>
              <a:rPr lang="en-US" sz="1500" dirty="0">
                <a:solidFill>
                  <a:schemeClr val="bg1"/>
                </a:solidFill>
              </a:rPr>
              <a:t>Human feedback loop is essential with the historical model output stored in orchestration agent. Human insight is fed to model fine tuning.</a:t>
            </a:r>
          </a:p>
        </p:txBody>
      </p:sp>
      <p:sp>
        <p:nvSpPr>
          <p:cNvPr id="3" name="TextBox 2">
            <a:extLst>
              <a:ext uri="{FF2B5EF4-FFF2-40B4-BE49-F238E27FC236}">
                <a16:creationId xmlns:a16="http://schemas.microsoft.com/office/drawing/2014/main" id="{B6B39FD8-A1F9-02D9-813A-465ACC5C1B3A}"/>
              </a:ext>
            </a:extLst>
          </p:cNvPr>
          <p:cNvSpPr txBox="1"/>
          <p:nvPr/>
        </p:nvSpPr>
        <p:spPr>
          <a:xfrm>
            <a:off x="414971" y="2569612"/>
            <a:ext cx="11674764" cy="1048621"/>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Explainability</a:t>
            </a:r>
          </a:p>
          <a:p>
            <a:pPr marL="285750" lvl="0" indent="-285750">
              <a:buFont typeface="Arial" panose="020B0604020202020204" pitchFamily="34" charset="0"/>
              <a:buChar char="•"/>
            </a:pPr>
            <a:r>
              <a:rPr lang="en-US" sz="1500" dirty="0">
                <a:solidFill>
                  <a:schemeClr val="bg1"/>
                </a:solidFill>
              </a:rPr>
              <a:t>Orchestration agent tracks the output at every stage of pipeline (detect, diagnosis and remediation) that offers an end-to-end view for model’s actions and input that caused it.</a:t>
            </a:r>
          </a:p>
          <a:p>
            <a:pPr algn="l">
              <a:spcBef>
                <a:spcPct val="0"/>
              </a:spcBef>
            </a:pPr>
            <a:endParaRPr lang="en-US" sz="1600" b="1" dirty="0">
              <a:solidFill>
                <a:schemeClr val="bg1"/>
              </a:solidFill>
            </a:endParaRPr>
          </a:p>
        </p:txBody>
      </p:sp>
      <p:sp>
        <p:nvSpPr>
          <p:cNvPr id="4" name="TextBox 3">
            <a:extLst>
              <a:ext uri="{FF2B5EF4-FFF2-40B4-BE49-F238E27FC236}">
                <a16:creationId xmlns:a16="http://schemas.microsoft.com/office/drawing/2014/main" id="{04C5CE39-1CEC-9404-A26A-E5479988ADFC}"/>
              </a:ext>
            </a:extLst>
          </p:cNvPr>
          <p:cNvSpPr txBox="1"/>
          <p:nvPr/>
        </p:nvSpPr>
        <p:spPr>
          <a:xfrm>
            <a:off x="414971" y="3659832"/>
            <a:ext cx="11674764" cy="1279454"/>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Master SLM Considerations</a:t>
            </a:r>
          </a:p>
          <a:p>
            <a:pPr marL="285750" lvl="0" indent="-285750">
              <a:buFont typeface="Arial" panose="020B0604020202020204" pitchFamily="34" charset="0"/>
              <a:buChar char="•"/>
            </a:pPr>
            <a:r>
              <a:rPr lang="en-US" sz="1500" dirty="0">
                <a:solidFill>
                  <a:schemeClr val="bg1"/>
                </a:solidFill>
              </a:rPr>
              <a:t>Master SLM must support reasoning and function calling. The approach is to use a foundational SLM and specific </a:t>
            </a:r>
            <a:r>
              <a:rPr lang="en-US" sz="1500" dirty="0" err="1">
                <a:solidFill>
                  <a:schemeClr val="bg1"/>
                </a:solidFill>
              </a:rPr>
              <a:t>LoRA</a:t>
            </a:r>
            <a:r>
              <a:rPr lang="en-US" sz="1500" dirty="0">
                <a:solidFill>
                  <a:schemeClr val="bg1"/>
                </a:solidFill>
              </a:rPr>
              <a:t> adapters for reasoning and function calling.</a:t>
            </a:r>
          </a:p>
          <a:p>
            <a:pPr marL="285750" lvl="0" indent="-285750">
              <a:buFont typeface="Arial" panose="020B0604020202020204" pitchFamily="34" charset="0"/>
              <a:buChar char="•"/>
            </a:pPr>
            <a:r>
              <a:rPr lang="en-US" sz="1500" dirty="0">
                <a:solidFill>
                  <a:schemeClr val="bg1"/>
                </a:solidFill>
              </a:rPr>
              <a:t>Optimization with quantization, runtime compatibility, model size (layers)</a:t>
            </a:r>
          </a:p>
          <a:p>
            <a:pPr algn="l">
              <a:spcBef>
                <a:spcPct val="0"/>
              </a:spcBef>
            </a:pPr>
            <a:endParaRPr lang="en-US" sz="1600" b="1" dirty="0">
              <a:solidFill>
                <a:schemeClr val="bg1"/>
              </a:solidFill>
            </a:endParaRPr>
          </a:p>
        </p:txBody>
      </p:sp>
      <p:sp>
        <p:nvSpPr>
          <p:cNvPr id="5" name="TextBox 4">
            <a:extLst>
              <a:ext uri="{FF2B5EF4-FFF2-40B4-BE49-F238E27FC236}">
                <a16:creationId xmlns:a16="http://schemas.microsoft.com/office/drawing/2014/main" id="{CFD346F1-F4C5-199A-D4E2-48C4B399FD51}"/>
              </a:ext>
            </a:extLst>
          </p:cNvPr>
          <p:cNvSpPr txBox="1"/>
          <p:nvPr/>
        </p:nvSpPr>
        <p:spPr>
          <a:xfrm>
            <a:off x="517236" y="4939286"/>
            <a:ext cx="11674764" cy="1279454"/>
          </a:xfrm>
          <a:prstGeom prst="rect">
            <a:avLst/>
          </a:prstGeom>
          <a:noFill/>
        </p:spPr>
        <p:txBody>
          <a:bodyPr vert="horz" wrap="square" lIns="90000" tIns="46800" rIns="90000" bIns="46800" rtlCol="0" anchor="ctr">
            <a:spAutoFit/>
          </a:bodyPr>
          <a:lstStyle/>
          <a:p>
            <a:pPr algn="l">
              <a:spcBef>
                <a:spcPct val="0"/>
              </a:spcBef>
            </a:pPr>
            <a:r>
              <a:rPr lang="en-US" sz="1600" b="1" dirty="0">
                <a:solidFill>
                  <a:schemeClr val="bg1"/>
                </a:solidFill>
              </a:rPr>
              <a:t>Telemetry Data Ingestion</a:t>
            </a:r>
          </a:p>
          <a:p>
            <a:pPr marL="285750" lvl="0" indent="-285750">
              <a:buFont typeface="Arial" panose="020B0604020202020204" pitchFamily="34" charset="0"/>
              <a:buChar char="•"/>
            </a:pPr>
            <a:r>
              <a:rPr lang="en-US" sz="1500" dirty="0">
                <a:solidFill>
                  <a:schemeClr val="bg1"/>
                </a:solidFill>
              </a:rPr>
              <a:t>Integration with Dell Telemetry Manager (DTM) for events and insights</a:t>
            </a:r>
          </a:p>
          <a:p>
            <a:pPr marL="285750" lvl="0" indent="-285750">
              <a:buFont typeface="Arial" panose="020B0604020202020204" pitchFamily="34" charset="0"/>
              <a:buChar char="•"/>
            </a:pPr>
            <a:r>
              <a:rPr lang="en-US" sz="1500" dirty="0">
                <a:solidFill>
                  <a:schemeClr val="bg1"/>
                </a:solidFill>
              </a:rPr>
              <a:t>Support for near-real time processing for anomaly detection with micro-batches approach (event window size of 1-5 min)</a:t>
            </a:r>
          </a:p>
          <a:p>
            <a:pPr marL="285750" lvl="0" indent="-285750">
              <a:buFont typeface="Arial" panose="020B0604020202020204" pitchFamily="34" charset="0"/>
              <a:buChar char="•"/>
            </a:pPr>
            <a:r>
              <a:rPr lang="en-US" sz="1500" dirty="0">
                <a:solidFill>
                  <a:schemeClr val="bg1"/>
                </a:solidFill>
              </a:rPr>
              <a:t>Interface with DTM like cache or </a:t>
            </a:r>
            <a:r>
              <a:rPr lang="en-US" sz="1500" dirty="0" err="1">
                <a:solidFill>
                  <a:schemeClr val="bg1"/>
                </a:solidFill>
              </a:rPr>
              <a:t>protobuf</a:t>
            </a:r>
            <a:r>
              <a:rPr lang="en-US" sz="1500" dirty="0">
                <a:solidFill>
                  <a:schemeClr val="bg1"/>
                </a:solidFill>
              </a:rPr>
              <a:t> to be defined </a:t>
            </a:r>
          </a:p>
          <a:p>
            <a:pPr algn="l">
              <a:spcBef>
                <a:spcPct val="0"/>
              </a:spcBef>
            </a:pPr>
            <a:endParaRPr lang="en-US" sz="1600" b="1" dirty="0">
              <a:solidFill>
                <a:schemeClr val="bg1"/>
              </a:solidFill>
            </a:endParaRPr>
          </a:p>
        </p:txBody>
      </p:sp>
    </p:spTree>
    <p:extLst>
      <p:ext uri="{BB962C8B-B14F-4D97-AF65-F5344CB8AC3E}">
        <p14:creationId xmlns:p14="http://schemas.microsoft.com/office/powerpoint/2010/main" val="3353492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0425-D53C-0702-E42B-87751C83D6D4}"/>
              </a:ext>
            </a:extLst>
          </p:cNvPr>
          <p:cNvSpPr>
            <a:spLocks noGrp="1"/>
          </p:cNvSpPr>
          <p:nvPr>
            <p:ph type="title"/>
          </p:nvPr>
        </p:nvSpPr>
        <p:spPr/>
        <p:txBody>
          <a:bodyPr/>
          <a:lstStyle/>
          <a:p>
            <a:r>
              <a:rPr lang="en-US" dirty="0"/>
              <a:t>Model Fine Tune Strategy - Detailed</a:t>
            </a:r>
          </a:p>
        </p:txBody>
      </p:sp>
      <p:sp>
        <p:nvSpPr>
          <p:cNvPr id="3" name="Rectangle: Rounded Corners 2">
            <a:extLst>
              <a:ext uri="{FF2B5EF4-FFF2-40B4-BE49-F238E27FC236}">
                <a16:creationId xmlns:a16="http://schemas.microsoft.com/office/drawing/2014/main" id="{6BAA7731-EE05-7740-E77B-858422486BF9}"/>
              </a:ext>
            </a:extLst>
          </p:cNvPr>
          <p:cNvSpPr/>
          <p:nvPr/>
        </p:nvSpPr>
        <p:spPr>
          <a:xfrm>
            <a:off x="1023554" y="1359237"/>
            <a:ext cx="2423986"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Download Expert SLM from Hugging Face</a:t>
            </a:r>
          </a:p>
        </p:txBody>
      </p:sp>
      <p:sp>
        <p:nvSpPr>
          <p:cNvPr id="4" name="Rectangle: Rounded Corners 3">
            <a:extLst>
              <a:ext uri="{FF2B5EF4-FFF2-40B4-BE49-F238E27FC236}">
                <a16:creationId xmlns:a16="http://schemas.microsoft.com/office/drawing/2014/main" id="{3132CC2D-5448-29D7-CB5D-40C58C5C964D}"/>
              </a:ext>
            </a:extLst>
          </p:cNvPr>
          <p:cNvSpPr/>
          <p:nvPr/>
        </p:nvSpPr>
        <p:spPr>
          <a:xfrm>
            <a:off x="3659652" y="1371593"/>
            <a:ext cx="2423986"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Download Generic Master SLM from Hugging Face</a:t>
            </a:r>
          </a:p>
        </p:txBody>
      </p:sp>
      <p:sp>
        <p:nvSpPr>
          <p:cNvPr id="5" name="Rectangle: Rounded Corners 4">
            <a:extLst>
              <a:ext uri="{FF2B5EF4-FFF2-40B4-BE49-F238E27FC236}">
                <a16:creationId xmlns:a16="http://schemas.microsoft.com/office/drawing/2014/main" id="{7EAE9E09-E30E-A746-6150-67C1BB37A99B}"/>
              </a:ext>
            </a:extLst>
          </p:cNvPr>
          <p:cNvSpPr/>
          <p:nvPr/>
        </p:nvSpPr>
        <p:spPr>
          <a:xfrm>
            <a:off x="1023551" y="2341596"/>
            <a:ext cx="2423987"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Fine tune on curated data from DTM and Monitoring DB</a:t>
            </a:r>
          </a:p>
        </p:txBody>
      </p:sp>
      <p:sp>
        <p:nvSpPr>
          <p:cNvPr id="6" name="Rectangle: Rounded Corners 5">
            <a:extLst>
              <a:ext uri="{FF2B5EF4-FFF2-40B4-BE49-F238E27FC236}">
                <a16:creationId xmlns:a16="http://schemas.microsoft.com/office/drawing/2014/main" id="{DFBA08D6-B8BB-242A-353C-7CB67D170ED5}"/>
              </a:ext>
            </a:extLst>
          </p:cNvPr>
          <p:cNvSpPr/>
          <p:nvPr/>
        </p:nvSpPr>
        <p:spPr>
          <a:xfrm>
            <a:off x="3659650" y="2341595"/>
            <a:ext cx="2423987"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Fine tune on curated data for reasoning and function calling</a:t>
            </a:r>
          </a:p>
        </p:txBody>
      </p:sp>
      <p:cxnSp>
        <p:nvCxnSpPr>
          <p:cNvPr id="8" name="Straight Arrow Connector 7">
            <a:extLst>
              <a:ext uri="{FF2B5EF4-FFF2-40B4-BE49-F238E27FC236}">
                <a16:creationId xmlns:a16="http://schemas.microsoft.com/office/drawing/2014/main" id="{B5FAC654-0D08-21CE-027E-E3AAA3F1A2D3}"/>
              </a:ext>
            </a:extLst>
          </p:cNvPr>
          <p:cNvCxnSpPr>
            <a:cxnSpLocks/>
            <a:stCxn id="3" idx="2"/>
            <a:endCxn id="5" idx="0"/>
          </p:cNvCxnSpPr>
          <p:nvPr/>
        </p:nvCxnSpPr>
        <p:spPr>
          <a:xfrm flipH="1">
            <a:off x="2235545" y="2026502"/>
            <a:ext cx="2" cy="315094"/>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F5988C1-8213-0C22-C40B-8A202B895F5E}"/>
              </a:ext>
            </a:extLst>
          </p:cNvPr>
          <p:cNvCxnSpPr>
            <a:cxnSpLocks/>
            <a:stCxn id="4" idx="2"/>
            <a:endCxn id="6" idx="0"/>
          </p:cNvCxnSpPr>
          <p:nvPr/>
        </p:nvCxnSpPr>
        <p:spPr>
          <a:xfrm flipH="1">
            <a:off x="4871644" y="2038858"/>
            <a:ext cx="1" cy="30273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Cylinder 11">
            <a:extLst>
              <a:ext uri="{FF2B5EF4-FFF2-40B4-BE49-F238E27FC236}">
                <a16:creationId xmlns:a16="http://schemas.microsoft.com/office/drawing/2014/main" id="{656B18D2-7B97-DCE6-6E60-A32FE3C4F635}"/>
              </a:ext>
            </a:extLst>
          </p:cNvPr>
          <p:cNvSpPr/>
          <p:nvPr/>
        </p:nvSpPr>
        <p:spPr>
          <a:xfrm>
            <a:off x="10492948" y="1359240"/>
            <a:ext cx="1421027" cy="1093574"/>
          </a:xfrm>
          <a:prstGeom prst="can">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Dell Telemetry Manager</a:t>
            </a:r>
          </a:p>
        </p:txBody>
      </p:sp>
      <p:sp>
        <p:nvSpPr>
          <p:cNvPr id="13" name="Cylinder 12">
            <a:extLst>
              <a:ext uri="{FF2B5EF4-FFF2-40B4-BE49-F238E27FC236}">
                <a16:creationId xmlns:a16="http://schemas.microsoft.com/office/drawing/2014/main" id="{2A0A5F54-F23C-4F60-5D43-7FA1549E56E5}"/>
              </a:ext>
            </a:extLst>
          </p:cNvPr>
          <p:cNvSpPr/>
          <p:nvPr/>
        </p:nvSpPr>
        <p:spPr>
          <a:xfrm>
            <a:off x="10492948" y="3194218"/>
            <a:ext cx="1421027" cy="1093574"/>
          </a:xfrm>
          <a:prstGeom prst="can">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Monitoring Agent DB</a:t>
            </a:r>
          </a:p>
        </p:txBody>
      </p:sp>
      <p:cxnSp>
        <p:nvCxnSpPr>
          <p:cNvPr id="15" name="Straight Arrow Connector 14">
            <a:extLst>
              <a:ext uri="{FF2B5EF4-FFF2-40B4-BE49-F238E27FC236}">
                <a16:creationId xmlns:a16="http://schemas.microsoft.com/office/drawing/2014/main" id="{E1B8A417-3269-5224-CCD5-F712DE34ADB3}"/>
              </a:ext>
            </a:extLst>
          </p:cNvPr>
          <p:cNvCxnSpPr>
            <a:cxnSpLocks/>
            <a:stCxn id="12" idx="2"/>
          </p:cNvCxnSpPr>
          <p:nvPr/>
        </p:nvCxnSpPr>
        <p:spPr>
          <a:xfrm flipH="1">
            <a:off x="8719731" y="1906027"/>
            <a:ext cx="1773217" cy="54678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32A7A3ED-8EF6-A148-5B46-B24F47C3E461}"/>
              </a:ext>
            </a:extLst>
          </p:cNvPr>
          <p:cNvSpPr/>
          <p:nvPr/>
        </p:nvSpPr>
        <p:spPr>
          <a:xfrm>
            <a:off x="1023550" y="3383553"/>
            <a:ext cx="2423988"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Validate with test data</a:t>
            </a:r>
          </a:p>
        </p:txBody>
      </p:sp>
      <p:sp>
        <p:nvSpPr>
          <p:cNvPr id="17" name="Rectangle: Rounded Corners 16">
            <a:extLst>
              <a:ext uri="{FF2B5EF4-FFF2-40B4-BE49-F238E27FC236}">
                <a16:creationId xmlns:a16="http://schemas.microsoft.com/office/drawing/2014/main" id="{E27CCC20-EF9D-9C32-8AEC-F1FCB20051B5}"/>
              </a:ext>
            </a:extLst>
          </p:cNvPr>
          <p:cNvSpPr/>
          <p:nvPr/>
        </p:nvSpPr>
        <p:spPr>
          <a:xfrm>
            <a:off x="3659650" y="3383553"/>
            <a:ext cx="2423988"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Validate with test data</a:t>
            </a:r>
          </a:p>
        </p:txBody>
      </p:sp>
      <p:cxnSp>
        <p:nvCxnSpPr>
          <p:cNvPr id="19" name="Straight Arrow Connector 18">
            <a:extLst>
              <a:ext uri="{FF2B5EF4-FFF2-40B4-BE49-F238E27FC236}">
                <a16:creationId xmlns:a16="http://schemas.microsoft.com/office/drawing/2014/main" id="{3843596A-D14A-B7C3-A9DE-334412236811}"/>
              </a:ext>
            </a:extLst>
          </p:cNvPr>
          <p:cNvCxnSpPr>
            <a:cxnSpLocks/>
            <a:stCxn id="5" idx="2"/>
            <a:endCxn id="16" idx="0"/>
          </p:cNvCxnSpPr>
          <p:nvPr/>
        </p:nvCxnSpPr>
        <p:spPr>
          <a:xfrm flipH="1">
            <a:off x="2235544" y="3008861"/>
            <a:ext cx="1" cy="37469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D9FE6B7-77EE-28A7-F579-211D200046D6}"/>
              </a:ext>
            </a:extLst>
          </p:cNvPr>
          <p:cNvCxnSpPr>
            <a:cxnSpLocks/>
            <a:stCxn id="6" idx="2"/>
            <a:endCxn id="17" idx="0"/>
          </p:cNvCxnSpPr>
          <p:nvPr/>
        </p:nvCxnSpPr>
        <p:spPr>
          <a:xfrm>
            <a:off x="4871644" y="3008860"/>
            <a:ext cx="0" cy="374693"/>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10D6295-7DDF-040A-1F98-253B2C9A2FAD}"/>
              </a:ext>
            </a:extLst>
          </p:cNvPr>
          <p:cNvSpPr/>
          <p:nvPr/>
        </p:nvSpPr>
        <p:spPr>
          <a:xfrm>
            <a:off x="967949" y="5252923"/>
            <a:ext cx="7751776" cy="527354"/>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Deploy model and Monitor</a:t>
            </a:r>
          </a:p>
        </p:txBody>
      </p:sp>
      <p:cxnSp>
        <p:nvCxnSpPr>
          <p:cNvPr id="25" name="Connector: Elbow 24">
            <a:extLst>
              <a:ext uri="{FF2B5EF4-FFF2-40B4-BE49-F238E27FC236}">
                <a16:creationId xmlns:a16="http://schemas.microsoft.com/office/drawing/2014/main" id="{84C98D08-BBA2-C516-8BBC-99F829607FBE}"/>
              </a:ext>
            </a:extLst>
          </p:cNvPr>
          <p:cNvCxnSpPr>
            <a:cxnSpLocks/>
            <a:stCxn id="23" idx="3"/>
            <a:endCxn id="13" idx="3"/>
          </p:cNvCxnSpPr>
          <p:nvPr/>
        </p:nvCxnSpPr>
        <p:spPr>
          <a:xfrm flipV="1">
            <a:off x="8719725" y="4287792"/>
            <a:ext cx="2483737" cy="1228808"/>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B0C14DE-0DAC-B796-082A-64575BABD4F4}"/>
              </a:ext>
            </a:extLst>
          </p:cNvPr>
          <p:cNvCxnSpPr>
            <a:cxnSpLocks/>
            <a:stCxn id="13" idx="2"/>
            <a:endCxn id="77" idx="3"/>
          </p:cNvCxnSpPr>
          <p:nvPr/>
        </p:nvCxnSpPr>
        <p:spPr>
          <a:xfrm flipH="1" flipV="1">
            <a:off x="8719733" y="2615154"/>
            <a:ext cx="1773215" cy="1125851"/>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2205B1F1-5C35-F643-B699-EC1E64EBBBC6}"/>
              </a:ext>
            </a:extLst>
          </p:cNvPr>
          <p:cNvSpPr/>
          <p:nvPr/>
        </p:nvSpPr>
        <p:spPr>
          <a:xfrm>
            <a:off x="967949" y="5911818"/>
            <a:ext cx="7751776" cy="527354"/>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Validate model performance, Human in the Loop</a:t>
            </a:r>
          </a:p>
        </p:txBody>
      </p:sp>
      <p:cxnSp>
        <p:nvCxnSpPr>
          <p:cNvPr id="31" name="Connector: Elbow 30">
            <a:extLst>
              <a:ext uri="{FF2B5EF4-FFF2-40B4-BE49-F238E27FC236}">
                <a16:creationId xmlns:a16="http://schemas.microsoft.com/office/drawing/2014/main" id="{937245EC-4BDF-13A6-0CC2-70505B283052}"/>
              </a:ext>
            </a:extLst>
          </p:cNvPr>
          <p:cNvCxnSpPr>
            <a:cxnSpLocks/>
            <a:stCxn id="30" idx="3"/>
            <a:endCxn id="13" idx="3"/>
          </p:cNvCxnSpPr>
          <p:nvPr/>
        </p:nvCxnSpPr>
        <p:spPr>
          <a:xfrm flipV="1">
            <a:off x="8719725" y="4287792"/>
            <a:ext cx="2483737" cy="1887703"/>
          </a:xfrm>
          <a:prstGeom prst="bentConnector2">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CCF311-402C-87E3-56EF-9593C95B9087}"/>
              </a:ext>
            </a:extLst>
          </p:cNvPr>
          <p:cNvCxnSpPr>
            <a:cxnSpLocks/>
            <a:stCxn id="30" idx="1"/>
            <a:endCxn id="5" idx="1"/>
          </p:cNvCxnSpPr>
          <p:nvPr/>
        </p:nvCxnSpPr>
        <p:spPr>
          <a:xfrm rot="10800000" flipH="1">
            <a:off x="967949" y="2675229"/>
            <a:ext cx="55602" cy="3500266"/>
          </a:xfrm>
          <a:prstGeom prst="bentConnector3">
            <a:avLst>
              <a:gd name="adj1" fmla="val -411136"/>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B67DB53-E7F2-30C6-0A27-8CBF1F181BFD}"/>
              </a:ext>
            </a:extLst>
          </p:cNvPr>
          <p:cNvCxnSpPr>
            <a:cxnSpLocks/>
            <a:stCxn id="16" idx="2"/>
          </p:cNvCxnSpPr>
          <p:nvPr/>
        </p:nvCxnSpPr>
        <p:spPr>
          <a:xfrm>
            <a:off x="2235544" y="4050818"/>
            <a:ext cx="0" cy="279821"/>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6EEBCE4-0073-7A8B-8E5A-159F47104DF2}"/>
              </a:ext>
            </a:extLst>
          </p:cNvPr>
          <p:cNvCxnSpPr>
            <a:cxnSpLocks/>
            <a:stCxn id="17" idx="2"/>
          </p:cNvCxnSpPr>
          <p:nvPr/>
        </p:nvCxnSpPr>
        <p:spPr>
          <a:xfrm>
            <a:off x="4871644" y="4050818"/>
            <a:ext cx="0" cy="236971"/>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9542BDA3-FCCC-9B61-5403-80BA6B450181}"/>
              </a:ext>
            </a:extLst>
          </p:cNvPr>
          <p:cNvSpPr/>
          <p:nvPr/>
        </p:nvSpPr>
        <p:spPr>
          <a:xfrm>
            <a:off x="967949" y="4330639"/>
            <a:ext cx="2423986" cy="761740"/>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Transform model (for specific Silicon and Runtime)</a:t>
            </a:r>
          </a:p>
        </p:txBody>
      </p:sp>
      <p:sp>
        <p:nvSpPr>
          <p:cNvPr id="47" name="TextBox 46">
            <a:extLst>
              <a:ext uri="{FF2B5EF4-FFF2-40B4-BE49-F238E27FC236}">
                <a16:creationId xmlns:a16="http://schemas.microsoft.com/office/drawing/2014/main" id="{49B94B31-1EB7-987C-8F19-9F1C00C96F25}"/>
              </a:ext>
            </a:extLst>
          </p:cNvPr>
          <p:cNvSpPr txBox="1"/>
          <p:nvPr/>
        </p:nvSpPr>
        <p:spPr>
          <a:xfrm rot="16200000">
            <a:off x="-602154" y="4132809"/>
            <a:ext cx="2344209" cy="309958"/>
          </a:xfrm>
          <a:prstGeom prst="rect">
            <a:avLst/>
          </a:prstGeom>
          <a:noFill/>
        </p:spPr>
        <p:txBody>
          <a:bodyPr vert="horz" wrap="none" lIns="90000" tIns="46800" rIns="90000" bIns="46800" rtlCol="0" anchor="ctr">
            <a:spAutoFit/>
          </a:bodyPr>
          <a:lstStyle/>
          <a:p>
            <a:pPr algn="l">
              <a:spcBef>
                <a:spcPct val="0"/>
              </a:spcBef>
            </a:pPr>
            <a:r>
              <a:rPr lang="en-US" sz="1400" dirty="0">
                <a:solidFill>
                  <a:schemeClr val="bg1"/>
                </a:solidFill>
              </a:rPr>
              <a:t>Performance Optimization</a:t>
            </a:r>
          </a:p>
        </p:txBody>
      </p:sp>
      <p:sp>
        <p:nvSpPr>
          <p:cNvPr id="49" name="TextBox 48">
            <a:extLst>
              <a:ext uri="{FF2B5EF4-FFF2-40B4-BE49-F238E27FC236}">
                <a16:creationId xmlns:a16="http://schemas.microsoft.com/office/drawing/2014/main" id="{061673BC-B5BB-F81B-6AFB-B430DEC0EB50}"/>
              </a:ext>
            </a:extLst>
          </p:cNvPr>
          <p:cNvSpPr txBox="1"/>
          <p:nvPr/>
        </p:nvSpPr>
        <p:spPr>
          <a:xfrm>
            <a:off x="9401772" y="5564681"/>
            <a:ext cx="1279815" cy="525401"/>
          </a:xfrm>
          <a:prstGeom prst="rect">
            <a:avLst/>
          </a:prstGeom>
          <a:noFill/>
        </p:spPr>
        <p:txBody>
          <a:bodyPr vert="horz" wrap="none" lIns="90000" tIns="46800" rIns="90000" bIns="46800" rtlCol="0" anchor="ctr">
            <a:spAutoFit/>
          </a:bodyPr>
          <a:lstStyle/>
          <a:p>
            <a:pPr algn="l">
              <a:spcBef>
                <a:spcPct val="0"/>
              </a:spcBef>
            </a:pPr>
            <a:r>
              <a:rPr lang="en-US" sz="1400" dirty="0">
                <a:solidFill>
                  <a:schemeClr val="bg1"/>
                </a:solidFill>
              </a:rPr>
              <a:t>Performance </a:t>
            </a:r>
          </a:p>
          <a:p>
            <a:pPr algn="l">
              <a:spcBef>
                <a:spcPct val="0"/>
              </a:spcBef>
            </a:pPr>
            <a:r>
              <a:rPr lang="en-US" sz="1400" dirty="0">
                <a:solidFill>
                  <a:schemeClr val="bg1"/>
                </a:solidFill>
              </a:rPr>
              <a:t>Feedback</a:t>
            </a:r>
          </a:p>
        </p:txBody>
      </p:sp>
      <p:sp>
        <p:nvSpPr>
          <p:cNvPr id="50" name="TextBox 49">
            <a:extLst>
              <a:ext uri="{FF2B5EF4-FFF2-40B4-BE49-F238E27FC236}">
                <a16:creationId xmlns:a16="http://schemas.microsoft.com/office/drawing/2014/main" id="{B25E836D-82EB-36E8-0C3D-3E0B95E2EF1F}"/>
              </a:ext>
            </a:extLst>
          </p:cNvPr>
          <p:cNvSpPr txBox="1"/>
          <p:nvPr/>
        </p:nvSpPr>
        <p:spPr>
          <a:xfrm>
            <a:off x="9087355" y="2460174"/>
            <a:ext cx="1271800" cy="309958"/>
          </a:xfrm>
          <a:prstGeom prst="rect">
            <a:avLst/>
          </a:prstGeom>
          <a:noFill/>
        </p:spPr>
        <p:txBody>
          <a:bodyPr vert="horz" wrap="none" lIns="90000" tIns="46800" rIns="90000" bIns="46800" rtlCol="0" anchor="ctr">
            <a:spAutoFit/>
          </a:bodyPr>
          <a:lstStyle/>
          <a:p>
            <a:pPr algn="l">
              <a:spcBef>
                <a:spcPct val="0"/>
              </a:spcBef>
            </a:pPr>
            <a:r>
              <a:rPr lang="en-US" sz="1400" dirty="0">
                <a:solidFill>
                  <a:schemeClr val="bg1"/>
                </a:solidFill>
              </a:rPr>
              <a:t>Training Data</a:t>
            </a:r>
          </a:p>
        </p:txBody>
      </p:sp>
      <p:sp>
        <p:nvSpPr>
          <p:cNvPr id="76" name="Rectangle: Rounded Corners 75">
            <a:extLst>
              <a:ext uri="{FF2B5EF4-FFF2-40B4-BE49-F238E27FC236}">
                <a16:creationId xmlns:a16="http://schemas.microsoft.com/office/drawing/2014/main" id="{D6AE715C-19B4-DA82-16FE-F9EBBD0B65FE}"/>
              </a:ext>
            </a:extLst>
          </p:cNvPr>
          <p:cNvSpPr/>
          <p:nvPr/>
        </p:nvSpPr>
        <p:spPr>
          <a:xfrm>
            <a:off x="6295750" y="1390479"/>
            <a:ext cx="2423981"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Use statistical Models (scikit-learn, </a:t>
            </a:r>
            <a:r>
              <a:rPr lang="en-US" sz="1400" dirty="0" err="1">
                <a:solidFill>
                  <a:schemeClr val="tx1"/>
                </a:solidFill>
              </a:rPr>
              <a:t>XGBoost</a:t>
            </a:r>
            <a:r>
              <a:rPr lang="en-US" sz="1400" dirty="0">
                <a:solidFill>
                  <a:schemeClr val="tx1"/>
                </a:solidFill>
              </a:rPr>
              <a:t>)</a:t>
            </a:r>
          </a:p>
        </p:txBody>
      </p:sp>
      <p:sp>
        <p:nvSpPr>
          <p:cNvPr id="77" name="Rectangle: Rounded Corners 76">
            <a:extLst>
              <a:ext uri="{FF2B5EF4-FFF2-40B4-BE49-F238E27FC236}">
                <a16:creationId xmlns:a16="http://schemas.microsoft.com/office/drawing/2014/main" id="{4DE0FBAF-7BEB-FFAB-60E5-C019FA5677F7}"/>
              </a:ext>
            </a:extLst>
          </p:cNvPr>
          <p:cNvSpPr/>
          <p:nvPr/>
        </p:nvSpPr>
        <p:spPr>
          <a:xfrm>
            <a:off x="6295746" y="2281521"/>
            <a:ext cx="2423987"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Fine tune on curated data from DTM and Monitoring DB</a:t>
            </a:r>
          </a:p>
        </p:txBody>
      </p:sp>
      <p:sp>
        <p:nvSpPr>
          <p:cNvPr id="80" name="Rectangle: Rounded Corners 79">
            <a:extLst>
              <a:ext uri="{FF2B5EF4-FFF2-40B4-BE49-F238E27FC236}">
                <a16:creationId xmlns:a16="http://schemas.microsoft.com/office/drawing/2014/main" id="{E90574CB-B0F3-4108-2C77-CA13B874E8D8}"/>
              </a:ext>
            </a:extLst>
          </p:cNvPr>
          <p:cNvSpPr/>
          <p:nvPr/>
        </p:nvSpPr>
        <p:spPr>
          <a:xfrm>
            <a:off x="6295746" y="3379521"/>
            <a:ext cx="2423988" cy="667265"/>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Validate with test data</a:t>
            </a:r>
          </a:p>
        </p:txBody>
      </p:sp>
      <p:sp>
        <p:nvSpPr>
          <p:cNvPr id="84" name="Rectangle: Rounded Corners 83">
            <a:extLst>
              <a:ext uri="{FF2B5EF4-FFF2-40B4-BE49-F238E27FC236}">
                <a16:creationId xmlns:a16="http://schemas.microsoft.com/office/drawing/2014/main" id="{289FC00E-228B-2FB0-7BAF-453404BFD32D}"/>
              </a:ext>
            </a:extLst>
          </p:cNvPr>
          <p:cNvSpPr/>
          <p:nvPr/>
        </p:nvSpPr>
        <p:spPr>
          <a:xfrm>
            <a:off x="3672014" y="4297941"/>
            <a:ext cx="2423986" cy="761739"/>
          </a:xfrm>
          <a:prstGeom prst="roundRect">
            <a:avLst/>
          </a:prstGeom>
          <a:solidFill>
            <a:schemeClr val="accent1">
              <a:lumMod val="40000"/>
              <a:lumOff val="6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300" dirty="0">
                <a:solidFill>
                  <a:schemeClr val="tx1"/>
                </a:solidFill>
              </a:rPr>
              <a:t>Transform model (for specific Silicon and Runtime) and create </a:t>
            </a:r>
            <a:r>
              <a:rPr lang="en-US" sz="1300" dirty="0" err="1">
                <a:solidFill>
                  <a:schemeClr val="tx1"/>
                </a:solidFill>
              </a:rPr>
              <a:t>LoRA</a:t>
            </a:r>
            <a:r>
              <a:rPr lang="en-US" sz="1300" dirty="0">
                <a:solidFill>
                  <a:schemeClr val="tx1"/>
                </a:solidFill>
              </a:rPr>
              <a:t> adapters</a:t>
            </a:r>
          </a:p>
        </p:txBody>
      </p:sp>
      <p:cxnSp>
        <p:nvCxnSpPr>
          <p:cNvPr id="87" name="Straight Arrow Connector 86">
            <a:extLst>
              <a:ext uri="{FF2B5EF4-FFF2-40B4-BE49-F238E27FC236}">
                <a16:creationId xmlns:a16="http://schemas.microsoft.com/office/drawing/2014/main" id="{88BF7ABA-71D7-728F-F562-71BC329A6A54}"/>
              </a:ext>
            </a:extLst>
          </p:cNvPr>
          <p:cNvCxnSpPr>
            <a:stCxn id="80" idx="2"/>
          </p:cNvCxnSpPr>
          <p:nvPr/>
        </p:nvCxnSpPr>
        <p:spPr>
          <a:xfrm flipH="1">
            <a:off x="7500551" y="4046786"/>
            <a:ext cx="7189" cy="120613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E6D77BA-15DF-61E3-C6B4-03BA5DF226AB}"/>
              </a:ext>
            </a:extLst>
          </p:cNvPr>
          <p:cNvCxnSpPr>
            <a:cxnSpLocks/>
          </p:cNvCxnSpPr>
          <p:nvPr/>
        </p:nvCxnSpPr>
        <p:spPr>
          <a:xfrm>
            <a:off x="7514941" y="2961143"/>
            <a:ext cx="0" cy="374693"/>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929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006F3-A600-5D4B-1C49-A78205F80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F99D2-189F-2774-B62F-E18ACECF47B0}"/>
              </a:ext>
            </a:extLst>
          </p:cNvPr>
          <p:cNvSpPr>
            <a:spLocks noGrp="1"/>
          </p:cNvSpPr>
          <p:nvPr>
            <p:ph type="title"/>
          </p:nvPr>
        </p:nvSpPr>
        <p:spPr>
          <a:xfrm>
            <a:off x="414971" y="260351"/>
            <a:ext cx="11008413" cy="425450"/>
          </a:xfrm>
        </p:spPr>
        <p:txBody>
          <a:bodyPr/>
          <a:lstStyle/>
          <a:p>
            <a:r>
              <a:rPr lang="en-US" dirty="0"/>
              <a:t>Solution Strategy - </a:t>
            </a:r>
            <a:r>
              <a:rPr lang="en-US" b="1" dirty="0"/>
              <a:t>Monitoring Agent</a:t>
            </a:r>
            <a:endParaRPr lang="en-US" dirty="0"/>
          </a:p>
        </p:txBody>
      </p:sp>
      <p:sp>
        <p:nvSpPr>
          <p:cNvPr id="3" name="Rounded Rectangle 1">
            <a:extLst>
              <a:ext uri="{FF2B5EF4-FFF2-40B4-BE49-F238E27FC236}">
                <a16:creationId xmlns:a16="http://schemas.microsoft.com/office/drawing/2014/main" id="{78748B2B-1E65-D4C3-F4BE-04BDA5844164}"/>
              </a:ext>
            </a:extLst>
          </p:cNvPr>
          <p:cNvSpPr/>
          <p:nvPr/>
        </p:nvSpPr>
        <p:spPr>
          <a:xfrm>
            <a:off x="4450798" y="2594526"/>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CB68F9"/>
            </a:solidFill>
          </a:ln>
        </p:spPr>
        <p:txBody>
          <a:bodyPr rtlCol="0" anchor="ctr"/>
          <a:lstStyle/>
          <a:p>
            <a:pPr algn="ctr"/>
            <a:endParaRPr/>
          </a:p>
        </p:txBody>
      </p:sp>
      <p:grpSp>
        <p:nvGrpSpPr>
          <p:cNvPr id="4" name="Group 3">
            <a:extLst>
              <a:ext uri="{FF2B5EF4-FFF2-40B4-BE49-F238E27FC236}">
                <a16:creationId xmlns:a16="http://schemas.microsoft.com/office/drawing/2014/main" id="{CEC2FE35-E252-584A-28FD-2D64D031D7E7}"/>
              </a:ext>
            </a:extLst>
          </p:cNvPr>
          <p:cNvGrpSpPr/>
          <p:nvPr/>
        </p:nvGrpSpPr>
        <p:grpSpPr>
          <a:xfrm>
            <a:off x="4368029" y="3212067"/>
            <a:ext cx="146194" cy="306127"/>
            <a:chOff x="1488775" y="2670945"/>
            <a:chExt cx="146194" cy="306127"/>
          </a:xfrm>
        </p:grpSpPr>
        <p:sp>
          <p:nvSpPr>
            <p:cNvPr id="5" name="Rounded Rectangle 2">
              <a:extLst>
                <a:ext uri="{FF2B5EF4-FFF2-40B4-BE49-F238E27FC236}">
                  <a16:creationId xmlns:a16="http://schemas.microsoft.com/office/drawing/2014/main" id="{ECEF923F-1D67-D813-9ED6-7C3B8B875003}"/>
                </a:ext>
              </a:extLst>
            </p:cNvPr>
            <p:cNvSpPr/>
            <p:nvPr/>
          </p:nvSpPr>
          <p:spPr>
            <a:xfrm>
              <a:off x="1488775" y="2674940"/>
              <a:ext cx="121108" cy="302132"/>
            </a:xfrm>
            <a:custGeom>
              <a:avLst/>
              <a:gdLst/>
              <a:ahLst/>
              <a:cxnLst/>
              <a:rect l="0" t="0" r="0" b="0"/>
              <a:pathLst>
                <a:path w="121108" h="302132">
                  <a:moveTo>
                    <a:pt x="121108" y="0"/>
                  </a:moveTo>
                  <a:cubicBezTo>
                    <a:pt x="69901" y="94825"/>
                    <a:pt x="28999" y="196042"/>
                    <a:pt x="0" y="302132"/>
                  </a:cubicBezTo>
                </a:path>
              </a:pathLst>
            </a:custGeom>
            <a:noFill/>
            <a:ln w="11982">
              <a:solidFill>
                <a:srgbClr val="F4F4F4"/>
              </a:solidFill>
            </a:ln>
          </p:spPr>
          <p:txBody>
            <a:bodyPr rtlCol="0" anchor="ctr"/>
            <a:lstStyle/>
            <a:p>
              <a:pPr algn="ctr"/>
              <a:endParaRPr/>
            </a:p>
          </p:txBody>
        </p:sp>
        <p:sp>
          <p:nvSpPr>
            <p:cNvPr id="6" name="Rounded Rectangle 3">
              <a:extLst>
                <a:ext uri="{FF2B5EF4-FFF2-40B4-BE49-F238E27FC236}">
                  <a16:creationId xmlns:a16="http://schemas.microsoft.com/office/drawing/2014/main" id="{E52B12A7-779E-9059-AD8C-2BBBC090E21C}"/>
                </a:ext>
              </a:extLst>
            </p:cNvPr>
            <p:cNvSpPr/>
            <p:nvPr/>
          </p:nvSpPr>
          <p:spPr>
            <a:xfrm>
              <a:off x="1542300" y="2670945"/>
              <a:ext cx="92669" cy="70300"/>
            </a:xfrm>
            <a:custGeom>
              <a:avLst/>
              <a:gdLst/>
              <a:ahLst/>
              <a:cxnLst/>
              <a:rect l="0" t="0" r="0" b="0"/>
              <a:pathLst>
                <a:path w="92669" h="70300">
                  <a:moveTo>
                    <a:pt x="92669" y="70300"/>
                  </a:moveTo>
                  <a:lnTo>
                    <a:pt x="70300" y="0"/>
                  </a:lnTo>
                  <a:lnTo>
                    <a:pt x="0" y="22368"/>
                  </a:lnTo>
                </a:path>
              </a:pathLst>
            </a:custGeom>
            <a:noFill/>
            <a:ln w="11982">
              <a:solidFill>
                <a:srgbClr val="F4F4F4"/>
              </a:solidFill>
            </a:ln>
          </p:spPr>
          <p:txBody>
            <a:bodyPr rtlCol="0" anchor="ctr"/>
            <a:lstStyle/>
            <a:p>
              <a:pPr algn="ctr"/>
              <a:endParaRPr/>
            </a:p>
          </p:txBody>
        </p:sp>
      </p:grpSp>
      <p:sp>
        <p:nvSpPr>
          <p:cNvPr id="10" name="Rounded Rectangle 5">
            <a:extLst>
              <a:ext uri="{FF2B5EF4-FFF2-40B4-BE49-F238E27FC236}">
                <a16:creationId xmlns:a16="http://schemas.microsoft.com/office/drawing/2014/main" id="{00CD36F7-00C0-2061-E907-6849F7C2A50E}"/>
              </a:ext>
            </a:extLst>
          </p:cNvPr>
          <p:cNvSpPr/>
          <p:nvPr/>
        </p:nvSpPr>
        <p:spPr>
          <a:xfrm>
            <a:off x="4029628" y="3610387"/>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F366BB"/>
            </a:solidFill>
          </a:ln>
        </p:spPr>
        <p:txBody>
          <a:bodyPr rtlCol="0" anchor="ctr"/>
          <a:lstStyle/>
          <a:p>
            <a:pPr algn="ctr"/>
            <a:endParaRPr/>
          </a:p>
        </p:txBody>
      </p:sp>
      <p:grpSp>
        <p:nvGrpSpPr>
          <p:cNvPr id="11" name="Group 10">
            <a:extLst>
              <a:ext uri="{FF2B5EF4-FFF2-40B4-BE49-F238E27FC236}">
                <a16:creationId xmlns:a16="http://schemas.microsoft.com/office/drawing/2014/main" id="{7E1FBBE5-449B-2355-6DF5-16A74C7FFFE6}"/>
              </a:ext>
            </a:extLst>
          </p:cNvPr>
          <p:cNvGrpSpPr/>
          <p:nvPr/>
        </p:nvGrpSpPr>
        <p:grpSpPr>
          <a:xfrm>
            <a:off x="4342785" y="4305960"/>
            <a:ext cx="162890" cy="303411"/>
            <a:chOff x="1463531" y="3764838"/>
            <a:chExt cx="162890" cy="303411"/>
          </a:xfrm>
        </p:grpSpPr>
        <p:sp>
          <p:nvSpPr>
            <p:cNvPr id="12" name="Rounded Rectangle 6">
              <a:extLst>
                <a:ext uri="{FF2B5EF4-FFF2-40B4-BE49-F238E27FC236}">
                  <a16:creationId xmlns:a16="http://schemas.microsoft.com/office/drawing/2014/main" id="{F6F074C9-128A-FBB2-11E5-C591B5410EFF}"/>
                </a:ext>
              </a:extLst>
            </p:cNvPr>
            <p:cNvSpPr/>
            <p:nvPr/>
          </p:nvSpPr>
          <p:spPr>
            <a:xfrm>
              <a:off x="1497883" y="3768034"/>
              <a:ext cx="128538" cy="300215"/>
            </a:xfrm>
            <a:custGeom>
              <a:avLst/>
              <a:gdLst/>
              <a:ahLst/>
              <a:cxnLst/>
              <a:rect l="0" t="0" r="0" b="0"/>
              <a:pathLst>
                <a:path w="128538" h="300215">
                  <a:moveTo>
                    <a:pt x="0" y="0"/>
                  </a:moveTo>
                  <a:cubicBezTo>
                    <a:pt x="31555" y="105690"/>
                    <a:pt x="74854" y="206268"/>
                    <a:pt x="128538" y="300215"/>
                  </a:cubicBezTo>
                </a:path>
              </a:pathLst>
            </a:custGeom>
            <a:noFill/>
            <a:ln w="11982">
              <a:solidFill>
                <a:srgbClr val="F4F4F4"/>
              </a:solidFill>
            </a:ln>
          </p:spPr>
          <p:txBody>
            <a:bodyPr rtlCol="0" anchor="ctr"/>
            <a:lstStyle/>
            <a:p>
              <a:pPr algn="ctr"/>
              <a:endParaRPr/>
            </a:p>
          </p:txBody>
        </p:sp>
        <p:sp>
          <p:nvSpPr>
            <p:cNvPr id="13" name="Rounded Rectangle 7">
              <a:extLst>
                <a:ext uri="{FF2B5EF4-FFF2-40B4-BE49-F238E27FC236}">
                  <a16:creationId xmlns:a16="http://schemas.microsoft.com/office/drawing/2014/main" id="{BD7E2172-5EE3-CB51-DCDB-AC3125382414}"/>
                </a:ext>
              </a:extLst>
            </p:cNvPr>
            <p:cNvSpPr/>
            <p:nvPr/>
          </p:nvSpPr>
          <p:spPr>
            <a:xfrm>
              <a:off x="1463531" y="3764838"/>
              <a:ext cx="99060" cy="64708"/>
            </a:xfrm>
            <a:custGeom>
              <a:avLst/>
              <a:gdLst/>
              <a:ahLst/>
              <a:cxnLst/>
              <a:rect l="0" t="0" r="0" b="0"/>
              <a:pathLst>
                <a:path w="99060" h="64708">
                  <a:moveTo>
                    <a:pt x="99060" y="32753"/>
                  </a:moveTo>
                  <a:lnTo>
                    <a:pt x="33552" y="0"/>
                  </a:lnTo>
                  <a:lnTo>
                    <a:pt x="0" y="64708"/>
                  </a:lnTo>
                </a:path>
              </a:pathLst>
            </a:custGeom>
            <a:noFill/>
            <a:ln w="11982">
              <a:solidFill>
                <a:srgbClr val="F4F4F4"/>
              </a:solidFill>
            </a:ln>
          </p:spPr>
          <p:txBody>
            <a:bodyPr rtlCol="0" anchor="ctr"/>
            <a:lstStyle/>
            <a:p>
              <a:pPr algn="ctr"/>
              <a:endParaRPr/>
            </a:p>
          </p:txBody>
        </p:sp>
      </p:grpSp>
      <p:sp>
        <p:nvSpPr>
          <p:cNvPr id="14" name="Rounded Rectangle 9">
            <a:extLst>
              <a:ext uri="{FF2B5EF4-FFF2-40B4-BE49-F238E27FC236}">
                <a16:creationId xmlns:a16="http://schemas.microsoft.com/office/drawing/2014/main" id="{43C798D8-6D3C-52C8-C9B1-57BA5C445BE4}"/>
              </a:ext>
            </a:extLst>
          </p:cNvPr>
          <p:cNvSpPr/>
          <p:nvPr/>
        </p:nvSpPr>
        <p:spPr>
          <a:xfrm>
            <a:off x="4450798" y="4626229"/>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FB6762"/>
            </a:solidFill>
          </a:ln>
        </p:spPr>
        <p:txBody>
          <a:bodyPr rtlCol="0" anchor="ctr"/>
          <a:lstStyle/>
          <a:p>
            <a:pPr algn="ctr"/>
            <a:endParaRPr/>
          </a:p>
        </p:txBody>
      </p:sp>
      <p:grpSp>
        <p:nvGrpSpPr>
          <p:cNvPr id="15" name="Group 14">
            <a:extLst>
              <a:ext uri="{FF2B5EF4-FFF2-40B4-BE49-F238E27FC236}">
                <a16:creationId xmlns:a16="http://schemas.microsoft.com/office/drawing/2014/main" id="{221EB025-4F50-3E49-9CA4-D07814108113}"/>
              </a:ext>
            </a:extLst>
          </p:cNvPr>
          <p:cNvGrpSpPr/>
          <p:nvPr/>
        </p:nvGrpSpPr>
        <p:grpSpPr>
          <a:xfrm>
            <a:off x="5068719" y="5137905"/>
            <a:ext cx="306687" cy="145873"/>
            <a:chOff x="2189465" y="4596783"/>
            <a:chExt cx="306687" cy="145873"/>
          </a:xfrm>
        </p:grpSpPr>
        <p:sp>
          <p:nvSpPr>
            <p:cNvPr id="16" name="Rounded Rectangle 10">
              <a:extLst>
                <a:ext uri="{FF2B5EF4-FFF2-40B4-BE49-F238E27FC236}">
                  <a16:creationId xmlns:a16="http://schemas.microsoft.com/office/drawing/2014/main" id="{EAFB71E6-D0B5-43EB-67C5-06D160CF2FEA}"/>
                </a:ext>
              </a:extLst>
            </p:cNvPr>
            <p:cNvSpPr/>
            <p:nvPr/>
          </p:nvSpPr>
          <p:spPr>
            <a:xfrm>
              <a:off x="2193460" y="4621548"/>
              <a:ext cx="302692" cy="121108"/>
            </a:xfrm>
            <a:custGeom>
              <a:avLst/>
              <a:gdLst/>
              <a:ahLst/>
              <a:cxnLst/>
              <a:rect l="0" t="0" r="0" b="0"/>
              <a:pathLst>
                <a:path w="302692" h="121108">
                  <a:moveTo>
                    <a:pt x="0" y="0"/>
                  </a:moveTo>
                  <a:cubicBezTo>
                    <a:pt x="94985" y="51287"/>
                    <a:pt x="196362" y="92109"/>
                    <a:pt x="302692" y="121108"/>
                  </a:cubicBezTo>
                </a:path>
              </a:pathLst>
            </a:custGeom>
            <a:noFill/>
            <a:ln w="11982">
              <a:solidFill>
                <a:srgbClr val="F4F4F4"/>
              </a:solidFill>
            </a:ln>
          </p:spPr>
          <p:txBody>
            <a:bodyPr rtlCol="0" anchor="ctr"/>
            <a:lstStyle/>
            <a:p>
              <a:pPr algn="ctr"/>
              <a:endParaRPr/>
            </a:p>
          </p:txBody>
        </p:sp>
        <p:sp>
          <p:nvSpPr>
            <p:cNvPr id="17" name="Rounded Rectangle 11">
              <a:extLst>
                <a:ext uri="{FF2B5EF4-FFF2-40B4-BE49-F238E27FC236}">
                  <a16:creationId xmlns:a16="http://schemas.microsoft.com/office/drawing/2014/main" id="{A30842BC-2632-7892-7D91-1F6BD2F16257}"/>
                </a:ext>
              </a:extLst>
            </p:cNvPr>
            <p:cNvSpPr/>
            <p:nvPr/>
          </p:nvSpPr>
          <p:spPr>
            <a:xfrm>
              <a:off x="2189465" y="4596783"/>
              <a:ext cx="70300" cy="91870"/>
            </a:xfrm>
            <a:custGeom>
              <a:avLst/>
              <a:gdLst/>
              <a:ahLst/>
              <a:cxnLst/>
              <a:rect l="0" t="0" r="0" b="0"/>
              <a:pathLst>
                <a:path w="70300" h="91870">
                  <a:moveTo>
                    <a:pt x="70300" y="0"/>
                  </a:moveTo>
                  <a:lnTo>
                    <a:pt x="0" y="22368"/>
                  </a:lnTo>
                  <a:lnTo>
                    <a:pt x="22368" y="91870"/>
                  </a:lnTo>
                </a:path>
              </a:pathLst>
            </a:custGeom>
            <a:noFill/>
            <a:ln w="11982">
              <a:solidFill>
                <a:srgbClr val="F4F4F4"/>
              </a:solidFill>
            </a:ln>
          </p:spPr>
          <p:txBody>
            <a:bodyPr rtlCol="0" anchor="ctr"/>
            <a:lstStyle/>
            <a:p>
              <a:pPr algn="ctr"/>
              <a:endParaRPr/>
            </a:p>
          </p:txBody>
        </p:sp>
      </p:grpSp>
      <p:sp>
        <p:nvSpPr>
          <p:cNvPr id="18" name="Rounded Rectangle 13">
            <a:extLst>
              <a:ext uri="{FF2B5EF4-FFF2-40B4-BE49-F238E27FC236}">
                <a16:creationId xmlns:a16="http://schemas.microsoft.com/office/drawing/2014/main" id="{BDABDF5D-0AEC-7EC1-5F30-4F35CADD89F5}"/>
              </a:ext>
            </a:extLst>
          </p:cNvPr>
          <p:cNvSpPr/>
          <p:nvPr/>
        </p:nvSpPr>
        <p:spPr>
          <a:xfrm>
            <a:off x="5467595" y="5047019"/>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F79438"/>
            </a:solidFill>
          </a:ln>
        </p:spPr>
        <p:txBody>
          <a:bodyPr rtlCol="0" anchor="ctr"/>
          <a:lstStyle/>
          <a:p>
            <a:pPr algn="ctr"/>
            <a:endParaRPr/>
          </a:p>
        </p:txBody>
      </p:sp>
      <p:grpSp>
        <p:nvGrpSpPr>
          <p:cNvPr id="19" name="Group 18">
            <a:extLst>
              <a:ext uri="{FF2B5EF4-FFF2-40B4-BE49-F238E27FC236}">
                <a16:creationId xmlns:a16="http://schemas.microsoft.com/office/drawing/2014/main" id="{670BBDDA-B24F-2D2C-E69B-304BCD7D706C}"/>
              </a:ext>
            </a:extLst>
          </p:cNvPr>
          <p:cNvGrpSpPr/>
          <p:nvPr/>
        </p:nvGrpSpPr>
        <p:grpSpPr>
          <a:xfrm>
            <a:off x="6163332" y="5146213"/>
            <a:ext cx="303891" cy="162968"/>
            <a:chOff x="3284078" y="4605091"/>
            <a:chExt cx="303891" cy="162968"/>
          </a:xfrm>
        </p:grpSpPr>
        <p:sp>
          <p:nvSpPr>
            <p:cNvPr id="20" name="Rounded Rectangle 14">
              <a:extLst>
                <a:ext uri="{FF2B5EF4-FFF2-40B4-BE49-F238E27FC236}">
                  <a16:creationId xmlns:a16="http://schemas.microsoft.com/office/drawing/2014/main" id="{97AB9C84-5E70-440B-4A02-356453A691E2}"/>
                </a:ext>
              </a:extLst>
            </p:cNvPr>
            <p:cNvSpPr/>
            <p:nvPr/>
          </p:nvSpPr>
          <p:spPr>
            <a:xfrm>
              <a:off x="3287274" y="4605091"/>
              <a:ext cx="300695" cy="128538"/>
            </a:xfrm>
            <a:custGeom>
              <a:avLst/>
              <a:gdLst/>
              <a:ahLst/>
              <a:cxnLst/>
              <a:rect l="0" t="0" r="0" b="0"/>
              <a:pathLst>
                <a:path w="300695" h="128538">
                  <a:moveTo>
                    <a:pt x="0" y="128538"/>
                  </a:moveTo>
                  <a:cubicBezTo>
                    <a:pt x="105930" y="97062"/>
                    <a:pt x="206588" y="53684"/>
                    <a:pt x="300695" y="0"/>
                  </a:cubicBezTo>
                </a:path>
              </a:pathLst>
            </a:custGeom>
            <a:noFill/>
            <a:ln w="11982">
              <a:solidFill>
                <a:srgbClr val="F4F4F4"/>
              </a:solidFill>
            </a:ln>
          </p:spPr>
          <p:txBody>
            <a:bodyPr rtlCol="0" anchor="ctr"/>
            <a:lstStyle/>
            <a:p>
              <a:pPr algn="ctr"/>
              <a:endParaRPr/>
            </a:p>
          </p:txBody>
        </p:sp>
        <p:sp>
          <p:nvSpPr>
            <p:cNvPr id="21" name="Rounded Rectangle 15">
              <a:extLst>
                <a:ext uri="{FF2B5EF4-FFF2-40B4-BE49-F238E27FC236}">
                  <a16:creationId xmlns:a16="http://schemas.microsoft.com/office/drawing/2014/main" id="{8D687784-1AFE-4B69-2BCF-4A5038CF4B36}"/>
                </a:ext>
              </a:extLst>
            </p:cNvPr>
            <p:cNvSpPr/>
            <p:nvPr/>
          </p:nvSpPr>
          <p:spPr>
            <a:xfrm>
              <a:off x="3284078" y="4669000"/>
              <a:ext cx="64708" cy="99059"/>
            </a:xfrm>
            <a:custGeom>
              <a:avLst/>
              <a:gdLst/>
              <a:ahLst/>
              <a:cxnLst/>
              <a:rect l="0" t="0" r="0" b="0"/>
              <a:pathLst>
                <a:path w="64708" h="99059">
                  <a:moveTo>
                    <a:pt x="33552" y="0"/>
                  </a:moveTo>
                  <a:lnTo>
                    <a:pt x="0" y="65507"/>
                  </a:lnTo>
                  <a:lnTo>
                    <a:pt x="64708" y="99059"/>
                  </a:lnTo>
                </a:path>
              </a:pathLst>
            </a:custGeom>
            <a:noFill/>
            <a:ln w="11982">
              <a:solidFill>
                <a:srgbClr val="F4F4F4"/>
              </a:solidFill>
            </a:ln>
          </p:spPr>
          <p:txBody>
            <a:bodyPr rtlCol="0" anchor="ctr"/>
            <a:lstStyle/>
            <a:p>
              <a:pPr algn="ctr"/>
              <a:endParaRPr/>
            </a:p>
          </p:txBody>
        </p:sp>
      </p:grpSp>
      <p:sp>
        <p:nvSpPr>
          <p:cNvPr id="22" name="Rounded Rectangle 17">
            <a:extLst>
              <a:ext uri="{FF2B5EF4-FFF2-40B4-BE49-F238E27FC236}">
                <a16:creationId xmlns:a16="http://schemas.microsoft.com/office/drawing/2014/main" id="{4CA0EC38-9F0E-7F61-63B9-194B119B261B}"/>
              </a:ext>
            </a:extLst>
          </p:cNvPr>
          <p:cNvSpPr/>
          <p:nvPr/>
        </p:nvSpPr>
        <p:spPr>
          <a:xfrm>
            <a:off x="6484385" y="4626229"/>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FFE711"/>
            </a:solidFill>
          </a:ln>
        </p:spPr>
        <p:txBody>
          <a:bodyPr rtlCol="0" anchor="ctr"/>
          <a:lstStyle/>
          <a:p>
            <a:pPr algn="ctr"/>
            <a:endParaRPr/>
          </a:p>
        </p:txBody>
      </p:sp>
      <p:grpSp>
        <p:nvGrpSpPr>
          <p:cNvPr id="23" name="Group 22">
            <a:extLst>
              <a:ext uri="{FF2B5EF4-FFF2-40B4-BE49-F238E27FC236}">
                <a16:creationId xmlns:a16="http://schemas.microsoft.com/office/drawing/2014/main" id="{D144D14C-FAEA-C39A-7DAC-3B2F77E93A90}"/>
              </a:ext>
            </a:extLst>
          </p:cNvPr>
          <p:cNvGrpSpPr/>
          <p:nvPr/>
        </p:nvGrpSpPr>
        <p:grpSpPr>
          <a:xfrm>
            <a:off x="6996395" y="4277601"/>
            <a:ext cx="145873" cy="305966"/>
            <a:chOff x="4117141" y="3736479"/>
            <a:chExt cx="145873" cy="305966"/>
          </a:xfrm>
        </p:grpSpPr>
        <p:sp>
          <p:nvSpPr>
            <p:cNvPr id="24" name="Rounded Rectangle 18">
              <a:extLst>
                <a:ext uri="{FF2B5EF4-FFF2-40B4-BE49-F238E27FC236}">
                  <a16:creationId xmlns:a16="http://schemas.microsoft.com/office/drawing/2014/main" id="{1E41B0D3-15B1-3CC7-73E1-9C5AB8DD6B14}"/>
                </a:ext>
              </a:extLst>
            </p:cNvPr>
            <p:cNvSpPr/>
            <p:nvPr/>
          </p:nvSpPr>
          <p:spPr>
            <a:xfrm>
              <a:off x="4141906" y="3736479"/>
              <a:ext cx="121108" cy="302133"/>
            </a:xfrm>
            <a:custGeom>
              <a:avLst/>
              <a:gdLst/>
              <a:ahLst/>
              <a:cxnLst/>
              <a:rect l="0" t="0" r="0" b="0"/>
              <a:pathLst>
                <a:path w="121108" h="302133">
                  <a:moveTo>
                    <a:pt x="0" y="302133"/>
                  </a:moveTo>
                  <a:cubicBezTo>
                    <a:pt x="51207" y="207307"/>
                    <a:pt x="92029" y="106090"/>
                    <a:pt x="121108" y="0"/>
                  </a:cubicBezTo>
                </a:path>
              </a:pathLst>
            </a:custGeom>
            <a:noFill/>
            <a:ln w="11982">
              <a:solidFill>
                <a:srgbClr val="F4F4F4"/>
              </a:solidFill>
            </a:ln>
          </p:spPr>
          <p:txBody>
            <a:bodyPr rtlCol="0" anchor="ctr"/>
            <a:lstStyle/>
            <a:p>
              <a:pPr algn="ctr"/>
              <a:endParaRPr/>
            </a:p>
          </p:txBody>
        </p:sp>
        <p:sp>
          <p:nvSpPr>
            <p:cNvPr id="25" name="Rounded Rectangle 19">
              <a:extLst>
                <a:ext uri="{FF2B5EF4-FFF2-40B4-BE49-F238E27FC236}">
                  <a16:creationId xmlns:a16="http://schemas.microsoft.com/office/drawing/2014/main" id="{A0EF6442-7F5F-6C09-9E9F-26DEC1DB8718}"/>
                </a:ext>
              </a:extLst>
            </p:cNvPr>
            <p:cNvSpPr/>
            <p:nvPr/>
          </p:nvSpPr>
          <p:spPr>
            <a:xfrm>
              <a:off x="4117141" y="3972944"/>
              <a:ext cx="91870" cy="69501"/>
            </a:xfrm>
            <a:custGeom>
              <a:avLst/>
              <a:gdLst/>
              <a:ahLst/>
              <a:cxnLst/>
              <a:rect l="0" t="0" r="0" b="0"/>
              <a:pathLst>
                <a:path w="91870" h="69501">
                  <a:moveTo>
                    <a:pt x="0" y="0"/>
                  </a:moveTo>
                  <a:lnTo>
                    <a:pt x="22368" y="69501"/>
                  </a:lnTo>
                  <a:lnTo>
                    <a:pt x="91870" y="47133"/>
                  </a:lnTo>
                </a:path>
              </a:pathLst>
            </a:custGeom>
            <a:noFill/>
            <a:ln w="11982">
              <a:solidFill>
                <a:srgbClr val="F4F4F4"/>
              </a:solidFill>
            </a:ln>
          </p:spPr>
          <p:txBody>
            <a:bodyPr rtlCol="0" anchor="ctr"/>
            <a:lstStyle/>
            <a:p>
              <a:pPr algn="ctr"/>
              <a:endParaRPr/>
            </a:p>
          </p:txBody>
        </p:sp>
      </p:grpSp>
      <p:sp>
        <p:nvSpPr>
          <p:cNvPr id="26" name="Rounded Rectangle 21">
            <a:extLst>
              <a:ext uri="{FF2B5EF4-FFF2-40B4-BE49-F238E27FC236}">
                <a16:creationId xmlns:a16="http://schemas.microsoft.com/office/drawing/2014/main" id="{D557E756-4B92-C794-6BE6-5316647E372F}"/>
              </a:ext>
            </a:extLst>
          </p:cNvPr>
          <p:cNvSpPr/>
          <p:nvPr/>
        </p:nvSpPr>
        <p:spPr>
          <a:xfrm>
            <a:off x="6905563" y="3610387"/>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A6DA37"/>
            </a:solidFill>
          </a:ln>
        </p:spPr>
        <p:txBody>
          <a:bodyPr rtlCol="0" anchor="ctr"/>
          <a:lstStyle/>
          <a:p>
            <a:pPr algn="ctr"/>
            <a:endParaRPr/>
          </a:p>
        </p:txBody>
      </p:sp>
      <p:grpSp>
        <p:nvGrpSpPr>
          <p:cNvPr id="27" name="Group 26">
            <a:extLst>
              <a:ext uri="{FF2B5EF4-FFF2-40B4-BE49-F238E27FC236}">
                <a16:creationId xmlns:a16="http://schemas.microsoft.com/office/drawing/2014/main" id="{F98D41F3-A577-B105-82F9-418F59D68AC3}"/>
              </a:ext>
            </a:extLst>
          </p:cNvPr>
          <p:cNvGrpSpPr/>
          <p:nvPr/>
        </p:nvGrpSpPr>
        <p:grpSpPr>
          <a:xfrm>
            <a:off x="7004703" y="3186422"/>
            <a:ext cx="162969" cy="303571"/>
            <a:chOff x="4125449" y="2645300"/>
            <a:chExt cx="162969" cy="303571"/>
          </a:xfrm>
        </p:grpSpPr>
        <p:sp>
          <p:nvSpPr>
            <p:cNvPr id="28" name="Rounded Rectangle 22">
              <a:extLst>
                <a:ext uri="{FF2B5EF4-FFF2-40B4-BE49-F238E27FC236}">
                  <a16:creationId xmlns:a16="http://schemas.microsoft.com/office/drawing/2014/main" id="{82843308-EFBD-EF09-4188-7AB7826C9347}"/>
                </a:ext>
              </a:extLst>
            </p:cNvPr>
            <p:cNvSpPr/>
            <p:nvPr/>
          </p:nvSpPr>
          <p:spPr>
            <a:xfrm>
              <a:off x="4125449" y="2645300"/>
              <a:ext cx="128538" cy="300215"/>
            </a:xfrm>
            <a:custGeom>
              <a:avLst/>
              <a:gdLst/>
              <a:ahLst/>
              <a:cxnLst/>
              <a:rect l="0" t="0" r="0" b="0"/>
              <a:pathLst>
                <a:path w="128538" h="300215">
                  <a:moveTo>
                    <a:pt x="128538" y="300215"/>
                  </a:moveTo>
                  <a:cubicBezTo>
                    <a:pt x="96982" y="194525"/>
                    <a:pt x="53684" y="93947"/>
                    <a:pt x="0" y="0"/>
                  </a:cubicBezTo>
                </a:path>
              </a:pathLst>
            </a:custGeom>
            <a:noFill/>
            <a:ln w="11982">
              <a:solidFill>
                <a:srgbClr val="F4F4F4"/>
              </a:solidFill>
            </a:ln>
          </p:spPr>
          <p:txBody>
            <a:bodyPr rtlCol="0" anchor="ctr"/>
            <a:lstStyle/>
            <a:p>
              <a:pPr algn="ctr"/>
              <a:endParaRPr/>
            </a:p>
          </p:txBody>
        </p:sp>
        <p:sp>
          <p:nvSpPr>
            <p:cNvPr id="29" name="Rounded Rectangle 23">
              <a:extLst>
                <a:ext uri="{FF2B5EF4-FFF2-40B4-BE49-F238E27FC236}">
                  <a16:creationId xmlns:a16="http://schemas.microsoft.com/office/drawing/2014/main" id="{A60E06DE-4FA5-7728-B261-92A4EA8C28C5}"/>
                </a:ext>
              </a:extLst>
            </p:cNvPr>
            <p:cNvSpPr/>
            <p:nvPr/>
          </p:nvSpPr>
          <p:spPr>
            <a:xfrm>
              <a:off x="4189359" y="2883364"/>
              <a:ext cx="99059" cy="65507"/>
            </a:xfrm>
            <a:custGeom>
              <a:avLst/>
              <a:gdLst/>
              <a:ahLst/>
              <a:cxnLst/>
              <a:rect l="0" t="0" r="0" b="0"/>
              <a:pathLst>
                <a:path w="99059" h="65507">
                  <a:moveTo>
                    <a:pt x="0" y="31954"/>
                  </a:moveTo>
                  <a:lnTo>
                    <a:pt x="65507" y="65507"/>
                  </a:lnTo>
                  <a:lnTo>
                    <a:pt x="99059" y="0"/>
                  </a:lnTo>
                </a:path>
              </a:pathLst>
            </a:custGeom>
            <a:noFill/>
            <a:ln w="11982">
              <a:solidFill>
                <a:srgbClr val="F4F4F4"/>
              </a:solidFill>
            </a:ln>
          </p:spPr>
          <p:txBody>
            <a:bodyPr rtlCol="0" anchor="ctr"/>
            <a:lstStyle/>
            <a:p>
              <a:pPr algn="ctr"/>
              <a:endParaRPr/>
            </a:p>
          </p:txBody>
        </p:sp>
      </p:grpSp>
      <p:sp>
        <p:nvSpPr>
          <p:cNvPr id="30" name="Rounded Rectangle 25">
            <a:extLst>
              <a:ext uri="{FF2B5EF4-FFF2-40B4-BE49-F238E27FC236}">
                <a16:creationId xmlns:a16="http://schemas.microsoft.com/office/drawing/2014/main" id="{0564A842-C35E-C707-F54A-82F99790D4A4}"/>
              </a:ext>
            </a:extLst>
          </p:cNvPr>
          <p:cNvSpPr/>
          <p:nvPr/>
        </p:nvSpPr>
        <p:spPr>
          <a:xfrm>
            <a:off x="6484385" y="2594526"/>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43DD93"/>
            </a:solidFill>
          </a:ln>
        </p:spPr>
        <p:txBody>
          <a:bodyPr rtlCol="0" anchor="ctr"/>
          <a:lstStyle/>
          <a:p>
            <a:pPr algn="ctr"/>
            <a:endParaRPr/>
          </a:p>
        </p:txBody>
      </p:sp>
      <p:grpSp>
        <p:nvGrpSpPr>
          <p:cNvPr id="31" name="Group 30">
            <a:extLst>
              <a:ext uri="{FF2B5EF4-FFF2-40B4-BE49-F238E27FC236}">
                <a16:creationId xmlns:a16="http://schemas.microsoft.com/office/drawing/2014/main" id="{A76B3768-9B05-36CB-5D1F-B16AC843890D}"/>
              </a:ext>
            </a:extLst>
          </p:cNvPr>
          <p:cNvGrpSpPr/>
          <p:nvPr/>
        </p:nvGrpSpPr>
        <p:grpSpPr>
          <a:xfrm>
            <a:off x="6135371" y="2512096"/>
            <a:ext cx="305967" cy="146193"/>
            <a:chOff x="3256117" y="1970974"/>
            <a:chExt cx="305967" cy="146193"/>
          </a:xfrm>
        </p:grpSpPr>
        <p:sp>
          <p:nvSpPr>
            <p:cNvPr id="32" name="Rounded Rectangle 26">
              <a:extLst>
                <a:ext uri="{FF2B5EF4-FFF2-40B4-BE49-F238E27FC236}">
                  <a16:creationId xmlns:a16="http://schemas.microsoft.com/office/drawing/2014/main" id="{C062A494-FDF2-A90E-8786-20F46F6A5576}"/>
                </a:ext>
              </a:extLst>
            </p:cNvPr>
            <p:cNvSpPr/>
            <p:nvPr/>
          </p:nvSpPr>
          <p:spPr>
            <a:xfrm>
              <a:off x="3256117" y="1970974"/>
              <a:ext cx="302212" cy="120949"/>
            </a:xfrm>
            <a:custGeom>
              <a:avLst/>
              <a:gdLst/>
              <a:ahLst/>
              <a:cxnLst/>
              <a:rect l="0" t="0" r="0" b="0"/>
              <a:pathLst>
                <a:path w="302212" h="120949">
                  <a:moveTo>
                    <a:pt x="302212" y="120949"/>
                  </a:moveTo>
                  <a:cubicBezTo>
                    <a:pt x="207386" y="69821"/>
                    <a:pt x="106169" y="28999"/>
                    <a:pt x="0" y="0"/>
                  </a:cubicBezTo>
                </a:path>
              </a:pathLst>
            </a:custGeom>
            <a:noFill/>
            <a:ln w="11982">
              <a:solidFill>
                <a:srgbClr val="F4F4F4"/>
              </a:solidFill>
            </a:ln>
          </p:spPr>
          <p:txBody>
            <a:bodyPr rtlCol="0" anchor="ctr"/>
            <a:lstStyle/>
            <a:p>
              <a:pPr algn="ctr"/>
              <a:endParaRPr/>
            </a:p>
          </p:txBody>
        </p:sp>
        <p:sp>
          <p:nvSpPr>
            <p:cNvPr id="33" name="Rounded Rectangle 27">
              <a:extLst>
                <a:ext uri="{FF2B5EF4-FFF2-40B4-BE49-F238E27FC236}">
                  <a16:creationId xmlns:a16="http://schemas.microsoft.com/office/drawing/2014/main" id="{4A0AFFF4-CC73-CB0F-2537-4080E1ADE9D9}"/>
                </a:ext>
              </a:extLst>
            </p:cNvPr>
            <p:cNvSpPr/>
            <p:nvPr/>
          </p:nvSpPr>
          <p:spPr>
            <a:xfrm>
              <a:off x="3492583" y="2024498"/>
              <a:ext cx="69501" cy="92669"/>
            </a:xfrm>
            <a:custGeom>
              <a:avLst/>
              <a:gdLst/>
              <a:ahLst/>
              <a:cxnLst/>
              <a:rect l="0" t="0" r="0" b="0"/>
              <a:pathLst>
                <a:path w="69501" h="92669">
                  <a:moveTo>
                    <a:pt x="0" y="92669"/>
                  </a:moveTo>
                  <a:lnTo>
                    <a:pt x="69501" y="70300"/>
                  </a:lnTo>
                  <a:lnTo>
                    <a:pt x="47133" y="0"/>
                  </a:lnTo>
                </a:path>
              </a:pathLst>
            </a:custGeom>
            <a:noFill/>
            <a:ln w="11982">
              <a:solidFill>
                <a:srgbClr val="F4F4F4"/>
              </a:solidFill>
            </a:ln>
          </p:spPr>
          <p:txBody>
            <a:bodyPr rtlCol="0" anchor="ctr"/>
            <a:lstStyle/>
            <a:p>
              <a:pPr algn="ctr"/>
              <a:endParaRPr/>
            </a:p>
          </p:txBody>
        </p:sp>
      </p:grpSp>
      <p:sp>
        <p:nvSpPr>
          <p:cNvPr id="34" name="Rounded Rectangle 29">
            <a:extLst>
              <a:ext uri="{FF2B5EF4-FFF2-40B4-BE49-F238E27FC236}">
                <a16:creationId xmlns:a16="http://schemas.microsoft.com/office/drawing/2014/main" id="{E1A72C70-917A-876B-2B66-A0FDDF5C3242}"/>
              </a:ext>
            </a:extLst>
          </p:cNvPr>
          <p:cNvSpPr/>
          <p:nvPr/>
        </p:nvSpPr>
        <p:spPr>
          <a:xfrm>
            <a:off x="5467595" y="2170551"/>
            <a:ext cx="575187" cy="575187"/>
          </a:xfrm>
          <a:custGeom>
            <a:avLst/>
            <a:gdLst/>
            <a:ahLst/>
            <a:cxnLst/>
            <a:rect l="0" t="0" r="0" b="0"/>
            <a:pathLst>
              <a:path w="575187" h="575187">
                <a:moveTo>
                  <a:pt x="0" y="287593"/>
                </a:moveTo>
                <a:cubicBezTo>
                  <a:pt x="0" y="446427"/>
                  <a:pt x="128760" y="575187"/>
                  <a:pt x="287593" y="575187"/>
                </a:cubicBezTo>
                <a:cubicBezTo>
                  <a:pt x="446427" y="575187"/>
                  <a:pt x="575187" y="446427"/>
                  <a:pt x="575187" y="287593"/>
                </a:cubicBezTo>
                <a:cubicBezTo>
                  <a:pt x="575187" y="128760"/>
                  <a:pt x="446427" y="0"/>
                  <a:pt x="287593" y="0"/>
                </a:cubicBezTo>
                <a:cubicBezTo>
                  <a:pt x="128760" y="0"/>
                  <a:pt x="0" y="128760"/>
                  <a:pt x="0" y="287593"/>
                </a:cubicBezTo>
              </a:path>
            </a:pathLst>
          </a:custGeom>
          <a:noFill/>
          <a:ln w="11982">
            <a:solidFill>
              <a:srgbClr val="1AC3FB"/>
            </a:solidFill>
          </a:ln>
        </p:spPr>
        <p:txBody>
          <a:bodyPr rtlCol="0" anchor="ctr"/>
          <a:lstStyle/>
          <a:p>
            <a:pPr algn="ctr"/>
            <a:endParaRPr/>
          </a:p>
        </p:txBody>
      </p:sp>
      <p:grpSp>
        <p:nvGrpSpPr>
          <p:cNvPr id="35" name="Group 34">
            <a:extLst>
              <a:ext uri="{FF2B5EF4-FFF2-40B4-BE49-F238E27FC236}">
                <a16:creationId xmlns:a16="http://schemas.microsoft.com/office/drawing/2014/main" id="{F5999051-FF1D-23B9-C1C5-A0DAB370E227}"/>
              </a:ext>
            </a:extLst>
          </p:cNvPr>
          <p:cNvGrpSpPr/>
          <p:nvPr/>
        </p:nvGrpSpPr>
        <p:grpSpPr>
          <a:xfrm>
            <a:off x="5043075" y="2486852"/>
            <a:ext cx="303571" cy="162730"/>
            <a:chOff x="2163821" y="1945730"/>
            <a:chExt cx="303571" cy="162730"/>
          </a:xfrm>
        </p:grpSpPr>
        <p:sp>
          <p:nvSpPr>
            <p:cNvPr id="36" name="Rounded Rectangle 30">
              <a:extLst>
                <a:ext uri="{FF2B5EF4-FFF2-40B4-BE49-F238E27FC236}">
                  <a16:creationId xmlns:a16="http://schemas.microsoft.com/office/drawing/2014/main" id="{8DBBF021-674B-59E6-D8EC-0E61DA26B6D4}"/>
                </a:ext>
              </a:extLst>
            </p:cNvPr>
            <p:cNvSpPr/>
            <p:nvPr/>
          </p:nvSpPr>
          <p:spPr>
            <a:xfrm>
              <a:off x="2163821" y="1980082"/>
              <a:ext cx="300215" cy="128378"/>
            </a:xfrm>
            <a:custGeom>
              <a:avLst/>
              <a:gdLst/>
              <a:ahLst/>
              <a:cxnLst/>
              <a:rect l="0" t="0" r="0" b="0"/>
              <a:pathLst>
                <a:path w="300215" h="128378">
                  <a:moveTo>
                    <a:pt x="300215" y="0"/>
                  </a:moveTo>
                  <a:cubicBezTo>
                    <a:pt x="194525" y="31475"/>
                    <a:pt x="93947" y="74774"/>
                    <a:pt x="0" y="128378"/>
                  </a:cubicBezTo>
                </a:path>
              </a:pathLst>
            </a:custGeom>
            <a:noFill/>
            <a:ln w="11982">
              <a:solidFill>
                <a:srgbClr val="F4F4F4"/>
              </a:solidFill>
            </a:ln>
          </p:spPr>
          <p:txBody>
            <a:bodyPr rtlCol="0" anchor="ctr"/>
            <a:lstStyle/>
            <a:p>
              <a:pPr algn="ctr"/>
              <a:endParaRPr/>
            </a:p>
          </p:txBody>
        </p:sp>
        <p:sp>
          <p:nvSpPr>
            <p:cNvPr id="37" name="Rounded Rectangle 31">
              <a:extLst>
                <a:ext uri="{FF2B5EF4-FFF2-40B4-BE49-F238E27FC236}">
                  <a16:creationId xmlns:a16="http://schemas.microsoft.com/office/drawing/2014/main" id="{A6D5B629-0D66-C876-DB7E-AACAD5540FA6}"/>
                </a:ext>
              </a:extLst>
            </p:cNvPr>
            <p:cNvSpPr/>
            <p:nvPr/>
          </p:nvSpPr>
          <p:spPr>
            <a:xfrm>
              <a:off x="2401885" y="1945730"/>
              <a:ext cx="65507" cy="99059"/>
            </a:xfrm>
            <a:custGeom>
              <a:avLst/>
              <a:gdLst/>
              <a:ahLst/>
              <a:cxnLst/>
              <a:rect l="0" t="0" r="0" b="0"/>
              <a:pathLst>
                <a:path w="65507" h="99059">
                  <a:moveTo>
                    <a:pt x="31954" y="99059"/>
                  </a:moveTo>
                  <a:lnTo>
                    <a:pt x="65507" y="33552"/>
                  </a:lnTo>
                  <a:lnTo>
                    <a:pt x="0" y="0"/>
                  </a:lnTo>
                </a:path>
              </a:pathLst>
            </a:custGeom>
            <a:noFill/>
            <a:ln w="11982">
              <a:solidFill>
                <a:srgbClr val="F4F4F4"/>
              </a:solidFill>
            </a:ln>
          </p:spPr>
          <p:txBody>
            <a:bodyPr rtlCol="0" anchor="ctr"/>
            <a:lstStyle/>
            <a:p>
              <a:pPr algn="ctr"/>
              <a:endParaRPr/>
            </a:p>
          </p:txBody>
        </p:sp>
      </p:grpSp>
      <p:sp>
        <p:nvSpPr>
          <p:cNvPr id="38" name="Rounded Rectangle 33">
            <a:extLst>
              <a:ext uri="{FF2B5EF4-FFF2-40B4-BE49-F238E27FC236}">
                <a16:creationId xmlns:a16="http://schemas.microsoft.com/office/drawing/2014/main" id="{89C58AA2-ECEC-7131-52E8-4E99124C4749}"/>
              </a:ext>
            </a:extLst>
          </p:cNvPr>
          <p:cNvSpPr/>
          <p:nvPr/>
        </p:nvSpPr>
        <p:spPr>
          <a:xfrm>
            <a:off x="5084137" y="3225328"/>
            <a:ext cx="1342103" cy="1342103"/>
          </a:xfrm>
          <a:custGeom>
            <a:avLst/>
            <a:gdLst/>
            <a:ahLst/>
            <a:cxnLst/>
            <a:rect l="0" t="0" r="0" b="0"/>
            <a:pathLst>
              <a:path w="1342103" h="1342103">
                <a:moveTo>
                  <a:pt x="0" y="671051"/>
                </a:moveTo>
                <a:cubicBezTo>
                  <a:pt x="0" y="1041663"/>
                  <a:pt x="300440" y="1342103"/>
                  <a:pt x="671051" y="1342103"/>
                </a:cubicBezTo>
                <a:cubicBezTo>
                  <a:pt x="1041663" y="1342103"/>
                  <a:pt x="1342103" y="1041663"/>
                  <a:pt x="1342103" y="671051"/>
                </a:cubicBezTo>
                <a:cubicBezTo>
                  <a:pt x="1342103" y="300440"/>
                  <a:pt x="1041663" y="0"/>
                  <a:pt x="671051" y="0"/>
                </a:cubicBezTo>
                <a:cubicBezTo>
                  <a:pt x="300440" y="0"/>
                  <a:pt x="0" y="300440"/>
                  <a:pt x="0" y="671051"/>
                </a:cubicBezTo>
              </a:path>
            </a:pathLst>
          </a:custGeom>
          <a:noFill/>
          <a:ln w="11982">
            <a:solidFill>
              <a:srgbClr val="F4F4F4"/>
            </a:solidFill>
          </a:ln>
        </p:spPr>
        <p:txBody>
          <a:bodyPr rtlCol="0" anchor="ctr"/>
          <a:lstStyle/>
          <a:p>
            <a:pPr algn="ctr"/>
            <a:endParaRPr/>
          </a:p>
        </p:txBody>
      </p:sp>
      <p:sp>
        <p:nvSpPr>
          <p:cNvPr id="39" name="TextBox 38">
            <a:extLst>
              <a:ext uri="{FF2B5EF4-FFF2-40B4-BE49-F238E27FC236}">
                <a16:creationId xmlns:a16="http://schemas.microsoft.com/office/drawing/2014/main" id="{C365F0EA-A8B6-93FF-D5CA-AD086C40DA9D}"/>
              </a:ext>
            </a:extLst>
          </p:cNvPr>
          <p:cNvSpPr txBox="1"/>
          <p:nvPr/>
        </p:nvSpPr>
        <p:spPr>
          <a:xfrm>
            <a:off x="3124906" y="3720628"/>
            <a:ext cx="792879" cy="469736"/>
          </a:xfrm>
          <a:prstGeom prst="rect">
            <a:avLst/>
          </a:prstGeom>
          <a:noFill/>
          <a:ln>
            <a:noFill/>
          </a:ln>
        </p:spPr>
        <p:txBody>
          <a:bodyPr wrap="none" lIns="0" tIns="0" rIns="0" bIns="0" anchor="t">
            <a:spAutoFit/>
          </a:bodyPr>
          <a:lstStyle/>
          <a:p>
            <a:pPr algn="r"/>
            <a:r>
              <a:rPr sz="1200" b="0">
                <a:solidFill>
                  <a:srgbClr val="F4F4F4"/>
                </a:solidFill>
                <a:latin typeface="Roboto"/>
              </a:rPr>
              <a:t>Iterate if
Unresolved</a:t>
            </a:r>
          </a:p>
        </p:txBody>
      </p:sp>
      <p:sp>
        <p:nvSpPr>
          <p:cNvPr id="40" name="TextBox 39">
            <a:extLst>
              <a:ext uri="{FF2B5EF4-FFF2-40B4-BE49-F238E27FC236}">
                <a16:creationId xmlns:a16="http://schemas.microsoft.com/office/drawing/2014/main" id="{26BC4641-A818-0579-4C48-8C77E48A16CA}"/>
              </a:ext>
            </a:extLst>
          </p:cNvPr>
          <p:cNvSpPr txBox="1"/>
          <p:nvPr/>
        </p:nvSpPr>
        <p:spPr>
          <a:xfrm>
            <a:off x="7592592" y="3816492"/>
            <a:ext cx="883375" cy="234868"/>
          </a:xfrm>
          <a:prstGeom prst="rect">
            <a:avLst/>
          </a:prstGeom>
          <a:noFill/>
          <a:ln>
            <a:noFill/>
          </a:ln>
        </p:spPr>
        <p:txBody>
          <a:bodyPr wrap="none" lIns="0" tIns="0" rIns="0" bIns="0" anchor="t">
            <a:spAutoFit/>
          </a:bodyPr>
          <a:lstStyle/>
          <a:p>
            <a:pPr algn="l"/>
            <a:r>
              <a:rPr sz="1200" b="0">
                <a:solidFill>
                  <a:srgbClr val="F4F4F4"/>
                </a:solidFill>
                <a:latin typeface="Roboto"/>
              </a:rPr>
              <a:t>Detect Issue</a:t>
            </a:r>
          </a:p>
        </p:txBody>
      </p:sp>
      <p:sp>
        <p:nvSpPr>
          <p:cNvPr id="41" name="TextBox 40">
            <a:extLst>
              <a:ext uri="{FF2B5EF4-FFF2-40B4-BE49-F238E27FC236}">
                <a16:creationId xmlns:a16="http://schemas.microsoft.com/office/drawing/2014/main" id="{273EDE21-7620-6515-D457-BDF08580DB6E}"/>
              </a:ext>
            </a:extLst>
          </p:cNvPr>
          <p:cNvSpPr txBox="1"/>
          <p:nvPr/>
        </p:nvSpPr>
        <p:spPr>
          <a:xfrm>
            <a:off x="5350089" y="4008300"/>
            <a:ext cx="810230" cy="469736"/>
          </a:xfrm>
          <a:prstGeom prst="rect">
            <a:avLst/>
          </a:prstGeom>
          <a:noFill/>
          <a:ln>
            <a:noFill/>
          </a:ln>
        </p:spPr>
        <p:txBody>
          <a:bodyPr wrap="none" lIns="0" tIns="0" rIns="0" bIns="0" anchor="t">
            <a:spAutoFit/>
          </a:bodyPr>
          <a:lstStyle/>
          <a:p>
            <a:pPr algn="ctr"/>
            <a:r>
              <a:rPr sz="1200" b="0">
                <a:solidFill>
                  <a:srgbClr val="4F91FC"/>
                </a:solidFill>
                <a:latin typeface="Roboto"/>
              </a:rPr>
              <a:t>Monitoring
Agent</a:t>
            </a:r>
          </a:p>
        </p:txBody>
      </p:sp>
      <p:sp>
        <p:nvSpPr>
          <p:cNvPr id="42" name="TextBox 41">
            <a:extLst>
              <a:ext uri="{FF2B5EF4-FFF2-40B4-BE49-F238E27FC236}">
                <a16:creationId xmlns:a16="http://schemas.microsoft.com/office/drawing/2014/main" id="{0A3DE066-7A01-ED74-B588-4168D020F148}"/>
              </a:ext>
            </a:extLst>
          </p:cNvPr>
          <p:cNvSpPr txBox="1"/>
          <p:nvPr/>
        </p:nvSpPr>
        <p:spPr>
          <a:xfrm>
            <a:off x="5354875" y="5733783"/>
            <a:ext cx="800620" cy="469736"/>
          </a:xfrm>
          <a:prstGeom prst="rect">
            <a:avLst/>
          </a:prstGeom>
          <a:noFill/>
          <a:ln>
            <a:noFill/>
          </a:ln>
        </p:spPr>
        <p:txBody>
          <a:bodyPr wrap="none" lIns="0" tIns="0" rIns="0" bIns="0" anchor="t">
            <a:spAutoFit/>
          </a:bodyPr>
          <a:lstStyle/>
          <a:p>
            <a:pPr algn="ctr"/>
            <a:r>
              <a:rPr sz="1200" b="0">
                <a:solidFill>
                  <a:srgbClr val="F4F4F4"/>
                </a:solidFill>
                <a:latin typeface="Roboto"/>
              </a:rPr>
              <a:t>Remediate
Issue</a:t>
            </a:r>
          </a:p>
        </p:txBody>
      </p:sp>
      <p:sp>
        <p:nvSpPr>
          <p:cNvPr id="43" name="TextBox 42">
            <a:extLst>
              <a:ext uri="{FF2B5EF4-FFF2-40B4-BE49-F238E27FC236}">
                <a16:creationId xmlns:a16="http://schemas.microsoft.com/office/drawing/2014/main" id="{E2ED4316-FB6E-3DB9-EC53-6FA3FD37AEE6}"/>
              </a:ext>
            </a:extLst>
          </p:cNvPr>
          <p:cNvSpPr txBox="1"/>
          <p:nvPr/>
        </p:nvSpPr>
        <p:spPr>
          <a:xfrm>
            <a:off x="7161202" y="2474389"/>
            <a:ext cx="868396" cy="469736"/>
          </a:xfrm>
          <a:prstGeom prst="rect">
            <a:avLst/>
          </a:prstGeom>
          <a:noFill/>
          <a:ln>
            <a:noFill/>
          </a:ln>
        </p:spPr>
        <p:txBody>
          <a:bodyPr wrap="none" lIns="0" tIns="0" rIns="0" bIns="0" anchor="t">
            <a:spAutoFit/>
          </a:bodyPr>
          <a:lstStyle/>
          <a:p>
            <a:pPr algn="l"/>
            <a:r>
              <a:rPr sz="1200" b="0">
                <a:solidFill>
                  <a:srgbClr val="F4F4F4"/>
                </a:solidFill>
                <a:latin typeface="Roboto"/>
              </a:rPr>
              <a:t>Orchestrate
Movement</a:t>
            </a:r>
          </a:p>
        </p:txBody>
      </p:sp>
      <p:sp>
        <p:nvSpPr>
          <p:cNvPr id="44" name="TextBox 43">
            <a:extLst>
              <a:ext uri="{FF2B5EF4-FFF2-40B4-BE49-F238E27FC236}">
                <a16:creationId xmlns:a16="http://schemas.microsoft.com/office/drawing/2014/main" id="{AB863751-9C09-F595-8229-A831EE726629}"/>
              </a:ext>
            </a:extLst>
          </p:cNvPr>
          <p:cNvSpPr txBox="1"/>
          <p:nvPr/>
        </p:nvSpPr>
        <p:spPr>
          <a:xfrm>
            <a:off x="3373036" y="2474389"/>
            <a:ext cx="976124" cy="469736"/>
          </a:xfrm>
          <a:prstGeom prst="rect">
            <a:avLst/>
          </a:prstGeom>
          <a:noFill/>
          <a:ln>
            <a:noFill/>
          </a:ln>
        </p:spPr>
        <p:txBody>
          <a:bodyPr wrap="none" lIns="0" tIns="0" rIns="0" bIns="0" anchor="t">
            <a:spAutoFit/>
          </a:bodyPr>
          <a:lstStyle/>
          <a:p>
            <a:pPr algn="r"/>
            <a:r>
              <a:rPr sz="1200" b="0">
                <a:solidFill>
                  <a:srgbClr val="F4F4F4"/>
                </a:solidFill>
                <a:latin typeface="Roboto"/>
              </a:rPr>
              <a:t>Handover to
Human Agent</a:t>
            </a:r>
          </a:p>
        </p:txBody>
      </p:sp>
      <p:sp>
        <p:nvSpPr>
          <p:cNvPr id="45" name="TextBox 44">
            <a:extLst>
              <a:ext uri="{FF2B5EF4-FFF2-40B4-BE49-F238E27FC236}">
                <a16:creationId xmlns:a16="http://schemas.microsoft.com/office/drawing/2014/main" id="{4D1636F4-C7C5-11E1-E216-537E6162E893}"/>
              </a:ext>
            </a:extLst>
          </p:cNvPr>
          <p:cNvSpPr txBox="1"/>
          <p:nvPr/>
        </p:nvSpPr>
        <p:spPr>
          <a:xfrm>
            <a:off x="3594962" y="4966867"/>
            <a:ext cx="754182" cy="469736"/>
          </a:xfrm>
          <a:prstGeom prst="rect">
            <a:avLst/>
          </a:prstGeom>
          <a:noFill/>
          <a:ln>
            <a:noFill/>
          </a:ln>
        </p:spPr>
        <p:txBody>
          <a:bodyPr wrap="none" lIns="0" tIns="0" rIns="0" bIns="0" anchor="t">
            <a:spAutoFit/>
          </a:bodyPr>
          <a:lstStyle/>
          <a:p>
            <a:pPr algn="r"/>
            <a:r>
              <a:rPr sz="1200" b="0">
                <a:solidFill>
                  <a:srgbClr val="F4F4F4"/>
                </a:solidFill>
                <a:latin typeface="Roboto"/>
              </a:rPr>
              <a:t>Verify
Resolution</a:t>
            </a:r>
          </a:p>
        </p:txBody>
      </p:sp>
      <p:sp>
        <p:nvSpPr>
          <p:cNvPr id="46" name="TextBox 45">
            <a:extLst>
              <a:ext uri="{FF2B5EF4-FFF2-40B4-BE49-F238E27FC236}">
                <a16:creationId xmlns:a16="http://schemas.microsoft.com/office/drawing/2014/main" id="{A73B4DC6-8BB5-8028-A6D2-E94A99D3076D}"/>
              </a:ext>
            </a:extLst>
          </p:cNvPr>
          <p:cNvSpPr txBox="1"/>
          <p:nvPr/>
        </p:nvSpPr>
        <p:spPr>
          <a:xfrm>
            <a:off x="7161202" y="4966867"/>
            <a:ext cx="1087710" cy="234868"/>
          </a:xfrm>
          <a:prstGeom prst="rect">
            <a:avLst/>
          </a:prstGeom>
          <a:noFill/>
          <a:ln>
            <a:noFill/>
          </a:ln>
        </p:spPr>
        <p:txBody>
          <a:bodyPr wrap="none" lIns="0" tIns="0" rIns="0" bIns="0" anchor="t">
            <a:spAutoFit/>
          </a:bodyPr>
          <a:lstStyle/>
          <a:p>
            <a:pPr algn="l"/>
            <a:r>
              <a:rPr sz="1200" b="0">
                <a:solidFill>
                  <a:srgbClr val="F4F4F4"/>
                </a:solidFill>
                <a:latin typeface="Roboto"/>
              </a:rPr>
              <a:t>Diagnose Issue</a:t>
            </a:r>
          </a:p>
        </p:txBody>
      </p:sp>
      <p:sp>
        <p:nvSpPr>
          <p:cNvPr id="47" name="TextBox 46">
            <a:extLst>
              <a:ext uri="{FF2B5EF4-FFF2-40B4-BE49-F238E27FC236}">
                <a16:creationId xmlns:a16="http://schemas.microsoft.com/office/drawing/2014/main" id="{555EC0DB-811B-39CE-7F28-77A505DB8D05}"/>
              </a:ext>
            </a:extLst>
          </p:cNvPr>
          <p:cNvSpPr txBox="1"/>
          <p:nvPr/>
        </p:nvSpPr>
        <p:spPr>
          <a:xfrm>
            <a:off x="5293042" y="1707473"/>
            <a:ext cx="924317" cy="469736"/>
          </a:xfrm>
          <a:prstGeom prst="rect">
            <a:avLst/>
          </a:prstGeom>
          <a:noFill/>
          <a:ln>
            <a:noFill/>
          </a:ln>
        </p:spPr>
        <p:txBody>
          <a:bodyPr wrap="none" lIns="0" tIns="0" rIns="0" bIns="0" anchor="t">
            <a:spAutoFit/>
          </a:bodyPr>
          <a:lstStyle/>
          <a:p>
            <a:pPr algn="ctr"/>
            <a:r>
              <a:rPr sz="1200" b="0">
                <a:solidFill>
                  <a:srgbClr val="F4F4F4"/>
                </a:solidFill>
                <a:latin typeface="Roboto"/>
              </a:rPr>
              <a:t>Monitor
Performance</a:t>
            </a:r>
          </a:p>
        </p:txBody>
      </p:sp>
      <p:sp>
        <p:nvSpPr>
          <p:cNvPr id="48" name="TextBox 47">
            <a:extLst>
              <a:ext uri="{FF2B5EF4-FFF2-40B4-BE49-F238E27FC236}">
                <a16:creationId xmlns:a16="http://schemas.microsoft.com/office/drawing/2014/main" id="{20AAA97F-3034-980A-828C-B9144E406FCE}"/>
              </a:ext>
            </a:extLst>
          </p:cNvPr>
          <p:cNvSpPr txBox="1"/>
          <p:nvPr/>
        </p:nvSpPr>
        <p:spPr>
          <a:xfrm>
            <a:off x="4704514" y="968517"/>
            <a:ext cx="2101406" cy="279604"/>
          </a:xfrm>
          <a:prstGeom prst="rect">
            <a:avLst/>
          </a:prstGeom>
          <a:noFill/>
          <a:ln>
            <a:noFill/>
          </a:ln>
        </p:spPr>
        <p:txBody>
          <a:bodyPr wrap="none" lIns="0" tIns="0" rIns="0" bIns="0" anchor="t">
            <a:spAutoFit/>
          </a:bodyPr>
          <a:lstStyle/>
          <a:p>
            <a:pPr algn="ctr"/>
            <a:r>
              <a:rPr sz="1500" b="1">
                <a:solidFill>
                  <a:srgbClr val="F4F4F4"/>
                </a:solidFill>
                <a:latin typeface="Roboto"/>
              </a:rPr>
              <a:t>Agent Interaction Cycle</a:t>
            </a:r>
          </a:p>
        </p:txBody>
      </p:sp>
      <p:sp>
        <p:nvSpPr>
          <p:cNvPr id="49" name="Rounded Rectangle 44">
            <a:extLst>
              <a:ext uri="{FF2B5EF4-FFF2-40B4-BE49-F238E27FC236}">
                <a16:creationId xmlns:a16="http://schemas.microsoft.com/office/drawing/2014/main" id="{3CDFDAB0-0E37-8687-F757-6C05D1AF0E93}"/>
              </a:ext>
            </a:extLst>
          </p:cNvPr>
          <p:cNvSpPr/>
          <p:nvPr/>
        </p:nvSpPr>
        <p:spPr>
          <a:xfrm>
            <a:off x="4133481" y="3712639"/>
            <a:ext cx="367480" cy="367480"/>
          </a:xfrm>
          <a:custGeom>
            <a:avLst/>
            <a:gdLst/>
            <a:ahLst/>
            <a:cxnLst/>
            <a:rect l="0" t="0" r="0" b="0"/>
            <a:pathLst>
              <a:path w="367480" h="367480">
                <a:moveTo>
                  <a:pt x="256980" y="87875"/>
                </a:moveTo>
                <a:lnTo>
                  <a:pt x="279604" y="110499"/>
                </a:lnTo>
                <a:cubicBezTo>
                  <a:pt x="282712" y="113617"/>
                  <a:pt x="282712" y="118662"/>
                  <a:pt x="279604" y="121779"/>
                </a:cubicBezTo>
                <a:lnTo>
                  <a:pt x="178100" y="223683"/>
                </a:lnTo>
                <a:lnTo>
                  <a:pt x="263627" y="223683"/>
                </a:lnTo>
                <a:cubicBezTo>
                  <a:pt x="268039" y="223683"/>
                  <a:pt x="271616" y="227260"/>
                  <a:pt x="271616" y="231672"/>
                </a:cubicBezTo>
                <a:lnTo>
                  <a:pt x="271616" y="263627"/>
                </a:lnTo>
                <a:cubicBezTo>
                  <a:pt x="271616" y="268039"/>
                  <a:pt x="268039" y="271616"/>
                  <a:pt x="263627" y="271616"/>
                </a:cubicBezTo>
                <a:lnTo>
                  <a:pt x="103853" y="271616"/>
                </a:lnTo>
                <a:cubicBezTo>
                  <a:pt x="99441" y="271616"/>
                  <a:pt x="95864" y="268039"/>
                  <a:pt x="95864" y="263627"/>
                </a:cubicBezTo>
                <a:lnTo>
                  <a:pt x="95864" y="103853"/>
                </a:lnTo>
                <a:cubicBezTo>
                  <a:pt x="95864" y="99441"/>
                  <a:pt x="99441" y="95864"/>
                  <a:pt x="103853" y="95864"/>
                </a:cubicBezTo>
                <a:lnTo>
                  <a:pt x="135808" y="95864"/>
                </a:lnTo>
                <a:cubicBezTo>
                  <a:pt x="140220" y="95864"/>
                  <a:pt x="143796" y="99441"/>
                  <a:pt x="143796" y="103853"/>
                </a:cubicBezTo>
                <a:lnTo>
                  <a:pt x="143796" y="189460"/>
                </a:lnTo>
                <a:lnTo>
                  <a:pt x="245700" y="87875"/>
                </a:lnTo>
                <a:cubicBezTo>
                  <a:pt x="248818" y="84767"/>
                  <a:pt x="253863" y="84767"/>
                  <a:pt x="256980" y="87875"/>
                </a:cubicBezTo>
                <a:close/>
                <a:moveTo>
                  <a:pt x="183740" y="0"/>
                </a:moveTo>
                <a:cubicBezTo>
                  <a:pt x="82263" y="0"/>
                  <a:pt x="0" y="82263"/>
                  <a:pt x="0" y="183740"/>
                </a:cubicBezTo>
                <a:cubicBezTo>
                  <a:pt x="0" y="285217"/>
                  <a:pt x="82263" y="367480"/>
                  <a:pt x="183740" y="367480"/>
                </a:cubicBezTo>
                <a:cubicBezTo>
                  <a:pt x="285217" y="367480"/>
                  <a:pt x="367480" y="285217"/>
                  <a:pt x="367480" y="183740"/>
                </a:cubicBezTo>
                <a:cubicBezTo>
                  <a:pt x="367480" y="82263"/>
                  <a:pt x="285217" y="0"/>
                  <a:pt x="183740" y="0"/>
                </a:cubicBezTo>
                <a:close/>
              </a:path>
            </a:pathLst>
          </a:custGeom>
          <a:noFill/>
          <a:ln w="11982">
            <a:solidFill>
              <a:srgbClr val="F366BB"/>
            </a:solidFill>
          </a:ln>
        </p:spPr>
        <p:txBody>
          <a:bodyPr rtlCol="0" anchor="ctr"/>
          <a:lstStyle/>
          <a:p>
            <a:pPr algn="ctr"/>
            <a:endParaRPr/>
          </a:p>
        </p:txBody>
      </p:sp>
      <p:sp>
        <p:nvSpPr>
          <p:cNvPr id="50" name="Rounded Rectangle 45">
            <a:extLst>
              <a:ext uri="{FF2B5EF4-FFF2-40B4-BE49-F238E27FC236}">
                <a16:creationId xmlns:a16="http://schemas.microsoft.com/office/drawing/2014/main" id="{9169F784-9D47-E935-FDBA-CB193D61EB04}"/>
              </a:ext>
            </a:extLst>
          </p:cNvPr>
          <p:cNvSpPr/>
          <p:nvPr/>
        </p:nvSpPr>
        <p:spPr>
          <a:xfrm>
            <a:off x="5535869" y="3456341"/>
            <a:ext cx="438635" cy="400366"/>
          </a:xfrm>
          <a:custGeom>
            <a:avLst/>
            <a:gdLst/>
            <a:ahLst/>
            <a:cxnLst/>
            <a:rect l="0" t="0" r="0" b="0"/>
            <a:pathLst>
              <a:path w="438635" h="400366">
                <a:moveTo>
                  <a:pt x="147421" y="195284"/>
                </a:moveTo>
                <a:cubicBezTo>
                  <a:pt x="147421" y="155576"/>
                  <a:pt x="179611" y="123386"/>
                  <a:pt x="219319" y="123386"/>
                </a:cubicBezTo>
                <a:cubicBezTo>
                  <a:pt x="259028" y="123386"/>
                  <a:pt x="291218" y="155576"/>
                  <a:pt x="291218" y="195284"/>
                </a:cubicBezTo>
                <a:moveTo>
                  <a:pt x="68932" y="268081"/>
                </a:moveTo>
                <a:lnTo>
                  <a:pt x="68692" y="268081"/>
                </a:lnTo>
                <a:cubicBezTo>
                  <a:pt x="28550" y="277020"/>
                  <a:pt x="0" y="312635"/>
                  <a:pt x="9" y="353760"/>
                </a:cubicBezTo>
                <a:lnTo>
                  <a:pt x="9" y="371116"/>
                </a:lnTo>
                <a:cubicBezTo>
                  <a:pt x="4" y="378872"/>
                  <a:pt x="3083" y="386312"/>
                  <a:pt x="8567" y="391797"/>
                </a:cubicBezTo>
                <a:cubicBezTo>
                  <a:pt x="14052" y="397281"/>
                  <a:pt x="21492" y="400360"/>
                  <a:pt x="29248" y="400354"/>
                </a:cubicBezTo>
                <a:lnTo>
                  <a:pt x="102345" y="400354"/>
                </a:lnTo>
                <a:cubicBezTo>
                  <a:pt x="118500" y="400366"/>
                  <a:pt x="131603" y="387272"/>
                  <a:pt x="131603" y="371116"/>
                </a:cubicBezTo>
                <a:lnTo>
                  <a:pt x="131603" y="371116"/>
                </a:lnTo>
                <a:cubicBezTo>
                  <a:pt x="131603" y="354968"/>
                  <a:pt x="144694" y="341877"/>
                  <a:pt x="160842" y="341877"/>
                </a:cubicBezTo>
                <a:lnTo>
                  <a:pt x="277797" y="341877"/>
                </a:lnTo>
                <a:cubicBezTo>
                  <a:pt x="293945" y="341877"/>
                  <a:pt x="307035" y="354968"/>
                  <a:pt x="307035" y="371116"/>
                </a:cubicBezTo>
                <a:lnTo>
                  <a:pt x="307035" y="371116"/>
                </a:lnTo>
                <a:cubicBezTo>
                  <a:pt x="307035" y="387272"/>
                  <a:pt x="320138" y="400366"/>
                  <a:pt x="336294" y="400354"/>
                </a:cubicBezTo>
                <a:lnTo>
                  <a:pt x="409391" y="400354"/>
                </a:lnTo>
                <a:cubicBezTo>
                  <a:pt x="417147" y="400360"/>
                  <a:pt x="424587" y="397281"/>
                  <a:pt x="430071" y="391797"/>
                </a:cubicBezTo>
                <a:cubicBezTo>
                  <a:pt x="435556" y="386312"/>
                  <a:pt x="438635" y="378872"/>
                  <a:pt x="438629" y="371116"/>
                </a:cubicBezTo>
                <a:lnTo>
                  <a:pt x="438629" y="353760"/>
                </a:lnTo>
                <a:cubicBezTo>
                  <a:pt x="438620" y="312650"/>
                  <a:pt x="410074" y="277056"/>
                  <a:pt x="369946" y="268121"/>
                </a:cubicBezTo>
                <a:lnTo>
                  <a:pt x="369707" y="268121"/>
                </a:lnTo>
                <a:cubicBezTo>
                  <a:pt x="270372" y="248885"/>
                  <a:pt x="168271" y="248872"/>
                  <a:pt x="68932" y="268081"/>
                </a:cubicBezTo>
                <a:close/>
                <a:moveTo>
                  <a:pt x="410030" y="235487"/>
                </a:moveTo>
                <a:cubicBezTo>
                  <a:pt x="412809" y="222273"/>
                  <a:pt x="414214" y="208807"/>
                  <a:pt x="414224" y="195304"/>
                </a:cubicBezTo>
                <a:cubicBezTo>
                  <a:pt x="414224" y="187380"/>
                  <a:pt x="413737" y="179463"/>
                  <a:pt x="412766" y="171598"/>
                </a:cubicBezTo>
                <a:cubicBezTo>
                  <a:pt x="411662" y="162073"/>
                  <a:pt x="404005" y="154642"/>
                  <a:pt x="394452" y="153823"/>
                </a:cubicBezTo>
                <a:lnTo>
                  <a:pt x="366331" y="151526"/>
                </a:lnTo>
                <a:cubicBezTo>
                  <a:pt x="363372" y="141368"/>
                  <a:pt x="359355" y="131548"/>
                  <a:pt x="354348" y="122228"/>
                </a:cubicBezTo>
                <a:lnTo>
                  <a:pt x="372543" y="100798"/>
                </a:lnTo>
                <a:cubicBezTo>
                  <a:pt x="378590" y="93867"/>
                  <a:pt x="379022" y="83669"/>
                  <a:pt x="373581" y="76253"/>
                </a:cubicBezTo>
                <a:cubicBezTo>
                  <a:pt x="363405" y="63090"/>
                  <a:pt x="351593" y="51279"/>
                  <a:pt x="338431" y="41102"/>
                </a:cubicBezTo>
                <a:cubicBezTo>
                  <a:pt x="331014" y="35652"/>
                  <a:pt x="320805" y="36092"/>
                  <a:pt x="313886" y="42161"/>
                </a:cubicBezTo>
                <a:lnTo>
                  <a:pt x="292456" y="60335"/>
                </a:lnTo>
                <a:cubicBezTo>
                  <a:pt x="283133" y="55348"/>
                  <a:pt x="273322" y="51333"/>
                  <a:pt x="263177" y="48352"/>
                </a:cubicBezTo>
                <a:lnTo>
                  <a:pt x="260861" y="20252"/>
                </a:lnTo>
                <a:cubicBezTo>
                  <a:pt x="260043" y="10694"/>
                  <a:pt x="252614" y="3031"/>
                  <a:pt x="243086" y="1918"/>
                </a:cubicBezTo>
                <a:cubicBezTo>
                  <a:pt x="227353" y="0"/>
                  <a:pt x="211445" y="0"/>
                  <a:pt x="195713" y="1918"/>
                </a:cubicBezTo>
                <a:cubicBezTo>
                  <a:pt x="186185" y="3031"/>
                  <a:pt x="178755" y="10694"/>
                  <a:pt x="177938" y="20252"/>
                </a:cubicBezTo>
                <a:lnTo>
                  <a:pt x="175541" y="48272"/>
                </a:lnTo>
                <a:cubicBezTo>
                  <a:pt x="165397" y="51253"/>
                  <a:pt x="155586" y="55268"/>
                  <a:pt x="146262" y="60255"/>
                </a:cubicBezTo>
                <a:lnTo>
                  <a:pt x="124833" y="42081"/>
                </a:lnTo>
                <a:cubicBezTo>
                  <a:pt x="117894" y="36037"/>
                  <a:pt x="107686" y="35630"/>
                  <a:pt x="100287" y="41102"/>
                </a:cubicBezTo>
                <a:cubicBezTo>
                  <a:pt x="87125" y="51279"/>
                  <a:pt x="75313" y="63090"/>
                  <a:pt x="65137" y="76253"/>
                </a:cubicBezTo>
                <a:cubicBezTo>
                  <a:pt x="59696" y="83669"/>
                  <a:pt x="60128" y="93867"/>
                  <a:pt x="66176" y="100798"/>
                </a:cubicBezTo>
                <a:lnTo>
                  <a:pt x="84370" y="122228"/>
                </a:lnTo>
                <a:cubicBezTo>
                  <a:pt x="79363" y="131548"/>
                  <a:pt x="75347" y="141368"/>
                  <a:pt x="72387" y="151526"/>
                </a:cubicBezTo>
                <a:lnTo>
                  <a:pt x="44267" y="153823"/>
                </a:lnTo>
                <a:cubicBezTo>
                  <a:pt x="34713" y="154642"/>
                  <a:pt x="27057" y="162073"/>
                  <a:pt x="25953" y="171598"/>
                </a:cubicBezTo>
                <a:cubicBezTo>
                  <a:pt x="24982" y="179463"/>
                  <a:pt x="24495" y="187380"/>
                  <a:pt x="24495" y="195304"/>
                </a:cubicBezTo>
                <a:cubicBezTo>
                  <a:pt x="24504" y="208807"/>
                  <a:pt x="25910" y="222273"/>
                  <a:pt x="28689" y="235487"/>
                </a:cubicBezTo>
              </a:path>
            </a:pathLst>
          </a:custGeom>
          <a:noFill/>
          <a:ln w="11982">
            <a:solidFill>
              <a:srgbClr val="F4F4F4"/>
            </a:solidFill>
          </a:ln>
        </p:spPr>
        <p:txBody>
          <a:bodyPr rtlCol="0" anchor="ctr"/>
          <a:lstStyle/>
          <a:p>
            <a:pPr algn="ctr"/>
            <a:endParaRPr/>
          </a:p>
        </p:txBody>
      </p:sp>
      <p:sp>
        <p:nvSpPr>
          <p:cNvPr id="51" name="Rounded Rectangle 46">
            <a:extLst>
              <a:ext uri="{FF2B5EF4-FFF2-40B4-BE49-F238E27FC236}">
                <a16:creationId xmlns:a16="http://schemas.microsoft.com/office/drawing/2014/main" id="{16D68DAB-B9C2-70C6-5B25-CF2A77E91679}"/>
              </a:ext>
            </a:extLst>
          </p:cNvPr>
          <p:cNvSpPr/>
          <p:nvPr/>
        </p:nvSpPr>
        <p:spPr>
          <a:xfrm>
            <a:off x="7001428" y="3704651"/>
            <a:ext cx="371475" cy="371475"/>
          </a:xfrm>
          <a:custGeom>
            <a:avLst/>
            <a:gdLst/>
            <a:ahLst/>
            <a:cxnLst/>
            <a:rect l="0" t="0" r="0" b="0"/>
            <a:pathLst>
              <a:path w="371475" h="371475">
                <a:moveTo>
                  <a:pt x="151785" y="191729"/>
                </a:moveTo>
                <a:cubicBezTo>
                  <a:pt x="151785" y="213789"/>
                  <a:pt x="169668" y="231672"/>
                  <a:pt x="191729" y="231672"/>
                </a:cubicBezTo>
                <a:cubicBezTo>
                  <a:pt x="213789" y="231672"/>
                  <a:pt x="231672" y="213789"/>
                  <a:pt x="231672" y="191729"/>
                </a:cubicBezTo>
                <a:cubicBezTo>
                  <a:pt x="231672" y="169668"/>
                  <a:pt x="213789" y="151785"/>
                  <a:pt x="191729" y="151785"/>
                </a:cubicBezTo>
                <a:cubicBezTo>
                  <a:pt x="169668" y="151785"/>
                  <a:pt x="151785" y="169668"/>
                  <a:pt x="151785" y="191729"/>
                </a:cubicBezTo>
                <a:moveTo>
                  <a:pt x="223683" y="307386"/>
                </a:moveTo>
                <a:lnTo>
                  <a:pt x="371475" y="307386"/>
                </a:lnTo>
                <a:moveTo>
                  <a:pt x="0" y="0"/>
                </a:moveTo>
                <a:moveTo>
                  <a:pt x="294708" y="244361"/>
                </a:moveTo>
                <a:lnTo>
                  <a:pt x="223698" y="307384"/>
                </a:lnTo>
                <a:lnTo>
                  <a:pt x="294708" y="370406"/>
                </a:lnTo>
                <a:moveTo>
                  <a:pt x="191729" y="371475"/>
                </a:moveTo>
                <a:cubicBezTo>
                  <a:pt x="92458" y="371475"/>
                  <a:pt x="11983" y="290999"/>
                  <a:pt x="11983" y="191729"/>
                </a:cubicBezTo>
                <a:cubicBezTo>
                  <a:pt x="11983" y="92458"/>
                  <a:pt x="92458" y="11983"/>
                  <a:pt x="191729" y="11983"/>
                </a:cubicBezTo>
                <a:cubicBezTo>
                  <a:pt x="290999" y="11983"/>
                  <a:pt x="371475" y="92458"/>
                  <a:pt x="371475" y="191729"/>
                </a:cubicBezTo>
                <a:cubicBezTo>
                  <a:pt x="371475" y="212250"/>
                  <a:pt x="368035" y="231969"/>
                  <a:pt x="361701" y="250340"/>
                </a:cubicBezTo>
              </a:path>
            </a:pathLst>
          </a:custGeom>
          <a:noFill/>
          <a:ln w="11982">
            <a:solidFill>
              <a:srgbClr val="A6DA37"/>
            </a:solidFill>
          </a:ln>
        </p:spPr>
        <p:txBody>
          <a:bodyPr rtlCol="0" anchor="ctr"/>
          <a:lstStyle/>
          <a:p>
            <a:pPr algn="ctr"/>
            <a:endParaRPr/>
          </a:p>
        </p:txBody>
      </p:sp>
      <p:sp>
        <p:nvSpPr>
          <p:cNvPr id="52" name="Rounded Rectangle 47">
            <a:extLst>
              <a:ext uri="{FF2B5EF4-FFF2-40B4-BE49-F238E27FC236}">
                <a16:creationId xmlns:a16="http://schemas.microsoft.com/office/drawing/2014/main" id="{74EE52D6-2ECC-5CB6-4042-224F1183AD8F}"/>
              </a:ext>
            </a:extLst>
          </p:cNvPr>
          <p:cNvSpPr/>
          <p:nvPr/>
        </p:nvSpPr>
        <p:spPr>
          <a:xfrm>
            <a:off x="4564871" y="2706062"/>
            <a:ext cx="367480" cy="367480"/>
          </a:xfrm>
          <a:custGeom>
            <a:avLst/>
            <a:gdLst/>
            <a:ahLst/>
            <a:cxnLst/>
            <a:rect l="0" t="0" r="0" b="0"/>
            <a:pathLst>
              <a:path w="367480" h="367480">
                <a:moveTo>
                  <a:pt x="367480" y="343514"/>
                </a:moveTo>
                <a:lnTo>
                  <a:pt x="351503" y="312614"/>
                </a:lnTo>
                <a:lnTo>
                  <a:pt x="351503" y="239661"/>
                </a:lnTo>
                <a:cubicBezTo>
                  <a:pt x="352174" y="211253"/>
                  <a:pt x="318254" y="185929"/>
                  <a:pt x="287593" y="159774"/>
                </a:cubicBezTo>
                <a:moveTo>
                  <a:pt x="311863" y="271616"/>
                </a:moveTo>
                <a:lnTo>
                  <a:pt x="271104" y="229962"/>
                </a:lnTo>
                <a:cubicBezTo>
                  <a:pt x="266159" y="224815"/>
                  <a:pt x="258834" y="222712"/>
                  <a:pt x="251911" y="224452"/>
                </a:cubicBezTo>
                <a:cubicBezTo>
                  <a:pt x="244989" y="226192"/>
                  <a:pt x="239529" y="231508"/>
                  <a:pt x="237605" y="238382"/>
                </a:cubicBezTo>
                <a:cubicBezTo>
                  <a:pt x="235680" y="245256"/>
                  <a:pt x="237587" y="252634"/>
                  <a:pt x="242601" y="257715"/>
                </a:cubicBezTo>
                <a:lnTo>
                  <a:pt x="287593" y="303570"/>
                </a:lnTo>
                <a:lnTo>
                  <a:pt x="287593" y="327537"/>
                </a:lnTo>
                <a:cubicBezTo>
                  <a:pt x="290040" y="341830"/>
                  <a:pt x="295485" y="355443"/>
                  <a:pt x="303570" y="367480"/>
                </a:cubicBezTo>
                <a:moveTo>
                  <a:pt x="0" y="23966"/>
                </a:moveTo>
                <a:lnTo>
                  <a:pt x="15977" y="54866"/>
                </a:lnTo>
                <a:lnTo>
                  <a:pt x="15977" y="127819"/>
                </a:lnTo>
                <a:cubicBezTo>
                  <a:pt x="15306" y="156227"/>
                  <a:pt x="49226" y="181551"/>
                  <a:pt x="79887" y="207706"/>
                </a:cubicBezTo>
                <a:moveTo>
                  <a:pt x="55617" y="95864"/>
                </a:moveTo>
                <a:lnTo>
                  <a:pt x="96375" y="137517"/>
                </a:lnTo>
                <a:cubicBezTo>
                  <a:pt x="101321" y="142665"/>
                  <a:pt x="108645" y="144767"/>
                  <a:pt x="115568" y="143027"/>
                </a:cubicBezTo>
                <a:cubicBezTo>
                  <a:pt x="122491" y="141288"/>
                  <a:pt x="127951" y="135972"/>
                  <a:pt x="129875" y="129098"/>
                </a:cubicBezTo>
                <a:cubicBezTo>
                  <a:pt x="131799" y="122224"/>
                  <a:pt x="129893" y="114846"/>
                  <a:pt x="124879" y="109764"/>
                </a:cubicBezTo>
                <a:lnTo>
                  <a:pt x="79887" y="63909"/>
                </a:lnTo>
                <a:lnTo>
                  <a:pt x="79887" y="39943"/>
                </a:lnTo>
                <a:cubicBezTo>
                  <a:pt x="77440" y="25650"/>
                  <a:pt x="71995" y="12037"/>
                  <a:pt x="63909" y="0"/>
                </a:cubicBezTo>
                <a:moveTo>
                  <a:pt x="79887" y="120661"/>
                </a:moveTo>
                <a:lnTo>
                  <a:pt x="79887" y="303570"/>
                </a:lnTo>
                <a:cubicBezTo>
                  <a:pt x="79887" y="312395"/>
                  <a:pt x="87040" y="319548"/>
                  <a:pt x="95864" y="319548"/>
                </a:cubicBezTo>
                <a:lnTo>
                  <a:pt x="247650" y="319548"/>
                </a:lnTo>
                <a:moveTo>
                  <a:pt x="287593" y="246819"/>
                </a:moveTo>
                <a:lnTo>
                  <a:pt x="287593" y="63909"/>
                </a:lnTo>
                <a:cubicBezTo>
                  <a:pt x="287593" y="55085"/>
                  <a:pt x="280440" y="47932"/>
                  <a:pt x="271616" y="47932"/>
                </a:cubicBezTo>
                <a:lnTo>
                  <a:pt x="111841" y="47932"/>
                </a:lnTo>
              </a:path>
            </a:pathLst>
          </a:custGeom>
          <a:noFill/>
          <a:ln w="11982">
            <a:solidFill>
              <a:srgbClr val="CB68F9"/>
            </a:solidFill>
          </a:ln>
        </p:spPr>
        <p:txBody>
          <a:bodyPr rtlCol="0" anchor="ctr"/>
          <a:lstStyle/>
          <a:p>
            <a:pPr algn="ctr"/>
            <a:endParaRPr/>
          </a:p>
        </p:txBody>
      </p:sp>
      <p:sp>
        <p:nvSpPr>
          <p:cNvPr id="53" name="Rounded Rectangle 48">
            <a:extLst>
              <a:ext uri="{FF2B5EF4-FFF2-40B4-BE49-F238E27FC236}">
                <a16:creationId xmlns:a16="http://schemas.microsoft.com/office/drawing/2014/main" id="{451C9561-0D37-2977-5748-43171DBC458C}"/>
              </a:ext>
            </a:extLst>
          </p:cNvPr>
          <p:cNvSpPr/>
          <p:nvPr/>
        </p:nvSpPr>
        <p:spPr>
          <a:xfrm>
            <a:off x="4604815" y="4719217"/>
            <a:ext cx="287593" cy="367480"/>
          </a:xfrm>
          <a:custGeom>
            <a:avLst/>
            <a:gdLst/>
            <a:ahLst/>
            <a:cxnLst/>
            <a:rect l="0" t="0" r="0" b="0"/>
            <a:pathLst>
              <a:path w="287593" h="367480">
                <a:moveTo>
                  <a:pt x="255638" y="50264"/>
                </a:moveTo>
                <a:lnTo>
                  <a:pt x="271616" y="50264"/>
                </a:lnTo>
                <a:cubicBezTo>
                  <a:pt x="280440" y="50264"/>
                  <a:pt x="287593" y="57418"/>
                  <a:pt x="287593" y="66242"/>
                </a:cubicBezTo>
                <a:lnTo>
                  <a:pt x="287593" y="351503"/>
                </a:lnTo>
                <a:cubicBezTo>
                  <a:pt x="287593" y="360327"/>
                  <a:pt x="280440" y="367480"/>
                  <a:pt x="271616" y="367480"/>
                </a:cubicBezTo>
                <a:lnTo>
                  <a:pt x="15977" y="367480"/>
                </a:lnTo>
                <a:cubicBezTo>
                  <a:pt x="7153" y="367480"/>
                  <a:pt x="0" y="360327"/>
                  <a:pt x="0" y="351503"/>
                </a:cubicBezTo>
                <a:lnTo>
                  <a:pt x="0" y="66242"/>
                </a:lnTo>
                <a:cubicBezTo>
                  <a:pt x="0" y="57418"/>
                  <a:pt x="7153" y="50264"/>
                  <a:pt x="15977" y="50264"/>
                </a:cubicBezTo>
                <a:lnTo>
                  <a:pt x="31954" y="50264"/>
                </a:lnTo>
                <a:moveTo>
                  <a:pt x="175751" y="31954"/>
                </a:moveTo>
                <a:cubicBezTo>
                  <a:pt x="175751" y="14306"/>
                  <a:pt x="161444" y="0"/>
                  <a:pt x="143796" y="0"/>
                </a:cubicBezTo>
                <a:cubicBezTo>
                  <a:pt x="126148" y="0"/>
                  <a:pt x="111841" y="14306"/>
                  <a:pt x="111841" y="31954"/>
                </a:cubicBezTo>
                <a:lnTo>
                  <a:pt x="71898" y="31954"/>
                </a:lnTo>
                <a:cubicBezTo>
                  <a:pt x="67486" y="31954"/>
                  <a:pt x="63909" y="35531"/>
                  <a:pt x="63909" y="39943"/>
                </a:cubicBezTo>
                <a:lnTo>
                  <a:pt x="63909" y="71898"/>
                </a:lnTo>
                <a:cubicBezTo>
                  <a:pt x="63909" y="76310"/>
                  <a:pt x="67486" y="79887"/>
                  <a:pt x="71898" y="79887"/>
                </a:cubicBezTo>
                <a:lnTo>
                  <a:pt x="215695" y="79887"/>
                </a:lnTo>
                <a:cubicBezTo>
                  <a:pt x="220107" y="79887"/>
                  <a:pt x="223683" y="76310"/>
                  <a:pt x="223683" y="71898"/>
                </a:cubicBezTo>
                <a:lnTo>
                  <a:pt x="223683" y="39943"/>
                </a:lnTo>
                <a:cubicBezTo>
                  <a:pt x="223683" y="35531"/>
                  <a:pt x="220107" y="31954"/>
                  <a:pt x="215695" y="31954"/>
                </a:cubicBezTo>
                <a:close/>
                <a:moveTo>
                  <a:pt x="143796" y="143796"/>
                </a:moveTo>
                <a:cubicBezTo>
                  <a:pt x="108500" y="143796"/>
                  <a:pt x="79887" y="172410"/>
                  <a:pt x="79887" y="207706"/>
                </a:cubicBezTo>
                <a:cubicBezTo>
                  <a:pt x="79887" y="243002"/>
                  <a:pt x="108500" y="271616"/>
                  <a:pt x="143796" y="271616"/>
                </a:cubicBezTo>
                <a:cubicBezTo>
                  <a:pt x="179093" y="271616"/>
                  <a:pt x="207706" y="243002"/>
                  <a:pt x="207706" y="207706"/>
                </a:cubicBezTo>
                <a:moveTo>
                  <a:pt x="119830" y="199717"/>
                </a:moveTo>
                <a:lnTo>
                  <a:pt x="138140" y="218027"/>
                </a:lnTo>
                <a:cubicBezTo>
                  <a:pt x="139639" y="219530"/>
                  <a:pt x="141674" y="220374"/>
                  <a:pt x="143796" y="220374"/>
                </a:cubicBezTo>
                <a:cubicBezTo>
                  <a:pt x="145919" y="220374"/>
                  <a:pt x="147954" y="219530"/>
                  <a:pt x="149452" y="218027"/>
                </a:cubicBezTo>
                <a:lnTo>
                  <a:pt x="207706" y="159774"/>
                </a:lnTo>
              </a:path>
            </a:pathLst>
          </a:custGeom>
          <a:noFill/>
          <a:ln w="11982">
            <a:solidFill>
              <a:srgbClr val="FB6762"/>
            </a:solidFill>
          </a:ln>
        </p:spPr>
        <p:txBody>
          <a:bodyPr rtlCol="0" anchor="ctr"/>
          <a:lstStyle/>
          <a:p>
            <a:pPr algn="ctr"/>
            <a:endParaRPr/>
          </a:p>
        </p:txBody>
      </p:sp>
      <p:sp>
        <p:nvSpPr>
          <p:cNvPr id="54" name="Rounded Rectangle 49">
            <a:extLst>
              <a:ext uri="{FF2B5EF4-FFF2-40B4-BE49-F238E27FC236}">
                <a16:creationId xmlns:a16="http://schemas.microsoft.com/office/drawing/2014/main" id="{F7A8B7E9-BD16-0F55-6C00-993476A9F14A}"/>
              </a:ext>
            </a:extLst>
          </p:cNvPr>
          <p:cNvSpPr/>
          <p:nvPr/>
        </p:nvSpPr>
        <p:spPr>
          <a:xfrm>
            <a:off x="6570037" y="4711228"/>
            <a:ext cx="372981" cy="373571"/>
          </a:xfrm>
          <a:custGeom>
            <a:avLst/>
            <a:gdLst/>
            <a:ahLst/>
            <a:cxnLst/>
            <a:rect l="0" t="0" r="0" b="0"/>
            <a:pathLst>
              <a:path w="372981" h="373571">
                <a:moveTo>
                  <a:pt x="256351" y="356908"/>
                </a:moveTo>
                <a:cubicBezTo>
                  <a:pt x="311564" y="356908"/>
                  <a:pt x="356323" y="312149"/>
                  <a:pt x="356323" y="256936"/>
                </a:cubicBezTo>
                <a:cubicBezTo>
                  <a:pt x="356323" y="201721"/>
                  <a:pt x="311564" y="156962"/>
                  <a:pt x="256351" y="156962"/>
                </a:cubicBezTo>
                <a:cubicBezTo>
                  <a:pt x="201138" y="156962"/>
                  <a:pt x="156378" y="201721"/>
                  <a:pt x="156378" y="256936"/>
                </a:cubicBezTo>
                <a:cubicBezTo>
                  <a:pt x="156378" y="312149"/>
                  <a:pt x="201138" y="356908"/>
                  <a:pt x="256351" y="356908"/>
                </a:cubicBezTo>
                <a:close/>
                <a:moveTo>
                  <a:pt x="0" y="0"/>
                </a:moveTo>
                <a:moveTo>
                  <a:pt x="326995" y="327583"/>
                </a:moveTo>
                <a:lnTo>
                  <a:pt x="372981" y="373571"/>
                </a:lnTo>
                <a:moveTo>
                  <a:pt x="256356" y="264268"/>
                </a:moveTo>
                <a:cubicBezTo>
                  <a:pt x="252305" y="264268"/>
                  <a:pt x="249022" y="260984"/>
                  <a:pt x="249022" y="256936"/>
                </a:cubicBezTo>
                <a:cubicBezTo>
                  <a:pt x="249022" y="252885"/>
                  <a:pt x="252305" y="249604"/>
                  <a:pt x="256356" y="249604"/>
                </a:cubicBezTo>
                <a:moveTo>
                  <a:pt x="256359" y="249604"/>
                </a:moveTo>
                <a:cubicBezTo>
                  <a:pt x="260409" y="249604"/>
                  <a:pt x="263691" y="252885"/>
                  <a:pt x="263691" y="256936"/>
                </a:cubicBezTo>
                <a:cubicBezTo>
                  <a:pt x="263691" y="260984"/>
                  <a:pt x="260409" y="264268"/>
                  <a:pt x="256359" y="264268"/>
                </a:cubicBezTo>
                <a:moveTo>
                  <a:pt x="197370" y="264268"/>
                </a:moveTo>
                <a:cubicBezTo>
                  <a:pt x="193320" y="264268"/>
                  <a:pt x="190038" y="260984"/>
                  <a:pt x="190038" y="256936"/>
                </a:cubicBezTo>
                <a:cubicBezTo>
                  <a:pt x="190038" y="252885"/>
                  <a:pt x="193320" y="249604"/>
                  <a:pt x="197370" y="249604"/>
                </a:cubicBezTo>
                <a:moveTo>
                  <a:pt x="197373" y="249604"/>
                </a:moveTo>
                <a:cubicBezTo>
                  <a:pt x="201424" y="249604"/>
                  <a:pt x="204707" y="252885"/>
                  <a:pt x="204707" y="256936"/>
                </a:cubicBezTo>
                <a:cubicBezTo>
                  <a:pt x="204707" y="260984"/>
                  <a:pt x="201424" y="264268"/>
                  <a:pt x="197373" y="264268"/>
                </a:cubicBezTo>
                <a:moveTo>
                  <a:pt x="315339" y="264268"/>
                </a:moveTo>
                <a:cubicBezTo>
                  <a:pt x="311291" y="264268"/>
                  <a:pt x="308007" y="260984"/>
                  <a:pt x="308007" y="256936"/>
                </a:cubicBezTo>
                <a:cubicBezTo>
                  <a:pt x="308007" y="252885"/>
                  <a:pt x="311291" y="249604"/>
                  <a:pt x="315339" y="249604"/>
                </a:cubicBezTo>
                <a:moveTo>
                  <a:pt x="315344" y="249604"/>
                </a:moveTo>
                <a:cubicBezTo>
                  <a:pt x="319393" y="249604"/>
                  <a:pt x="322676" y="252885"/>
                  <a:pt x="322676" y="256936"/>
                </a:cubicBezTo>
                <a:cubicBezTo>
                  <a:pt x="322676" y="260984"/>
                  <a:pt x="319393" y="264268"/>
                  <a:pt x="315344" y="264268"/>
                </a:cubicBezTo>
                <a:moveTo>
                  <a:pt x="224771" y="308712"/>
                </a:moveTo>
                <a:cubicBezTo>
                  <a:pt x="220721" y="308712"/>
                  <a:pt x="217438" y="305429"/>
                  <a:pt x="217438" y="301380"/>
                </a:cubicBezTo>
                <a:cubicBezTo>
                  <a:pt x="217438" y="297330"/>
                  <a:pt x="220721" y="294046"/>
                  <a:pt x="224771" y="294046"/>
                </a:cubicBezTo>
                <a:moveTo>
                  <a:pt x="224767" y="294046"/>
                </a:moveTo>
                <a:cubicBezTo>
                  <a:pt x="228817" y="294046"/>
                  <a:pt x="232099" y="297330"/>
                  <a:pt x="232099" y="301380"/>
                </a:cubicBezTo>
                <a:cubicBezTo>
                  <a:pt x="232099" y="305429"/>
                  <a:pt x="228817" y="308712"/>
                  <a:pt x="224767" y="308712"/>
                </a:cubicBezTo>
                <a:moveTo>
                  <a:pt x="224771" y="219823"/>
                </a:moveTo>
                <a:cubicBezTo>
                  <a:pt x="220721" y="219823"/>
                  <a:pt x="217438" y="216541"/>
                  <a:pt x="217438" y="212491"/>
                </a:cubicBezTo>
                <a:cubicBezTo>
                  <a:pt x="217438" y="208441"/>
                  <a:pt x="220721" y="205159"/>
                  <a:pt x="224771" y="205159"/>
                </a:cubicBezTo>
                <a:moveTo>
                  <a:pt x="224767" y="205159"/>
                </a:moveTo>
                <a:cubicBezTo>
                  <a:pt x="228817" y="205159"/>
                  <a:pt x="232099" y="208441"/>
                  <a:pt x="232099" y="212491"/>
                </a:cubicBezTo>
                <a:cubicBezTo>
                  <a:pt x="232099" y="216541"/>
                  <a:pt x="228817" y="219823"/>
                  <a:pt x="224767" y="219823"/>
                </a:cubicBezTo>
                <a:moveTo>
                  <a:pt x="287932" y="308712"/>
                </a:moveTo>
                <a:cubicBezTo>
                  <a:pt x="283881" y="308712"/>
                  <a:pt x="280600" y="305429"/>
                  <a:pt x="280600" y="301380"/>
                </a:cubicBezTo>
                <a:cubicBezTo>
                  <a:pt x="280600" y="297330"/>
                  <a:pt x="283881" y="294046"/>
                  <a:pt x="287932" y="294046"/>
                </a:cubicBezTo>
                <a:moveTo>
                  <a:pt x="287933" y="294046"/>
                </a:moveTo>
                <a:cubicBezTo>
                  <a:pt x="291984" y="294046"/>
                  <a:pt x="295265" y="297330"/>
                  <a:pt x="295265" y="301380"/>
                </a:cubicBezTo>
                <a:cubicBezTo>
                  <a:pt x="295265" y="305429"/>
                  <a:pt x="291984" y="308712"/>
                  <a:pt x="287933" y="308712"/>
                </a:cubicBezTo>
                <a:moveTo>
                  <a:pt x="287932" y="219823"/>
                </a:moveTo>
                <a:cubicBezTo>
                  <a:pt x="283881" y="219823"/>
                  <a:pt x="280600" y="216541"/>
                  <a:pt x="280600" y="212491"/>
                </a:cubicBezTo>
                <a:cubicBezTo>
                  <a:pt x="280600" y="208441"/>
                  <a:pt x="283881" y="205159"/>
                  <a:pt x="287932" y="205159"/>
                </a:cubicBezTo>
                <a:moveTo>
                  <a:pt x="287933" y="205159"/>
                </a:moveTo>
                <a:cubicBezTo>
                  <a:pt x="291984" y="205159"/>
                  <a:pt x="295265" y="208441"/>
                  <a:pt x="295265" y="212491"/>
                </a:cubicBezTo>
                <a:cubicBezTo>
                  <a:pt x="295265" y="216541"/>
                  <a:pt x="291984" y="219823"/>
                  <a:pt x="287933" y="219823"/>
                </a:cubicBezTo>
                <a:moveTo>
                  <a:pt x="139524" y="149746"/>
                </a:moveTo>
                <a:cubicBezTo>
                  <a:pt x="176631" y="149746"/>
                  <a:pt x="206712" y="119665"/>
                  <a:pt x="206712" y="82557"/>
                </a:cubicBezTo>
                <a:cubicBezTo>
                  <a:pt x="206712" y="45450"/>
                  <a:pt x="176631" y="15368"/>
                  <a:pt x="139524" y="15368"/>
                </a:cubicBezTo>
                <a:cubicBezTo>
                  <a:pt x="102416" y="15368"/>
                  <a:pt x="72335" y="45450"/>
                  <a:pt x="72335" y="82557"/>
                </a:cubicBezTo>
                <a:cubicBezTo>
                  <a:pt x="72335" y="119665"/>
                  <a:pt x="102416" y="149746"/>
                  <a:pt x="139524" y="149746"/>
                </a:cubicBezTo>
                <a:close/>
                <a:moveTo>
                  <a:pt x="149817" y="337876"/>
                </a:moveTo>
                <a:lnTo>
                  <a:pt x="18583" y="337876"/>
                </a:lnTo>
                <a:lnTo>
                  <a:pt x="18583" y="323304"/>
                </a:lnTo>
                <a:cubicBezTo>
                  <a:pt x="18797" y="302820"/>
                  <a:pt x="24199" y="282723"/>
                  <a:pt x="34285" y="264892"/>
                </a:cubicBezTo>
                <a:cubicBezTo>
                  <a:pt x="44372" y="247062"/>
                  <a:pt x="58813" y="232078"/>
                  <a:pt x="76260" y="221341"/>
                </a:cubicBezTo>
                <a:cubicBezTo>
                  <a:pt x="93707" y="210606"/>
                  <a:pt x="113590" y="204466"/>
                  <a:pt x="134053" y="203497"/>
                </a:cubicBezTo>
              </a:path>
            </a:pathLst>
          </a:custGeom>
          <a:noFill/>
          <a:ln w="11982">
            <a:solidFill>
              <a:srgbClr val="FFE711"/>
            </a:solidFill>
          </a:ln>
        </p:spPr>
        <p:txBody>
          <a:bodyPr rtlCol="0" anchor="ctr"/>
          <a:lstStyle/>
          <a:p>
            <a:pPr algn="ctr"/>
            <a:endParaRPr/>
          </a:p>
        </p:txBody>
      </p:sp>
      <p:sp>
        <p:nvSpPr>
          <p:cNvPr id="55" name="Rounded Rectangle 50">
            <a:extLst>
              <a:ext uri="{FF2B5EF4-FFF2-40B4-BE49-F238E27FC236}">
                <a16:creationId xmlns:a16="http://schemas.microsoft.com/office/drawing/2014/main" id="{25EF8D2C-CFCB-8A7A-0993-04E5CFD6C821}"/>
              </a:ext>
            </a:extLst>
          </p:cNvPr>
          <p:cNvSpPr/>
          <p:nvPr/>
        </p:nvSpPr>
        <p:spPr>
          <a:xfrm>
            <a:off x="5554509" y="2253610"/>
            <a:ext cx="384453" cy="398462"/>
          </a:xfrm>
          <a:custGeom>
            <a:avLst/>
            <a:gdLst/>
            <a:ahLst/>
            <a:cxnLst/>
            <a:rect l="0" t="0" r="0" b="0"/>
            <a:pathLst>
              <a:path w="384453" h="398462">
                <a:moveTo>
                  <a:pt x="384420" y="204801"/>
                </a:moveTo>
                <a:cubicBezTo>
                  <a:pt x="384398" y="297382"/>
                  <a:pt x="315460" y="375468"/>
                  <a:pt x="223596" y="386965"/>
                </a:cubicBezTo>
                <a:cubicBezTo>
                  <a:pt x="131731" y="398462"/>
                  <a:pt x="45675" y="339775"/>
                  <a:pt x="22837" y="250055"/>
                </a:cubicBezTo>
                <a:cubicBezTo>
                  <a:pt x="0" y="160335"/>
                  <a:pt x="47523" y="67646"/>
                  <a:pt x="133705" y="33823"/>
                </a:cubicBezTo>
                <a:cubicBezTo>
                  <a:pt x="219886" y="0"/>
                  <a:pt x="317768" y="35622"/>
                  <a:pt x="362051" y="116925"/>
                </a:cubicBezTo>
                <a:cubicBezTo>
                  <a:pt x="376761" y="143877"/>
                  <a:pt x="384453" y="174096"/>
                  <a:pt x="384420" y="204801"/>
                </a:cubicBezTo>
                <a:close/>
                <a:moveTo>
                  <a:pt x="280838" y="116925"/>
                </a:moveTo>
                <a:cubicBezTo>
                  <a:pt x="265914" y="76717"/>
                  <a:pt x="237610" y="42867"/>
                  <a:pt x="200679" y="21061"/>
                </a:cubicBezTo>
                <a:cubicBezTo>
                  <a:pt x="163748" y="42867"/>
                  <a:pt x="135444" y="76717"/>
                  <a:pt x="120521" y="116925"/>
                </a:cubicBezTo>
                <a:moveTo>
                  <a:pt x="120505" y="292677"/>
                </a:moveTo>
                <a:cubicBezTo>
                  <a:pt x="135440" y="332883"/>
                  <a:pt x="163748" y="366730"/>
                  <a:pt x="200679" y="388541"/>
                </a:cubicBezTo>
                <a:cubicBezTo>
                  <a:pt x="239356" y="368502"/>
                  <a:pt x="268618" y="334077"/>
                  <a:pt x="282164" y="292677"/>
                </a:cubicBezTo>
                <a:moveTo>
                  <a:pt x="61388" y="84970"/>
                </a:moveTo>
                <a:lnTo>
                  <a:pt x="339970" y="84970"/>
                </a:lnTo>
                <a:moveTo>
                  <a:pt x="61388" y="324632"/>
                </a:moveTo>
                <a:lnTo>
                  <a:pt x="339970" y="324632"/>
                </a:lnTo>
                <a:moveTo>
                  <a:pt x="160736" y="244745"/>
                </a:moveTo>
                <a:lnTo>
                  <a:pt x="160736" y="164857"/>
                </a:lnTo>
                <a:moveTo>
                  <a:pt x="192691" y="164857"/>
                </a:moveTo>
                <a:lnTo>
                  <a:pt x="192691" y="192019"/>
                </a:lnTo>
                <a:cubicBezTo>
                  <a:pt x="192699" y="210785"/>
                  <a:pt x="198258" y="229130"/>
                  <a:pt x="208668" y="244745"/>
                </a:cubicBezTo>
                <a:cubicBezTo>
                  <a:pt x="219078" y="229130"/>
                  <a:pt x="224637" y="210785"/>
                  <a:pt x="224645" y="192019"/>
                </a:cubicBezTo>
                <a:lnTo>
                  <a:pt x="224645" y="164857"/>
                </a:lnTo>
                <a:moveTo>
                  <a:pt x="96826" y="164857"/>
                </a:moveTo>
                <a:lnTo>
                  <a:pt x="96826" y="228767"/>
                </a:lnTo>
                <a:cubicBezTo>
                  <a:pt x="96826" y="237591"/>
                  <a:pt x="103979" y="244745"/>
                  <a:pt x="112803" y="244745"/>
                </a:cubicBezTo>
                <a:lnTo>
                  <a:pt x="128781" y="244745"/>
                </a:lnTo>
                <a:moveTo>
                  <a:pt x="288555" y="164857"/>
                </a:moveTo>
                <a:lnTo>
                  <a:pt x="272578" y="164857"/>
                </a:lnTo>
                <a:cubicBezTo>
                  <a:pt x="263754" y="164857"/>
                  <a:pt x="256600" y="172011"/>
                  <a:pt x="256600" y="180835"/>
                </a:cubicBezTo>
                <a:lnTo>
                  <a:pt x="256600" y="228767"/>
                </a:lnTo>
                <a:cubicBezTo>
                  <a:pt x="256600" y="237591"/>
                  <a:pt x="263754" y="244745"/>
                  <a:pt x="272578" y="244745"/>
                </a:cubicBezTo>
                <a:lnTo>
                  <a:pt x="288555" y="244745"/>
                </a:lnTo>
                <a:moveTo>
                  <a:pt x="256600" y="212790"/>
                </a:moveTo>
                <a:lnTo>
                  <a:pt x="288555" y="212790"/>
                </a:lnTo>
              </a:path>
            </a:pathLst>
          </a:custGeom>
          <a:noFill/>
          <a:ln w="11982">
            <a:solidFill>
              <a:srgbClr val="1AC3FB"/>
            </a:solidFill>
          </a:ln>
        </p:spPr>
        <p:txBody>
          <a:bodyPr rtlCol="0" anchor="ctr"/>
          <a:lstStyle/>
          <a:p>
            <a:pPr algn="ctr"/>
            <a:endParaRPr/>
          </a:p>
        </p:txBody>
      </p:sp>
      <p:sp>
        <p:nvSpPr>
          <p:cNvPr id="56" name="Rounded Rectangle 51">
            <a:extLst>
              <a:ext uri="{FF2B5EF4-FFF2-40B4-BE49-F238E27FC236}">
                <a16:creationId xmlns:a16="http://schemas.microsoft.com/office/drawing/2014/main" id="{0CCEF351-3790-0F1E-F998-F092408838FD}"/>
              </a:ext>
            </a:extLst>
          </p:cNvPr>
          <p:cNvSpPr/>
          <p:nvPr/>
        </p:nvSpPr>
        <p:spPr>
          <a:xfrm>
            <a:off x="5571449" y="5150388"/>
            <a:ext cx="367480" cy="367699"/>
          </a:xfrm>
          <a:custGeom>
            <a:avLst/>
            <a:gdLst/>
            <a:ahLst/>
            <a:cxnLst/>
            <a:rect l="0" t="0" r="0" b="0"/>
            <a:pathLst>
              <a:path w="367480" h="367699">
                <a:moveTo>
                  <a:pt x="87875" y="136027"/>
                </a:moveTo>
                <a:lnTo>
                  <a:pt x="127819" y="136027"/>
                </a:lnTo>
                <a:lnTo>
                  <a:pt x="127819" y="175970"/>
                </a:lnTo>
                <a:lnTo>
                  <a:pt x="87875" y="175970"/>
                </a:lnTo>
                <a:close/>
                <a:moveTo>
                  <a:pt x="239661" y="136027"/>
                </a:moveTo>
                <a:lnTo>
                  <a:pt x="279604" y="136027"/>
                </a:lnTo>
                <a:lnTo>
                  <a:pt x="279604" y="175970"/>
                </a:lnTo>
                <a:lnTo>
                  <a:pt x="239661" y="175970"/>
                </a:lnTo>
                <a:close/>
                <a:moveTo>
                  <a:pt x="279604" y="136027"/>
                </a:moveTo>
                <a:cubicBezTo>
                  <a:pt x="288428" y="136027"/>
                  <a:pt x="295582" y="128873"/>
                  <a:pt x="295582" y="120049"/>
                </a:cubicBezTo>
                <a:lnTo>
                  <a:pt x="295582" y="94645"/>
                </a:lnTo>
                <a:cubicBezTo>
                  <a:pt x="295564" y="90454"/>
                  <a:pt x="293900" y="86437"/>
                  <a:pt x="290948" y="83461"/>
                </a:cubicBezTo>
                <a:lnTo>
                  <a:pt x="263627" y="56140"/>
                </a:lnTo>
                <a:lnTo>
                  <a:pt x="103853" y="56140"/>
                </a:lnTo>
                <a:lnTo>
                  <a:pt x="76531" y="83461"/>
                </a:lnTo>
                <a:cubicBezTo>
                  <a:pt x="73580" y="86437"/>
                  <a:pt x="71916" y="90454"/>
                  <a:pt x="71898" y="94645"/>
                </a:cubicBezTo>
                <a:lnTo>
                  <a:pt x="71898" y="120049"/>
                </a:lnTo>
                <a:cubicBezTo>
                  <a:pt x="71898" y="128873"/>
                  <a:pt x="79051" y="136027"/>
                  <a:pt x="87875" y="136027"/>
                </a:cubicBezTo>
                <a:close/>
                <a:moveTo>
                  <a:pt x="263627" y="56140"/>
                </a:moveTo>
                <a:lnTo>
                  <a:pt x="250685" y="12361"/>
                </a:lnTo>
                <a:cubicBezTo>
                  <a:pt x="248883" y="5057"/>
                  <a:pt x="242228" y="0"/>
                  <a:pt x="234708" y="219"/>
                </a:cubicBezTo>
                <a:lnTo>
                  <a:pt x="132293" y="219"/>
                </a:lnTo>
                <a:cubicBezTo>
                  <a:pt x="124772" y="0"/>
                  <a:pt x="118118" y="5057"/>
                  <a:pt x="116315" y="12361"/>
                </a:cubicBezTo>
                <a:lnTo>
                  <a:pt x="103853" y="56140"/>
                </a:lnTo>
                <a:moveTo>
                  <a:pt x="111841" y="104072"/>
                </a:moveTo>
                <a:lnTo>
                  <a:pt x="71898" y="104072"/>
                </a:lnTo>
                <a:moveTo>
                  <a:pt x="295582" y="104072"/>
                </a:moveTo>
                <a:lnTo>
                  <a:pt x="255638" y="104072"/>
                </a:lnTo>
                <a:moveTo>
                  <a:pt x="166005" y="287812"/>
                </a:moveTo>
                <a:cubicBezTo>
                  <a:pt x="166005" y="297607"/>
                  <a:pt x="173945" y="305548"/>
                  <a:pt x="183740" y="305548"/>
                </a:cubicBezTo>
                <a:cubicBezTo>
                  <a:pt x="193535" y="305548"/>
                  <a:pt x="201475" y="297607"/>
                  <a:pt x="201475" y="287812"/>
                </a:cubicBezTo>
                <a:cubicBezTo>
                  <a:pt x="201475" y="278017"/>
                  <a:pt x="193535" y="270077"/>
                  <a:pt x="183740" y="270077"/>
                </a:cubicBezTo>
                <a:cubicBezTo>
                  <a:pt x="173945" y="270077"/>
                  <a:pt x="166005" y="278017"/>
                  <a:pt x="166005" y="287812"/>
                </a:cubicBezTo>
                <a:moveTo>
                  <a:pt x="199717" y="219109"/>
                </a:moveTo>
                <a:lnTo>
                  <a:pt x="204830" y="236365"/>
                </a:lnTo>
                <a:cubicBezTo>
                  <a:pt x="206675" y="242242"/>
                  <a:pt x="212723" y="245719"/>
                  <a:pt x="218730" y="244354"/>
                </a:cubicBezTo>
                <a:lnTo>
                  <a:pt x="236146" y="240359"/>
                </a:lnTo>
                <a:cubicBezTo>
                  <a:pt x="242867" y="238997"/>
                  <a:pt x="249708" y="242075"/>
                  <a:pt x="253145" y="248010"/>
                </a:cubicBezTo>
                <a:cubicBezTo>
                  <a:pt x="256583" y="253944"/>
                  <a:pt x="255850" y="261410"/>
                  <a:pt x="251324" y="266562"/>
                </a:cubicBezTo>
                <a:lnTo>
                  <a:pt x="239022" y="279823"/>
                </a:lnTo>
                <a:cubicBezTo>
                  <a:pt x="234879" y="284344"/>
                  <a:pt x="234879" y="291281"/>
                  <a:pt x="239022" y="295801"/>
                </a:cubicBezTo>
                <a:lnTo>
                  <a:pt x="251324" y="309062"/>
                </a:lnTo>
                <a:cubicBezTo>
                  <a:pt x="255850" y="314215"/>
                  <a:pt x="256583" y="321681"/>
                  <a:pt x="253145" y="327615"/>
                </a:cubicBezTo>
                <a:cubicBezTo>
                  <a:pt x="249708" y="333549"/>
                  <a:pt x="242867" y="336628"/>
                  <a:pt x="236146" y="335265"/>
                </a:cubicBezTo>
                <a:lnTo>
                  <a:pt x="218730" y="331271"/>
                </a:lnTo>
                <a:cubicBezTo>
                  <a:pt x="212723" y="329906"/>
                  <a:pt x="206675" y="333382"/>
                  <a:pt x="204830" y="339259"/>
                </a:cubicBezTo>
                <a:lnTo>
                  <a:pt x="199717" y="356515"/>
                </a:lnTo>
                <a:cubicBezTo>
                  <a:pt x="197490" y="362950"/>
                  <a:pt x="191428" y="367267"/>
                  <a:pt x="184619" y="367267"/>
                </a:cubicBezTo>
                <a:cubicBezTo>
                  <a:pt x="177809" y="367267"/>
                  <a:pt x="171747" y="362950"/>
                  <a:pt x="169520" y="356515"/>
                </a:cubicBezTo>
                <a:lnTo>
                  <a:pt x="164247" y="339259"/>
                </a:lnTo>
                <a:cubicBezTo>
                  <a:pt x="162469" y="333329"/>
                  <a:pt x="156366" y="329822"/>
                  <a:pt x="150347" y="331271"/>
                </a:cubicBezTo>
                <a:lnTo>
                  <a:pt x="132932" y="335265"/>
                </a:lnTo>
                <a:cubicBezTo>
                  <a:pt x="126239" y="336536"/>
                  <a:pt x="119476" y="333424"/>
                  <a:pt x="116088" y="327514"/>
                </a:cubicBezTo>
                <a:cubicBezTo>
                  <a:pt x="112701" y="321603"/>
                  <a:pt x="113433" y="314195"/>
                  <a:pt x="117913" y="309062"/>
                </a:cubicBezTo>
                <a:lnTo>
                  <a:pt x="129257" y="295801"/>
                </a:lnTo>
                <a:cubicBezTo>
                  <a:pt x="133400" y="291281"/>
                  <a:pt x="133400" y="284344"/>
                  <a:pt x="129257" y="279823"/>
                </a:cubicBezTo>
                <a:lnTo>
                  <a:pt x="117114" y="266562"/>
                </a:lnTo>
                <a:cubicBezTo>
                  <a:pt x="112634" y="261430"/>
                  <a:pt x="111902" y="254021"/>
                  <a:pt x="115289" y="248111"/>
                </a:cubicBezTo>
                <a:cubicBezTo>
                  <a:pt x="118677" y="242200"/>
                  <a:pt x="125440" y="239088"/>
                  <a:pt x="132133" y="240359"/>
                </a:cubicBezTo>
                <a:lnTo>
                  <a:pt x="149548" y="244354"/>
                </a:lnTo>
                <a:cubicBezTo>
                  <a:pt x="155567" y="245802"/>
                  <a:pt x="161670" y="242295"/>
                  <a:pt x="163449" y="236365"/>
                </a:cubicBezTo>
                <a:lnTo>
                  <a:pt x="168721" y="219109"/>
                </a:lnTo>
                <a:cubicBezTo>
                  <a:pt x="170503" y="212001"/>
                  <a:pt x="176891" y="207016"/>
                  <a:pt x="184219" y="207016"/>
                </a:cubicBezTo>
                <a:cubicBezTo>
                  <a:pt x="191547" y="207016"/>
                  <a:pt x="197936" y="212001"/>
                  <a:pt x="199717" y="219109"/>
                </a:cubicBezTo>
                <a:close/>
                <a:moveTo>
                  <a:pt x="0" y="367699"/>
                </a:moveTo>
                <a:lnTo>
                  <a:pt x="47932" y="367699"/>
                </a:lnTo>
                <a:moveTo>
                  <a:pt x="319548" y="367699"/>
                </a:moveTo>
                <a:lnTo>
                  <a:pt x="367480" y="367699"/>
                </a:lnTo>
                <a:moveTo>
                  <a:pt x="23966" y="175970"/>
                </a:moveTo>
                <a:lnTo>
                  <a:pt x="343514" y="175970"/>
                </a:lnTo>
                <a:moveTo>
                  <a:pt x="343514" y="367699"/>
                </a:moveTo>
                <a:lnTo>
                  <a:pt x="343514" y="96083"/>
                </a:lnTo>
                <a:moveTo>
                  <a:pt x="23966" y="367699"/>
                </a:moveTo>
                <a:lnTo>
                  <a:pt x="23966" y="96083"/>
                </a:lnTo>
              </a:path>
            </a:pathLst>
          </a:custGeom>
          <a:noFill/>
          <a:ln w="11982">
            <a:solidFill>
              <a:srgbClr val="F79438"/>
            </a:solidFill>
          </a:ln>
        </p:spPr>
        <p:txBody>
          <a:bodyPr rtlCol="0" anchor="ctr"/>
          <a:lstStyle/>
          <a:p>
            <a:pPr algn="ctr"/>
            <a:endParaRPr/>
          </a:p>
        </p:txBody>
      </p:sp>
      <p:sp>
        <p:nvSpPr>
          <p:cNvPr id="57" name="Rounded Rectangle 52">
            <a:extLst>
              <a:ext uri="{FF2B5EF4-FFF2-40B4-BE49-F238E27FC236}">
                <a16:creationId xmlns:a16="http://schemas.microsoft.com/office/drawing/2014/main" id="{E47BCE6B-2EA4-16E3-144E-A88C4336A766}"/>
              </a:ext>
            </a:extLst>
          </p:cNvPr>
          <p:cNvSpPr/>
          <p:nvPr/>
        </p:nvSpPr>
        <p:spPr>
          <a:xfrm>
            <a:off x="6594004" y="2730028"/>
            <a:ext cx="335525" cy="319548"/>
          </a:xfrm>
          <a:custGeom>
            <a:avLst/>
            <a:gdLst/>
            <a:ahLst/>
            <a:cxnLst/>
            <a:rect l="0" t="0" r="0" b="0"/>
            <a:pathLst>
              <a:path w="335525" h="319548">
                <a:moveTo>
                  <a:pt x="335525" y="303570"/>
                </a:moveTo>
                <a:cubicBezTo>
                  <a:pt x="335525" y="312395"/>
                  <a:pt x="328372" y="319548"/>
                  <a:pt x="319548" y="319548"/>
                </a:cubicBezTo>
                <a:lnTo>
                  <a:pt x="15977" y="319548"/>
                </a:lnTo>
                <a:cubicBezTo>
                  <a:pt x="7153" y="319548"/>
                  <a:pt x="0" y="312395"/>
                  <a:pt x="0" y="303570"/>
                </a:cubicBezTo>
                <a:lnTo>
                  <a:pt x="0" y="15977"/>
                </a:lnTo>
                <a:cubicBezTo>
                  <a:pt x="0" y="7153"/>
                  <a:pt x="7153" y="0"/>
                  <a:pt x="15977" y="0"/>
                </a:cubicBezTo>
                <a:lnTo>
                  <a:pt x="319548" y="0"/>
                </a:lnTo>
                <a:cubicBezTo>
                  <a:pt x="328372" y="0"/>
                  <a:pt x="335525" y="7153"/>
                  <a:pt x="335525" y="15977"/>
                </a:cubicBezTo>
                <a:close/>
                <a:moveTo>
                  <a:pt x="247650" y="124064"/>
                </a:moveTo>
                <a:lnTo>
                  <a:pt x="247650" y="195835"/>
                </a:lnTo>
                <a:cubicBezTo>
                  <a:pt x="247654" y="199883"/>
                  <a:pt x="250095" y="203531"/>
                  <a:pt x="253835" y="205079"/>
                </a:cubicBezTo>
                <a:cubicBezTo>
                  <a:pt x="257576" y="206628"/>
                  <a:pt x="261880" y="205773"/>
                  <a:pt x="264745" y="202913"/>
                </a:cubicBezTo>
                <a:lnTo>
                  <a:pt x="300647" y="167027"/>
                </a:lnTo>
                <a:cubicBezTo>
                  <a:pt x="304542" y="163113"/>
                  <a:pt x="304542" y="156786"/>
                  <a:pt x="300647" y="152871"/>
                </a:cubicBezTo>
                <a:lnTo>
                  <a:pt x="264745" y="116970"/>
                </a:lnTo>
                <a:cubicBezTo>
                  <a:pt x="261878" y="114108"/>
                  <a:pt x="257570" y="113254"/>
                  <a:pt x="253828" y="114807"/>
                </a:cubicBezTo>
                <a:cubicBezTo>
                  <a:pt x="250086" y="116359"/>
                  <a:pt x="247648" y="120013"/>
                  <a:pt x="247650" y="124064"/>
                </a:cubicBezTo>
                <a:close/>
                <a:moveTo>
                  <a:pt x="87875" y="124064"/>
                </a:moveTo>
                <a:cubicBezTo>
                  <a:pt x="87877" y="120013"/>
                  <a:pt x="85439" y="116359"/>
                  <a:pt x="81697" y="114807"/>
                </a:cubicBezTo>
                <a:cubicBezTo>
                  <a:pt x="77955" y="113254"/>
                  <a:pt x="73646" y="114108"/>
                  <a:pt x="70779" y="116970"/>
                </a:cubicBezTo>
                <a:lnTo>
                  <a:pt x="34878" y="152871"/>
                </a:lnTo>
                <a:cubicBezTo>
                  <a:pt x="30982" y="156786"/>
                  <a:pt x="30982" y="163113"/>
                  <a:pt x="34878" y="167027"/>
                </a:cubicBezTo>
                <a:lnTo>
                  <a:pt x="70779" y="202913"/>
                </a:lnTo>
                <a:cubicBezTo>
                  <a:pt x="73644" y="205773"/>
                  <a:pt x="77949" y="206628"/>
                  <a:pt x="81690" y="205079"/>
                </a:cubicBezTo>
                <a:cubicBezTo>
                  <a:pt x="85430" y="203531"/>
                  <a:pt x="87871" y="199883"/>
                  <a:pt x="87875" y="195835"/>
                </a:cubicBezTo>
                <a:close/>
                <a:moveTo>
                  <a:pt x="203664" y="231672"/>
                </a:moveTo>
                <a:lnTo>
                  <a:pt x="131893" y="231640"/>
                </a:lnTo>
                <a:cubicBezTo>
                  <a:pt x="127842" y="231638"/>
                  <a:pt x="124188" y="234077"/>
                  <a:pt x="122636" y="237818"/>
                </a:cubicBezTo>
                <a:cubicBezTo>
                  <a:pt x="121083" y="241560"/>
                  <a:pt x="121937" y="245869"/>
                  <a:pt x="124799" y="248736"/>
                </a:cubicBezTo>
                <a:lnTo>
                  <a:pt x="160700" y="284669"/>
                </a:lnTo>
                <a:cubicBezTo>
                  <a:pt x="164606" y="288572"/>
                  <a:pt x="170935" y="288572"/>
                  <a:pt x="174840" y="284669"/>
                </a:cubicBezTo>
                <a:lnTo>
                  <a:pt x="210742" y="248768"/>
                </a:lnTo>
                <a:cubicBezTo>
                  <a:pt x="213602" y="245903"/>
                  <a:pt x="214457" y="241598"/>
                  <a:pt x="212908" y="237858"/>
                </a:cubicBezTo>
                <a:cubicBezTo>
                  <a:pt x="211360" y="234117"/>
                  <a:pt x="207712" y="231677"/>
                  <a:pt x="203664" y="231672"/>
                </a:cubicBezTo>
                <a:close/>
                <a:moveTo>
                  <a:pt x="203664" y="87875"/>
                </a:moveTo>
                <a:cubicBezTo>
                  <a:pt x="207712" y="87871"/>
                  <a:pt x="211360" y="85430"/>
                  <a:pt x="212908" y="81690"/>
                </a:cubicBezTo>
                <a:cubicBezTo>
                  <a:pt x="214457" y="77949"/>
                  <a:pt x="213602" y="73644"/>
                  <a:pt x="210742" y="70779"/>
                </a:cubicBezTo>
                <a:lnTo>
                  <a:pt x="174840" y="34846"/>
                </a:lnTo>
                <a:cubicBezTo>
                  <a:pt x="170935" y="30943"/>
                  <a:pt x="164606" y="30943"/>
                  <a:pt x="160700" y="34846"/>
                </a:cubicBezTo>
                <a:lnTo>
                  <a:pt x="124799" y="70748"/>
                </a:lnTo>
                <a:cubicBezTo>
                  <a:pt x="121914" y="73611"/>
                  <a:pt x="121045" y="77935"/>
                  <a:pt x="122601" y="81691"/>
                </a:cubicBezTo>
                <a:cubicBezTo>
                  <a:pt x="124157" y="85447"/>
                  <a:pt x="127828" y="87890"/>
                  <a:pt x="131893" y="87875"/>
                </a:cubicBezTo>
                <a:close/>
              </a:path>
            </a:pathLst>
          </a:custGeom>
          <a:noFill/>
          <a:ln w="11982">
            <a:solidFill>
              <a:srgbClr val="43DD93"/>
            </a:solidFill>
          </a:ln>
        </p:spPr>
        <p:txBody>
          <a:bodyPr rtlCol="0" anchor="ctr"/>
          <a:lstStyle/>
          <a:p>
            <a:pPr algn="ctr"/>
            <a:endParaRPr/>
          </a:p>
        </p:txBody>
      </p:sp>
    </p:spTree>
    <p:extLst>
      <p:ext uri="{BB962C8B-B14F-4D97-AF65-F5344CB8AC3E}">
        <p14:creationId xmlns:p14="http://schemas.microsoft.com/office/powerpoint/2010/main" val="3583516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2B8CB-043D-4F52-C891-528C75FEB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0C785-16E0-DA2F-0229-EDC419C538D0}"/>
              </a:ext>
            </a:extLst>
          </p:cNvPr>
          <p:cNvSpPr>
            <a:spLocks noGrp="1"/>
          </p:cNvSpPr>
          <p:nvPr>
            <p:ph type="title"/>
          </p:nvPr>
        </p:nvSpPr>
        <p:spPr>
          <a:xfrm>
            <a:off x="414971" y="260351"/>
            <a:ext cx="11008413" cy="425450"/>
          </a:xfrm>
        </p:spPr>
        <p:txBody>
          <a:bodyPr/>
          <a:lstStyle/>
          <a:p>
            <a:r>
              <a:rPr lang="en-US" dirty="0"/>
              <a:t>SLM</a:t>
            </a:r>
          </a:p>
        </p:txBody>
      </p:sp>
      <p:graphicFrame>
        <p:nvGraphicFramePr>
          <p:cNvPr id="3" name="Table 2">
            <a:extLst>
              <a:ext uri="{FF2B5EF4-FFF2-40B4-BE49-F238E27FC236}">
                <a16:creationId xmlns:a16="http://schemas.microsoft.com/office/drawing/2014/main" id="{32285820-EC43-9A99-7FC3-F5D2B350A0B2}"/>
              </a:ext>
            </a:extLst>
          </p:cNvPr>
          <p:cNvGraphicFramePr>
            <a:graphicFrameLocks noGrp="1"/>
          </p:cNvGraphicFramePr>
          <p:nvPr/>
        </p:nvGraphicFramePr>
        <p:xfrm>
          <a:off x="429307" y="777672"/>
          <a:ext cx="11023784" cy="2560320"/>
        </p:xfrm>
        <a:graphic>
          <a:graphicData uri="http://schemas.openxmlformats.org/drawingml/2006/table">
            <a:tbl>
              <a:tblPr firstRow="1" bandRow="1">
                <a:tableStyleId>{8799B23B-EC83-4686-B30A-512413B5E67A}</a:tableStyleId>
              </a:tblPr>
              <a:tblGrid>
                <a:gridCol w="3597747">
                  <a:extLst>
                    <a:ext uri="{9D8B030D-6E8A-4147-A177-3AD203B41FA5}">
                      <a16:colId xmlns:a16="http://schemas.microsoft.com/office/drawing/2014/main" val="2226656773"/>
                    </a:ext>
                  </a:extLst>
                </a:gridCol>
                <a:gridCol w="7426037">
                  <a:extLst>
                    <a:ext uri="{9D8B030D-6E8A-4147-A177-3AD203B41FA5}">
                      <a16:colId xmlns:a16="http://schemas.microsoft.com/office/drawing/2014/main" val="3487864701"/>
                    </a:ext>
                  </a:extLst>
                </a:gridCol>
              </a:tblGrid>
              <a:tr h="224909">
                <a:tc>
                  <a:txBody>
                    <a:bodyPr/>
                    <a:lstStyle/>
                    <a:p>
                      <a:r>
                        <a:rPr lang="en-US" b="1" dirty="0">
                          <a:solidFill>
                            <a:schemeClr val="bg1"/>
                          </a:solidFill>
                        </a:rPr>
                        <a:t>SLM / ML Models</a:t>
                      </a:r>
                    </a:p>
                  </a:txBody>
                  <a:tcPr/>
                </a:tc>
                <a:tc>
                  <a:txBody>
                    <a:bodyPr/>
                    <a:lstStyle/>
                    <a:p>
                      <a:r>
                        <a:rPr lang="en-US" sz="1800" b="1" i="0" kern="1200" dirty="0">
                          <a:solidFill>
                            <a:schemeClr val="bg1"/>
                          </a:solidFill>
                          <a:effectLst/>
                          <a:latin typeface="+mn-lt"/>
                          <a:ea typeface="+mn-ea"/>
                          <a:cs typeface="+mn-cs"/>
                        </a:rPr>
                        <a:t>Description</a:t>
                      </a:r>
                      <a:endParaRPr lang="en-US" b="1" dirty="0">
                        <a:solidFill>
                          <a:schemeClr val="bg1"/>
                        </a:solidFill>
                      </a:endParaRPr>
                    </a:p>
                  </a:txBody>
                  <a:tcPr/>
                </a:tc>
                <a:extLst>
                  <a:ext uri="{0D108BD9-81ED-4DB2-BD59-A6C34878D82A}">
                    <a16:rowId xmlns:a16="http://schemas.microsoft.com/office/drawing/2014/main" val="1724919450"/>
                  </a:ext>
                </a:extLst>
              </a:tr>
              <a:tr h="224909">
                <a:tc>
                  <a:txBody>
                    <a:bodyPr/>
                    <a:lstStyle/>
                    <a:p>
                      <a:r>
                        <a:rPr lang="en-US" sz="1200" b="1" dirty="0">
                          <a:solidFill>
                            <a:schemeClr val="bg1"/>
                          </a:solidFill>
                        </a:rPr>
                        <a:t>Master SLM (RAG BASED)</a:t>
                      </a:r>
                    </a:p>
                  </a:txBody>
                  <a:tcPr/>
                </a:tc>
                <a:tc>
                  <a:txBody>
                    <a:bodyPr/>
                    <a:lstStyle/>
                    <a:p>
                      <a:r>
                        <a:rPr lang="en-US" sz="1200" b="0" i="0" kern="1200" dirty="0">
                          <a:solidFill>
                            <a:schemeClr val="bg1"/>
                          </a:solidFill>
                          <a:effectLst/>
                          <a:latin typeface="+mn-lt"/>
                          <a:ea typeface="+mn-ea"/>
                          <a:cs typeface="+mn-cs"/>
                        </a:rPr>
                        <a:t>Foundational Text Based SLM Model </a:t>
                      </a:r>
                      <a:endParaRPr lang="en-US" sz="1200" b="0" dirty="0">
                        <a:solidFill>
                          <a:schemeClr val="bg1"/>
                        </a:solidFill>
                      </a:endParaRPr>
                    </a:p>
                  </a:txBody>
                  <a:tcPr/>
                </a:tc>
                <a:extLst>
                  <a:ext uri="{0D108BD9-81ED-4DB2-BD59-A6C34878D82A}">
                    <a16:rowId xmlns:a16="http://schemas.microsoft.com/office/drawing/2014/main" val="3906932882"/>
                  </a:ext>
                </a:extLst>
              </a:tr>
              <a:tr h="224909">
                <a:tc>
                  <a:txBody>
                    <a:bodyPr/>
                    <a:lstStyle/>
                    <a:p>
                      <a:r>
                        <a:rPr lang="en-US" sz="1200" dirty="0">
                          <a:solidFill>
                            <a:schemeClr val="bg1"/>
                          </a:solidFill>
                        </a:rPr>
                        <a:t>Hardware Health &amp; Failure Events</a:t>
                      </a:r>
                    </a:p>
                  </a:txBody>
                  <a:tcPr/>
                </a:tc>
                <a:tc>
                  <a:txBody>
                    <a:bodyPr/>
                    <a:lstStyle/>
                    <a:p>
                      <a:r>
                        <a:rPr lang="en-US" sz="1200" b="0" dirty="0">
                          <a:solidFill>
                            <a:schemeClr val="bg1"/>
                          </a:solidFill>
                        </a:rPr>
                        <a:t>Battery, CPU, Memory, Storage, Thermal events</a:t>
                      </a:r>
                    </a:p>
                  </a:txBody>
                  <a:tcPr/>
                </a:tc>
                <a:extLst>
                  <a:ext uri="{0D108BD9-81ED-4DB2-BD59-A6C34878D82A}">
                    <a16:rowId xmlns:a16="http://schemas.microsoft.com/office/drawing/2014/main" val="1041571172"/>
                  </a:ext>
                </a:extLst>
              </a:tr>
              <a:tr h="224909">
                <a:tc>
                  <a:txBody>
                    <a:bodyPr/>
                    <a:lstStyle/>
                    <a:p>
                      <a:r>
                        <a:rPr lang="en-US" sz="1200" dirty="0">
                          <a:solidFill>
                            <a:schemeClr val="bg1"/>
                          </a:solidFill>
                        </a:rPr>
                        <a:t>Performance Metrics</a:t>
                      </a:r>
                    </a:p>
                  </a:txBody>
                  <a:tcPr/>
                </a:tc>
                <a:tc>
                  <a:txBody>
                    <a:bodyPr/>
                    <a:lstStyle/>
                    <a:p>
                      <a:r>
                        <a:rPr lang="en-US" sz="1200" b="0" dirty="0">
                          <a:solidFill>
                            <a:schemeClr val="bg1"/>
                          </a:solidFill>
                        </a:rPr>
                        <a:t>CPU utilization, memory usage, thermal/power draw trends, app crash codes with timestamps</a:t>
                      </a:r>
                    </a:p>
                  </a:txBody>
                  <a:tcPr/>
                </a:tc>
                <a:extLst>
                  <a:ext uri="{0D108BD9-81ED-4DB2-BD59-A6C34878D82A}">
                    <a16:rowId xmlns:a16="http://schemas.microsoft.com/office/drawing/2014/main" val="2094511711"/>
                  </a:ext>
                </a:extLst>
              </a:tr>
              <a:tr h="224909">
                <a:tc>
                  <a:txBody>
                    <a:bodyPr/>
                    <a:lstStyle/>
                    <a:p>
                      <a:r>
                        <a:rPr lang="en-US" sz="1200" dirty="0">
                          <a:solidFill>
                            <a:schemeClr val="bg1"/>
                          </a:solidFill>
                        </a:rPr>
                        <a:t>Application logs</a:t>
                      </a:r>
                    </a:p>
                  </a:txBody>
                  <a:tcPr/>
                </a:tc>
                <a:tc>
                  <a:txBody>
                    <a:bodyPr/>
                    <a:lstStyle/>
                    <a:p>
                      <a:r>
                        <a:rPr lang="en-US" sz="1200" b="0" dirty="0">
                          <a:solidFill>
                            <a:schemeClr val="bg1"/>
                          </a:solidFill>
                        </a:rPr>
                        <a:t>App Install, Uninstall, Updates, App Error Codes</a:t>
                      </a:r>
                    </a:p>
                  </a:txBody>
                  <a:tcPr/>
                </a:tc>
                <a:extLst>
                  <a:ext uri="{0D108BD9-81ED-4DB2-BD59-A6C34878D82A}">
                    <a16:rowId xmlns:a16="http://schemas.microsoft.com/office/drawing/2014/main" val="3759352461"/>
                  </a:ext>
                </a:extLst>
              </a:tr>
              <a:tr h="224909">
                <a:tc>
                  <a:txBody>
                    <a:bodyPr/>
                    <a:lstStyle/>
                    <a:p>
                      <a:r>
                        <a:rPr lang="en-US" sz="1200" dirty="0">
                          <a:solidFill>
                            <a:schemeClr val="bg1"/>
                          </a:solidFill>
                        </a:rPr>
                        <a:t>BIOS logs</a:t>
                      </a:r>
                    </a:p>
                  </a:txBody>
                  <a:tcPr/>
                </a:tc>
                <a:tc>
                  <a:txBody>
                    <a:bodyPr/>
                    <a:lstStyle/>
                    <a:p>
                      <a:r>
                        <a:rPr lang="en-US" sz="1200" b="0" dirty="0">
                          <a:solidFill>
                            <a:schemeClr val="bg1"/>
                          </a:solidFill>
                        </a:rPr>
                        <a:t>Firmware update history, boot errors, POST error codes</a:t>
                      </a:r>
                    </a:p>
                  </a:txBody>
                  <a:tcPr/>
                </a:tc>
                <a:extLst>
                  <a:ext uri="{0D108BD9-81ED-4DB2-BD59-A6C34878D82A}">
                    <a16:rowId xmlns:a16="http://schemas.microsoft.com/office/drawing/2014/main" val="2141875078"/>
                  </a:ext>
                </a:extLst>
              </a:tr>
              <a:tr h="224909">
                <a:tc>
                  <a:txBody>
                    <a:bodyPr/>
                    <a:lstStyle/>
                    <a:p>
                      <a:r>
                        <a:rPr lang="en-US" sz="1200" dirty="0">
                          <a:solidFill>
                            <a:schemeClr val="bg1"/>
                          </a:solidFill>
                        </a:rPr>
                        <a:t>OS events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solidFill>
                        </a:rPr>
                        <a:t>Current and past Windows build numbers, BSOD stop codes and timestamps, Audit Trails</a:t>
                      </a:r>
                    </a:p>
                  </a:txBody>
                  <a:tcPr/>
                </a:tc>
                <a:extLst>
                  <a:ext uri="{0D108BD9-81ED-4DB2-BD59-A6C34878D82A}">
                    <a16:rowId xmlns:a16="http://schemas.microsoft.com/office/drawing/2014/main" val="2809180088"/>
                  </a:ext>
                </a:extLst>
              </a:tr>
              <a:tr h="224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Connectivity &amp; Support events</a:t>
                      </a:r>
                    </a:p>
                  </a:txBody>
                  <a:tcPr/>
                </a:tc>
                <a:tc>
                  <a:txBody>
                    <a:bodyPr/>
                    <a:lstStyle/>
                    <a:p>
                      <a:r>
                        <a:rPr lang="en-US" sz="1200" b="0" dirty="0">
                          <a:solidFill>
                            <a:schemeClr val="bg1"/>
                          </a:solidFill>
                        </a:rPr>
                        <a:t>Telemetry Heartbeats, Collection Events, Service State Events</a:t>
                      </a:r>
                    </a:p>
                  </a:txBody>
                  <a:tcPr/>
                </a:tc>
                <a:extLst>
                  <a:ext uri="{0D108BD9-81ED-4DB2-BD59-A6C34878D82A}">
                    <a16:rowId xmlns:a16="http://schemas.microsoft.com/office/drawing/2014/main" val="2242419014"/>
                  </a:ext>
                </a:extLst>
              </a:tr>
              <a:tr h="224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iDRAC Logs (Server Support)</a:t>
                      </a:r>
                    </a:p>
                  </a:txBody>
                  <a:tcPr/>
                </a:tc>
                <a:tc>
                  <a:txBody>
                    <a:bodyPr/>
                    <a:lstStyle/>
                    <a:p>
                      <a:r>
                        <a:rPr lang="en-US" sz="1200" b="0" dirty="0">
                          <a:solidFill>
                            <a:schemeClr val="bg1"/>
                          </a:solidFill>
                        </a:rPr>
                        <a:t>Life cycle Logs , FW Update Logs, Sensor Logs</a:t>
                      </a:r>
                    </a:p>
                  </a:txBody>
                  <a:tcPr/>
                </a:tc>
                <a:extLst>
                  <a:ext uri="{0D108BD9-81ED-4DB2-BD59-A6C34878D82A}">
                    <a16:rowId xmlns:a16="http://schemas.microsoft.com/office/drawing/2014/main" val="2731770681"/>
                  </a:ext>
                </a:extLst>
              </a:tr>
            </a:tbl>
          </a:graphicData>
        </a:graphic>
      </p:graphicFrame>
      <p:sp>
        <p:nvSpPr>
          <p:cNvPr id="6" name="TextBox 5">
            <a:extLst>
              <a:ext uri="{FF2B5EF4-FFF2-40B4-BE49-F238E27FC236}">
                <a16:creationId xmlns:a16="http://schemas.microsoft.com/office/drawing/2014/main" id="{3D2FB0CB-8715-D890-1959-55FF415568F1}"/>
              </a:ext>
            </a:extLst>
          </p:cNvPr>
          <p:cNvSpPr txBox="1"/>
          <p:nvPr/>
        </p:nvSpPr>
        <p:spPr>
          <a:xfrm>
            <a:off x="6382326" y="6276599"/>
            <a:ext cx="7028873" cy="248402"/>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NOTE: The list of SLMs is based on current understanding and internet knowledge about DTM</a:t>
            </a:r>
          </a:p>
        </p:txBody>
      </p:sp>
      <p:sp>
        <p:nvSpPr>
          <p:cNvPr id="4" name="TextBox 3">
            <a:extLst>
              <a:ext uri="{FF2B5EF4-FFF2-40B4-BE49-F238E27FC236}">
                <a16:creationId xmlns:a16="http://schemas.microsoft.com/office/drawing/2014/main" id="{38FE6D41-B765-F151-FD7B-AE3033BE02DA}"/>
              </a:ext>
            </a:extLst>
          </p:cNvPr>
          <p:cNvSpPr txBox="1"/>
          <p:nvPr/>
        </p:nvSpPr>
        <p:spPr>
          <a:xfrm>
            <a:off x="397163" y="3384545"/>
            <a:ext cx="11268363" cy="3049169"/>
          </a:xfrm>
          <a:prstGeom prst="rect">
            <a:avLst/>
          </a:prstGeom>
          <a:noFill/>
        </p:spPr>
        <p:txBody>
          <a:bodyPr vert="horz" wrap="square" lIns="90000" tIns="46800" rIns="90000" bIns="46800" rtlCol="0" anchor="ctr">
            <a:spAutoFit/>
          </a:bodyPr>
          <a:lstStyle/>
          <a:p>
            <a:pPr algn="l">
              <a:spcBef>
                <a:spcPct val="0"/>
              </a:spcBef>
            </a:pPr>
            <a:r>
              <a:rPr lang="en-US" sz="1200" dirty="0">
                <a:solidFill>
                  <a:schemeClr val="bg1"/>
                </a:solidFill>
              </a:rPr>
              <a:t>The idea is Master SLM will be common for all agents and will train on different data sources needed respective agents</a:t>
            </a:r>
          </a:p>
          <a:p>
            <a:pPr algn="l">
              <a:spcBef>
                <a:spcPct val="0"/>
              </a:spcBef>
            </a:pPr>
            <a:r>
              <a:rPr lang="en-US" sz="1200" dirty="0">
                <a:solidFill>
                  <a:schemeClr val="bg1"/>
                </a:solidFill>
              </a:rPr>
              <a:t>So the total Models installed will be as follows</a:t>
            </a:r>
          </a:p>
          <a:p>
            <a:pPr marL="285750" indent="-285750" algn="l">
              <a:spcBef>
                <a:spcPct val="0"/>
              </a:spcBef>
              <a:buFont typeface="Arial" panose="020B0604020202020204" pitchFamily="34" charset="0"/>
              <a:buChar char="•"/>
            </a:pPr>
            <a:r>
              <a:rPr lang="en-US" sz="1200" dirty="0">
                <a:solidFill>
                  <a:schemeClr val="bg1"/>
                </a:solidFill>
              </a:rPr>
              <a:t>Master SLM – 1</a:t>
            </a:r>
          </a:p>
          <a:p>
            <a:pPr marL="285750" indent="-285750" algn="l">
              <a:spcBef>
                <a:spcPct val="0"/>
              </a:spcBef>
              <a:buFont typeface="Arial" panose="020B0604020202020204" pitchFamily="34" charset="0"/>
              <a:buChar char="•"/>
            </a:pPr>
            <a:r>
              <a:rPr lang="en-US" sz="1200" dirty="0">
                <a:solidFill>
                  <a:schemeClr val="bg1"/>
                </a:solidFill>
              </a:rPr>
              <a:t>Experts Models ML – 7</a:t>
            </a:r>
          </a:p>
          <a:p>
            <a:pPr marL="285750" indent="-285750" algn="l">
              <a:spcBef>
                <a:spcPct val="0"/>
              </a:spcBef>
              <a:buFont typeface="Arial" panose="020B0604020202020204" pitchFamily="34" charset="0"/>
              <a:buChar char="•"/>
            </a:pPr>
            <a:r>
              <a:rPr lang="en-US" sz="1200" dirty="0">
                <a:solidFill>
                  <a:schemeClr val="bg1"/>
                </a:solidFill>
              </a:rPr>
              <a:t>Expert Model SLM – 7</a:t>
            </a:r>
          </a:p>
          <a:p>
            <a:pPr algn="l">
              <a:spcBef>
                <a:spcPct val="0"/>
              </a:spcBef>
            </a:pPr>
            <a:endParaRPr lang="en-US" sz="1200" dirty="0">
              <a:solidFill>
                <a:schemeClr val="bg1"/>
              </a:solidFill>
            </a:endParaRPr>
          </a:p>
          <a:p>
            <a:pPr marL="285750" indent="-285750" algn="l">
              <a:spcBef>
                <a:spcPct val="0"/>
              </a:spcBef>
              <a:buFont typeface="Arial" panose="020B0604020202020204" pitchFamily="34" charset="0"/>
              <a:buChar char="•"/>
            </a:pPr>
            <a:r>
              <a:rPr lang="en-US" sz="1200" dirty="0">
                <a:solidFill>
                  <a:schemeClr val="bg1"/>
                </a:solidFill>
              </a:rPr>
              <a:t>The Total Models Deployed </a:t>
            </a:r>
          </a:p>
          <a:p>
            <a:pPr marL="285750" indent="-285750" algn="l">
              <a:spcBef>
                <a:spcPct val="0"/>
              </a:spcBef>
              <a:buFont typeface="Arial" panose="020B0604020202020204" pitchFamily="34" charset="0"/>
              <a:buChar char="•"/>
            </a:pPr>
            <a:r>
              <a:rPr lang="en-US" sz="1200" dirty="0">
                <a:solidFill>
                  <a:schemeClr val="bg1"/>
                </a:solidFill>
              </a:rPr>
              <a:t>Master SLM – 1, Embedding model - 1</a:t>
            </a:r>
          </a:p>
          <a:p>
            <a:pPr marL="285750" indent="-285750" algn="l">
              <a:spcBef>
                <a:spcPct val="0"/>
              </a:spcBef>
              <a:buFont typeface="Arial" panose="020B0604020202020204" pitchFamily="34" charset="0"/>
              <a:buChar char="•"/>
            </a:pPr>
            <a:r>
              <a:rPr lang="en-US" sz="1200" dirty="0">
                <a:solidFill>
                  <a:schemeClr val="bg1"/>
                </a:solidFill>
              </a:rPr>
              <a:t>Expert Models ML – 7</a:t>
            </a:r>
          </a:p>
          <a:p>
            <a:pPr marL="285750" indent="-285750" algn="l">
              <a:spcBef>
                <a:spcPct val="0"/>
              </a:spcBef>
              <a:buFont typeface="Arial" panose="020B0604020202020204" pitchFamily="34" charset="0"/>
              <a:buChar char="•"/>
            </a:pPr>
            <a:endParaRPr lang="en-US" sz="1200" dirty="0">
              <a:solidFill>
                <a:schemeClr val="bg1"/>
              </a:solidFill>
            </a:endParaRPr>
          </a:p>
          <a:p>
            <a:pPr algn="l">
              <a:spcBef>
                <a:spcPct val="0"/>
              </a:spcBef>
            </a:pPr>
            <a:r>
              <a:rPr lang="en-US" sz="1200" dirty="0">
                <a:solidFill>
                  <a:schemeClr val="bg1"/>
                </a:solidFill>
              </a:rPr>
              <a:t>Total Installed components will be 5,</a:t>
            </a:r>
          </a:p>
          <a:p>
            <a:pPr marL="228600" indent="-228600" algn="l">
              <a:spcBef>
                <a:spcPct val="0"/>
              </a:spcBef>
              <a:buAutoNum type="arabicPeriod"/>
            </a:pPr>
            <a:r>
              <a:rPr lang="en-US" sz="1200" dirty="0">
                <a:solidFill>
                  <a:schemeClr val="bg1"/>
                </a:solidFill>
              </a:rPr>
              <a:t>Detect Agent</a:t>
            </a:r>
          </a:p>
          <a:p>
            <a:pPr marL="228600" indent="-228600" algn="l">
              <a:spcBef>
                <a:spcPct val="0"/>
              </a:spcBef>
              <a:buAutoNum type="arabicPeriod"/>
            </a:pPr>
            <a:r>
              <a:rPr lang="en-US" sz="1200" dirty="0">
                <a:solidFill>
                  <a:schemeClr val="bg1"/>
                </a:solidFill>
              </a:rPr>
              <a:t>Diagnosis Agent</a:t>
            </a:r>
          </a:p>
          <a:p>
            <a:pPr marL="228600" indent="-228600" algn="l">
              <a:spcBef>
                <a:spcPct val="0"/>
              </a:spcBef>
              <a:buAutoNum type="arabicPeriod"/>
            </a:pPr>
            <a:r>
              <a:rPr lang="en-US" sz="1200" dirty="0">
                <a:solidFill>
                  <a:schemeClr val="bg1"/>
                </a:solidFill>
              </a:rPr>
              <a:t>Remediation Agent </a:t>
            </a:r>
          </a:p>
          <a:p>
            <a:pPr marL="228600" indent="-228600" algn="l">
              <a:spcBef>
                <a:spcPct val="0"/>
              </a:spcBef>
              <a:buAutoNum type="arabicPeriod"/>
            </a:pPr>
            <a:r>
              <a:rPr lang="en-US" sz="1200" dirty="0">
                <a:solidFill>
                  <a:schemeClr val="bg1"/>
                </a:solidFill>
              </a:rPr>
              <a:t>Monitoring Agent</a:t>
            </a:r>
          </a:p>
          <a:p>
            <a:pPr marL="228600" indent="-228600" algn="l">
              <a:spcBef>
                <a:spcPct val="0"/>
              </a:spcBef>
              <a:buAutoNum type="arabicPeriod"/>
            </a:pPr>
            <a:r>
              <a:rPr lang="en-US" sz="1200" dirty="0">
                <a:solidFill>
                  <a:schemeClr val="bg1"/>
                </a:solidFill>
              </a:rPr>
              <a:t>Master SLM Service </a:t>
            </a:r>
          </a:p>
        </p:txBody>
      </p:sp>
    </p:spTree>
    <p:extLst>
      <p:ext uri="{BB962C8B-B14F-4D97-AF65-F5344CB8AC3E}">
        <p14:creationId xmlns:p14="http://schemas.microsoft.com/office/powerpoint/2010/main" val="843769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3113F-42CF-577A-7072-81331871B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4659C-7453-3BC8-20DF-522D1ABB101E}"/>
              </a:ext>
            </a:extLst>
          </p:cNvPr>
          <p:cNvSpPr>
            <a:spLocks noGrp="1"/>
          </p:cNvSpPr>
          <p:nvPr>
            <p:ph type="title"/>
          </p:nvPr>
        </p:nvSpPr>
        <p:spPr>
          <a:xfrm>
            <a:off x="414971" y="260351"/>
            <a:ext cx="11008413" cy="425450"/>
          </a:xfrm>
        </p:spPr>
        <p:txBody>
          <a:bodyPr/>
          <a:lstStyle/>
          <a:p>
            <a:r>
              <a:rPr lang="en-US" dirty="0"/>
              <a:t>Review Comments</a:t>
            </a:r>
          </a:p>
        </p:txBody>
      </p:sp>
      <p:graphicFrame>
        <p:nvGraphicFramePr>
          <p:cNvPr id="5" name="Table 4">
            <a:extLst>
              <a:ext uri="{FF2B5EF4-FFF2-40B4-BE49-F238E27FC236}">
                <a16:creationId xmlns:a16="http://schemas.microsoft.com/office/drawing/2014/main" id="{72053599-FE12-0505-C04F-FC253F046D3D}"/>
              </a:ext>
            </a:extLst>
          </p:cNvPr>
          <p:cNvGraphicFramePr>
            <a:graphicFrameLocks noGrp="1"/>
          </p:cNvGraphicFramePr>
          <p:nvPr>
            <p:extLst>
              <p:ext uri="{D42A27DB-BD31-4B8C-83A1-F6EECF244321}">
                <p14:modId xmlns:p14="http://schemas.microsoft.com/office/powerpoint/2010/main" val="1639332217"/>
              </p:ext>
            </p:extLst>
          </p:nvPr>
        </p:nvGraphicFramePr>
        <p:xfrm>
          <a:off x="443345" y="876682"/>
          <a:ext cx="11555065" cy="3927957"/>
        </p:xfrm>
        <a:graphic>
          <a:graphicData uri="http://schemas.openxmlformats.org/drawingml/2006/table">
            <a:tbl>
              <a:tblPr firstRow="1" bandRow="1">
                <a:tableStyleId>{0E3FDE45-AF77-4B5C-9715-49D594BDF05E}</a:tableStyleId>
              </a:tblPr>
              <a:tblGrid>
                <a:gridCol w="751336">
                  <a:extLst>
                    <a:ext uri="{9D8B030D-6E8A-4147-A177-3AD203B41FA5}">
                      <a16:colId xmlns:a16="http://schemas.microsoft.com/office/drawing/2014/main" val="1924275776"/>
                    </a:ext>
                  </a:extLst>
                </a:gridCol>
                <a:gridCol w="4588281">
                  <a:extLst>
                    <a:ext uri="{9D8B030D-6E8A-4147-A177-3AD203B41FA5}">
                      <a16:colId xmlns:a16="http://schemas.microsoft.com/office/drawing/2014/main" val="3389390236"/>
                    </a:ext>
                  </a:extLst>
                </a:gridCol>
                <a:gridCol w="6215448">
                  <a:extLst>
                    <a:ext uri="{9D8B030D-6E8A-4147-A177-3AD203B41FA5}">
                      <a16:colId xmlns:a16="http://schemas.microsoft.com/office/drawing/2014/main" val="20517252"/>
                    </a:ext>
                  </a:extLst>
                </a:gridCol>
              </a:tblGrid>
              <a:tr h="385719">
                <a:tc>
                  <a:txBody>
                    <a:bodyPr/>
                    <a:lstStyle/>
                    <a:p>
                      <a:pPr algn="ctr"/>
                      <a:r>
                        <a:rPr lang="en-US" sz="1400" dirty="0" err="1">
                          <a:solidFill>
                            <a:schemeClr val="bg1"/>
                          </a:solidFill>
                        </a:rPr>
                        <a:t>Sr.No</a:t>
                      </a:r>
                      <a:r>
                        <a:rPr lang="en-US" sz="1400" dirty="0">
                          <a:solidFill>
                            <a:schemeClr val="bg1"/>
                          </a:solidFill>
                        </a:rPr>
                        <a:t>.</a:t>
                      </a:r>
                    </a:p>
                  </a:txBody>
                  <a:tcPr/>
                </a:tc>
                <a:tc>
                  <a:txBody>
                    <a:bodyPr/>
                    <a:lstStyle/>
                    <a:p>
                      <a:pPr algn="ctr"/>
                      <a:r>
                        <a:rPr lang="en-US" sz="1400" dirty="0">
                          <a:solidFill>
                            <a:schemeClr val="bg1"/>
                          </a:solidFill>
                        </a:rPr>
                        <a:t>Questions</a:t>
                      </a:r>
                    </a:p>
                  </a:txBody>
                  <a:tcPr/>
                </a:tc>
                <a:tc>
                  <a:txBody>
                    <a:bodyPr/>
                    <a:lstStyle/>
                    <a:p>
                      <a:pPr algn="ctr"/>
                      <a:r>
                        <a:rPr lang="en-US" sz="1400" dirty="0">
                          <a:solidFill>
                            <a:schemeClr val="bg1"/>
                          </a:solidFill>
                        </a:rPr>
                        <a:t>Responses</a:t>
                      </a:r>
                    </a:p>
                  </a:txBody>
                  <a:tcPr/>
                </a:tc>
                <a:extLst>
                  <a:ext uri="{0D108BD9-81ED-4DB2-BD59-A6C34878D82A}">
                    <a16:rowId xmlns:a16="http://schemas.microsoft.com/office/drawing/2014/main" val="62596107"/>
                  </a:ext>
                </a:extLst>
              </a:tr>
              <a:tr h="525981">
                <a:tc>
                  <a:txBody>
                    <a:bodyPr/>
                    <a:lstStyle/>
                    <a:p>
                      <a:pPr algn="ctr"/>
                      <a:r>
                        <a:rPr lang="en-US" sz="1200" dirty="0">
                          <a:solidFill>
                            <a:schemeClr val="bg1"/>
                          </a:solidFill>
                        </a:rPr>
                        <a:t>1</a:t>
                      </a:r>
                    </a:p>
                  </a:txBody>
                  <a:tcPr/>
                </a:tc>
                <a:tc>
                  <a:txBody>
                    <a:bodyPr/>
                    <a:lstStyle/>
                    <a:p>
                      <a:pPr algn="l"/>
                      <a:r>
                        <a:rPr lang="en-US" sz="1200" dirty="0">
                          <a:solidFill>
                            <a:schemeClr val="bg1"/>
                          </a:solidFill>
                          <a:effectLst/>
                        </a:rPr>
                        <a:t>What would be the resource consumption characteristics of the expert models?</a:t>
                      </a:r>
                      <a:endParaRPr lang="en-US" sz="1200" dirty="0">
                        <a:solidFill>
                          <a:schemeClr val="bg1"/>
                        </a:solidFill>
                      </a:endParaRPr>
                    </a:p>
                  </a:txBody>
                  <a:tcPr/>
                </a:tc>
                <a:tc>
                  <a:txBody>
                    <a:bodyPr/>
                    <a:lstStyle/>
                    <a:p>
                      <a:pPr algn="l"/>
                      <a:r>
                        <a:rPr lang="en-US" sz="1200" dirty="0">
                          <a:solidFill>
                            <a:schemeClr val="bg1"/>
                          </a:solidFill>
                        </a:rPr>
                        <a:t>Our thinking here is that they should not be more than 100MB Space on Memory and tuned to very specific data sets</a:t>
                      </a:r>
                    </a:p>
                  </a:txBody>
                  <a:tcPr/>
                </a:tc>
                <a:extLst>
                  <a:ext uri="{0D108BD9-81ED-4DB2-BD59-A6C34878D82A}">
                    <a16:rowId xmlns:a16="http://schemas.microsoft.com/office/drawing/2014/main" val="1310253480"/>
                  </a:ext>
                </a:extLst>
              </a:tr>
              <a:tr h="736373">
                <a:tc>
                  <a:txBody>
                    <a:bodyPr/>
                    <a:lstStyle/>
                    <a:p>
                      <a:pPr algn="ctr"/>
                      <a:r>
                        <a:rPr lang="en-US" sz="1200" dirty="0">
                          <a:solidFill>
                            <a:schemeClr val="bg1"/>
                          </a:solidFill>
                        </a:rPr>
                        <a:t>2</a:t>
                      </a:r>
                    </a:p>
                  </a:txBody>
                  <a:tcPr/>
                </a:tc>
                <a:tc>
                  <a:txBody>
                    <a:bodyPr/>
                    <a:lstStyle/>
                    <a:p>
                      <a:pPr algn="l"/>
                      <a:r>
                        <a:rPr lang="en-US" sz="1200" dirty="0">
                          <a:solidFill>
                            <a:schemeClr val="bg1"/>
                          </a:solidFill>
                          <a:effectLst/>
                        </a:rPr>
                        <a:t>How frequently will these models be updated? Deployment cost would be a factor</a:t>
                      </a:r>
                      <a:endParaRPr lang="en-US" sz="1200" dirty="0">
                        <a:solidFill>
                          <a:schemeClr val="bg1"/>
                        </a:solidFill>
                      </a:endParaRPr>
                    </a:p>
                  </a:txBody>
                  <a:tcPr/>
                </a:tc>
                <a:tc>
                  <a:txBody>
                    <a:bodyPr/>
                    <a:lstStyle/>
                    <a:p>
                      <a:pPr algn="l"/>
                      <a:r>
                        <a:rPr lang="en-US" sz="1200" dirty="0">
                          <a:solidFill>
                            <a:schemeClr val="bg1"/>
                          </a:solidFill>
                        </a:rPr>
                        <a:t>The model will be updated if retrained based on significant addition to the historical telemetry data. Typical update would be once in a month (if required) based on model performance metrics.</a:t>
                      </a:r>
                    </a:p>
                  </a:txBody>
                  <a:tcPr/>
                </a:tc>
                <a:extLst>
                  <a:ext uri="{0D108BD9-81ED-4DB2-BD59-A6C34878D82A}">
                    <a16:rowId xmlns:a16="http://schemas.microsoft.com/office/drawing/2014/main" val="2310709001"/>
                  </a:ext>
                </a:extLst>
              </a:tr>
              <a:tr h="354791">
                <a:tc>
                  <a:txBody>
                    <a:bodyPr/>
                    <a:lstStyle/>
                    <a:p>
                      <a:pPr algn="ctr"/>
                      <a:r>
                        <a:rPr lang="en-US" sz="1200" dirty="0">
                          <a:solidFill>
                            <a:schemeClr val="bg1"/>
                          </a:solidFill>
                        </a:rPr>
                        <a:t>3</a:t>
                      </a:r>
                    </a:p>
                  </a:txBody>
                  <a:tcPr/>
                </a:tc>
                <a:tc>
                  <a:txBody>
                    <a:bodyPr/>
                    <a:lstStyle/>
                    <a:p>
                      <a:pPr algn="l"/>
                      <a:r>
                        <a:rPr lang="en-US" sz="1200" dirty="0">
                          <a:solidFill>
                            <a:schemeClr val="bg1"/>
                          </a:solidFill>
                          <a:effectLst/>
                        </a:rPr>
                        <a:t>What are the characteristics of your Master SLM model?</a:t>
                      </a:r>
                      <a:endParaRPr lang="en-US" sz="1200" dirty="0">
                        <a:solidFill>
                          <a:schemeClr val="bg1"/>
                        </a:solidFill>
                      </a:endParaRPr>
                    </a:p>
                  </a:txBody>
                  <a:tcPr/>
                </a:tc>
                <a:tc>
                  <a:txBody>
                    <a:bodyPr/>
                    <a:lstStyle/>
                    <a:p>
                      <a:pPr algn="l"/>
                      <a:r>
                        <a:rPr lang="en-US" sz="1200" dirty="0">
                          <a:solidFill>
                            <a:schemeClr val="bg1"/>
                          </a:solidFill>
                        </a:rPr>
                        <a:t>It is foundational model tuned to Domain using LoRa</a:t>
                      </a:r>
                    </a:p>
                  </a:txBody>
                  <a:tcPr/>
                </a:tc>
                <a:extLst>
                  <a:ext uri="{0D108BD9-81ED-4DB2-BD59-A6C34878D82A}">
                    <a16:rowId xmlns:a16="http://schemas.microsoft.com/office/drawing/2014/main" val="2193813425"/>
                  </a:ext>
                </a:extLst>
              </a:tr>
              <a:tr h="736373">
                <a:tc>
                  <a:txBody>
                    <a:bodyPr/>
                    <a:lstStyle/>
                    <a:p>
                      <a:pPr algn="ctr"/>
                      <a:r>
                        <a:rPr lang="en-US" sz="1200" dirty="0">
                          <a:solidFill>
                            <a:schemeClr val="bg1"/>
                          </a:solidFill>
                        </a:rPr>
                        <a:t>4</a:t>
                      </a:r>
                    </a:p>
                  </a:txBody>
                  <a:tcPr/>
                </a:tc>
                <a:tc>
                  <a:txBody>
                    <a:bodyPr/>
                    <a:lstStyle/>
                    <a:p>
                      <a:pPr algn="l"/>
                      <a:r>
                        <a:rPr lang="en-US" sz="1200" dirty="0">
                          <a:solidFill>
                            <a:schemeClr val="bg1"/>
                          </a:solidFill>
                          <a:effectLst/>
                        </a:rPr>
                        <a:t>Are the expert models SLM or ML? Based on reading of slide #9, it would seem ML</a:t>
                      </a:r>
                      <a:endParaRPr lang="en-US" sz="1200" dirty="0">
                        <a:solidFill>
                          <a:schemeClr val="bg1"/>
                        </a:solidFill>
                      </a:endParaRPr>
                    </a:p>
                  </a:txBody>
                  <a:tcPr/>
                </a:tc>
                <a:tc>
                  <a:txBody>
                    <a:bodyPr/>
                    <a:lstStyle/>
                    <a:p>
                      <a:pPr algn="l"/>
                      <a:r>
                        <a:rPr lang="en-US" sz="1200" dirty="0">
                          <a:solidFill>
                            <a:schemeClr val="bg1"/>
                          </a:solidFill>
                        </a:rPr>
                        <a:t>Expert Models will be both SLM and ML based when they are installed however primarily ML models will be deployed however monitoring agent will switch them based on performance of ML models</a:t>
                      </a:r>
                    </a:p>
                  </a:txBody>
                  <a:tcPr/>
                </a:tc>
                <a:extLst>
                  <a:ext uri="{0D108BD9-81ED-4DB2-BD59-A6C34878D82A}">
                    <a16:rowId xmlns:a16="http://schemas.microsoft.com/office/drawing/2014/main" val="4171128124"/>
                  </a:ext>
                </a:extLst>
              </a:tr>
              <a:tr h="525981">
                <a:tc>
                  <a:txBody>
                    <a:bodyPr/>
                    <a:lstStyle/>
                    <a:p>
                      <a:pPr algn="ctr"/>
                      <a:r>
                        <a:rPr lang="en-US" sz="1200" dirty="0">
                          <a:solidFill>
                            <a:schemeClr val="bg1"/>
                          </a:solidFill>
                        </a:rPr>
                        <a:t>5</a:t>
                      </a:r>
                    </a:p>
                  </a:txBody>
                  <a:tcPr/>
                </a:tc>
                <a:tc>
                  <a:txBody>
                    <a:bodyPr/>
                    <a:lstStyle/>
                    <a:p>
                      <a:pPr algn="l"/>
                      <a:r>
                        <a:rPr lang="en-US" sz="1200" dirty="0">
                          <a:solidFill>
                            <a:schemeClr val="bg1"/>
                          </a:solidFill>
                          <a:effectLst/>
                        </a:rPr>
                        <a:t>Need additional clarity on NRT v/s Batch streams into Detection agent</a:t>
                      </a:r>
                      <a:endParaRPr lang="en-US" sz="1200" dirty="0">
                        <a:solidFill>
                          <a:schemeClr val="bg1"/>
                        </a:solidFill>
                      </a:endParaRPr>
                    </a:p>
                  </a:txBody>
                  <a:tcPr/>
                </a:tc>
                <a:tc>
                  <a:txBody>
                    <a:bodyPr/>
                    <a:lstStyle/>
                    <a:p>
                      <a:pPr algn="l"/>
                      <a:r>
                        <a:rPr lang="en-US" sz="1200" dirty="0">
                          <a:solidFill>
                            <a:schemeClr val="bg1"/>
                          </a:solidFill>
                        </a:rPr>
                        <a:t>Near-real time analysis is required for detecting critical issues in time bound manner. We can decide the real-time window based on  event reporting from DTM. This is not hard real time but can vary approximately between 2-10 seconds.</a:t>
                      </a:r>
                    </a:p>
                    <a:p>
                      <a:pPr algn="l"/>
                      <a:r>
                        <a:rPr lang="en-US" sz="1200" dirty="0">
                          <a:solidFill>
                            <a:schemeClr val="bg1"/>
                          </a:solidFill>
                        </a:rPr>
                        <a:t>Batch processing is mainly for predictive maintenance and can be performed once in week. This will be configurable parameter hence the optimal valued would be selected post benchmarking.</a:t>
                      </a:r>
                    </a:p>
                  </a:txBody>
                  <a:tcPr/>
                </a:tc>
                <a:extLst>
                  <a:ext uri="{0D108BD9-81ED-4DB2-BD59-A6C34878D82A}">
                    <a16:rowId xmlns:a16="http://schemas.microsoft.com/office/drawing/2014/main" val="4108088813"/>
                  </a:ext>
                </a:extLst>
              </a:tr>
            </a:tbl>
          </a:graphicData>
        </a:graphic>
      </p:graphicFrame>
    </p:spTree>
    <p:extLst>
      <p:ext uri="{BB962C8B-B14F-4D97-AF65-F5344CB8AC3E}">
        <p14:creationId xmlns:p14="http://schemas.microsoft.com/office/powerpoint/2010/main" val="329207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A991-3960-C921-E93F-28BD070E1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6F9B5-46AB-34D8-F3FB-3F6908A5A7B5}"/>
              </a:ext>
            </a:extLst>
          </p:cNvPr>
          <p:cNvSpPr>
            <a:spLocks noGrp="1"/>
          </p:cNvSpPr>
          <p:nvPr>
            <p:ph type="title"/>
          </p:nvPr>
        </p:nvSpPr>
        <p:spPr>
          <a:xfrm>
            <a:off x="414971" y="260351"/>
            <a:ext cx="11008413" cy="425450"/>
          </a:xfrm>
        </p:spPr>
        <p:txBody>
          <a:bodyPr/>
          <a:lstStyle/>
          <a:p>
            <a:r>
              <a:rPr lang="en-US" dirty="0"/>
              <a:t>Review Comments</a:t>
            </a:r>
          </a:p>
        </p:txBody>
      </p:sp>
      <p:graphicFrame>
        <p:nvGraphicFramePr>
          <p:cNvPr id="5" name="Table 4">
            <a:extLst>
              <a:ext uri="{FF2B5EF4-FFF2-40B4-BE49-F238E27FC236}">
                <a16:creationId xmlns:a16="http://schemas.microsoft.com/office/drawing/2014/main" id="{F1E1268D-533E-4248-8511-2DB391336356}"/>
              </a:ext>
            </a:extLst>
          </p:cNvPr>
          <p:cNvGraphicFramePr>
            <a:graphicFrameLocks noGrp="1"/>
          </p:cNvGraphicFramePr>
          <p:nvPr>
            <p:extLst>
              <p:ext uri="{D42A27DB-BD31-4B8C-83A1-F6EECF244321}">
                <p14:modId xmlns:p14="http://schemas.microsoft.com/office/powerpoint/2010/main" val="3648770651"/>
              </p:ext>
            </p:extLst>
          </p:nvPr>
        </p:nvGraphicFramePr>
        <p:xfrm>
          <a:off x="443345" y="876682"/>
          <a:ext cx="11555065" cy="3563460"/>
        </p:xfrm>
        <a:graphic>
          <a:graphicData uri="http://schemas.openxmlformats.org/drawingml/2006/table">
            <a:tbl>
              <a:tblPr firstRow="1" bandRow="1">
                <a:tableStyleId>{0E3FDE45-AF77-4B5C-9715-49D594BDF05E}</a:tableStyleId>
              </a:tblPr>
              <a:tblGrid>
                <a:gridCol w="751336">
                  <a:extLst>
                    <a:ext uri="{9D8B030D-6E8A-4147-A177-3AD203B41FA5}">
                      <a16:colId xmlns:a16="http://schemas.microsoft.com/office/drawing/2014/main" val="1924275776"/>
                    </a:ext>
                  </a:extLst>
                </a:gridCol>
                <a:gridCol w="5123774">
                  <a:extLst>
                    <a:ext uri="{9D8B030D-6E8A-4147-A177-3AD203B41FA5}">
                      <a16:colId xmlns:a16="http://schemas.microsoft.com/office/drawing/2014/main" val="3389390236"/>
                    </a:ext>
                  </a:extLst>
                </a:gridCol>
                <a:gridCol w="5679955">
                  <a:extLst>
                    <a:ext uri="{9D8B030D-6E8A-4147-A177-3AD203B41FA5}">
                      <a16:colId xmlns:a16="http://schemas.microsoft.com/office/drawing/2014/main" val="20517252"/>
                    </a:ext>
                  </a:extLst>
                </a:gridCol>
              </a:tblGrid>
              <a:tr h="385719">
                <a:tc>
                  <a:txBody>
                    <a:bodyPr/>
                    <a:lstStyle/>
                    <a:p>
                      <a:pPr algn="ctr"/>
                      <a:r>
                        <a:rPr lang="en-US" sz="1400" dirty="0" err="1">
                          <a:solidFill>
                            <a:schemeClr val="bg1"/>
                          </a:solidFill>
                        </a:rPr>
                        <a:t>Sr.No</a:t>
                      </a:r>
                      <a:r>
                        <a:rPr lang="en-US" sz="1400" dirty="0">
                          <a:solidFill>
                            <a:schemeClr val="bg1"/>
                          </a:solidFill>
                        </a:rPr>
                        <a:t>.</a:t>
                      </a:r>
                    </a:p>
                  </a:txBody>
                  <a:tcPr/>
                </a:tc>
                <a:tc>
                  <a:txBody>
                    <a:bodyPr/>
                    <a:lstStyle/>
                    <a:p>
                      <a:pPr algn="ctr"/>
                      <a:r>
                        <a:rPr lang="en-US" sz="1400" dirty="0">
                          <a:solidFill>
                            <a:schemeClr val="bg1"/>
                          </a:solidFill>
                        </a:rPr>
                        <a:t>Questions</a:t>
                      </a:r>
                    </a:p>
                  </a:txBody>
                  <a:tcPr/>
                </a:tc>
                <a:tc>
                  <a:txBody>
                    <a:bodyPr/>
                    <a:lstStyle/>
                    <a:p>
                      <a:pPr algn="ctr"/>
                      <a:r>
                        <a:rPr lang="en-US" sz="1400" dirty="0">
                          <a:solidFill>
                            <a:schemeClr val="bg1"/>
                          </a:solidFill>
                        </a:rPr>
                        <a:t>Responses</a:t>
                      </a:r>
                    </a:p>
                  </a:txBody>
                  <a:tcPr/>
                </a:tc>
                <a:extLst>
                  <a:ext uri="{0D108BD9-81ED-4DB2-BD59-A6C34878D82A}">
                    <a16:rowId xmlns:a16="http://schemas.microsoft.com/office/drawing/2014/main" val="62596107"/>
                  </a:ext>
                </a:extLst>
              </a:tr>
              <a:tr h="525981">
                <a:tc>
                  <a:txBody>
                    <a:bodyPr/>
                    <a:lstStyle/>
                    <a:p>
                      <a:pPr algn="ctr"/>
                      <a:r>
                        <a:rPr lang="en-US" sz="1200" dirty="0">
                          <a:solidFill>
                            <a:schemeClr val="bg1"/>
                          </a:solidFill>
                        </a:rPr>
                        <a:t>6</a:t>
                      </a:r>
                    </a:p>
                  </a:txBody>
                  <a:tcPr/>
                </a:tc>
                <a:tc>
                  <a:txBody>
                    <a:bodyPr/>
                    <a:lstStyle/>
                    <a:p>
                      <a:pPr algn="l"/>
                      <a:r>
                        <a:rPr lang="en-US" sz="1200" dirty="0">
                          <a:solidFill>
                            <a:schemeClr val="bg1"/>
                          </a:solidFill>
                          <a:effectLst/>
                        </a:rPr>
                        <a:t>How are you going to solve for the fitment problem of Silicon Vendor x </a:t>
                      </a:r>
                      <a:r>
                        <a:rPr lang="en-US" sz="1200" dirty="0" err="1">
                          <a:solidFill>
                            <a:schemeClr val="bg1"/>
                          </a:solidFill>
                          <a:effectLst/>
                        </a:rPr>
                        <a:t>xPU</a:t>
                      </a:r>
                      <a:r>
                        <a:rPr lang="en-US" sz="1200" dirty="0">
                          <a:solidFill>
                            <a:schemeClr val="bg1"/>
                          </a:solidFill>
                          <a:effectLst/>
                        </a:rPr>
                        <a:t> x Model runtimes?</a:t>
                      </a:r>
                      <a:endParaRPr lang="en-US" sz="1200" dirty="0">
                        <a:solidFill>
                          <a:schemeClr val="bg1"/>
                        </a:solidFill>
                      </a:endParaRPr>
                    </a:p>
                  </a:txBody>
                  <a:tcPr/>
                </a:tc>
                <a:tc>
                  <a:txBody>
                    <a:bodyPr/>
                    <a:lstStyle/>
                    <a:p>
                      <a:pPr algn="l"/>
                      <a:r>
                        <a:rPr lang="en-US" sz="1200" dirty="0">
                          <a:solidFill>
                            <a:schemeClr val="bg1"/>
                          </a:solidFill>
                        </a:rPr>
                        <a:t>The model is trained once for the available data, but it will be transformed for specific vendor, </a:t>
                      </a:r>
                      <a:r>
                        <a:rPr lang="en-US" sz="1200" dirty="0" err="1">
                          <a:solidFill>
                            <a:schemeClr val="bg1"/>
                          </a:solidFill>
                        </a:rPr>
                        <a:t>xPU</a:t>
                      </a:r>
                      <a:r>
                        <a:rPr lang="en-US" sz="1200" dirty="0">
                          <a:solidFill>
                            <a:schemeClr val="bg1"/>
                          </a:solidFill>
                        </a:rPr>
                        <a:t> and runtime combination. Training is the compute intensive process, but transformation is not. Based on machine configuration we will ship the respective formatted model. Training is required only once not for silicon x </a:t>
                      </a:r>
                      <a:r>
                        <a:rPr lang="en-US" sz="1200" dirty="0" err="1">
                          <a:solidFill>
                            <a:schemeClr val="bg1"/>
                          </a:solidFill>
                        </a:rPr>
                        <a:t>xPU</a:t>
                      </a:r>
                      <a:r>
                        <a:rPr lang="en-US" sz="1200" dirty="0">
                          <a:solidFill>
                            <a:schemeClr val="bg1"/>
                          </a:solidFill>
                        </a:rPr>
                        <a:t> x runtime combinations.</a:t>
                      </a:r>
                    </a:p>
                  </a:txBody>
                  <a:tcPr/>
                </a:tc>
                <a:extLst>
                  <a:ext uri="{0D108BD9-81ED-4DB2-BD59-A6C34878D82A}">
                    <a16:rowId xmlns:a16="http://schemas.microsoft.com/office/drawing/2014/main" val="3609901326"/>
                  </a:ext>
                </a:extLst>
              </a:tr>
              <a:tr h="525981">
                <a:tc>
                  <a:txBody>
                    <a:bodyPr/>
                    <a:lstStyle/>
                    <a:p>
                      <a:pPr algn="ctr"/>
                      <a:r>
                        <a:rPr lang="en-US" sz="1200" dirty="0">
                          <a:solidFill>
                            <a:schemeClr val="bg1"/>
                          </a:solidFill>
                        </a:rPr>
                        <a:t>7</a:t>
                      </a:r>
                    </a:p>
                  </a:txBody>
                  <a:tcPr/>
                </a:tc>
                <a:tc>
                  <a:txBody>
                    <a:bodyPr/>
                    <a:lstStyle/>
                    <a:p>
                      <a:pPr algn="l"/>
                      <a:r>
                        <a:rPr lang="en-US" sz="1200" dirty="0">
                          <a:solidFill>
                            <a:schemeClr val="bg1"/>
                          </a:solidFill>
                          <a:effectLst/>
                        </a:rPr>
                        <a:t>Single SLM for Detect/Diagnose/Remediate - please describe the fine tuning strategy</a:t>
                      </a:r>
                      <a:endParaRPr lang="en-US" sz="1200" dirty="0">
                        <a:solidFill>
                          <a:schemeClr val="bg1"/>
                        </a:solidFill>
                      </a:endParaRPr>
                    </a:p>
                  </a:txBody>
                  <a:tcPr/>
                </a:tc>
                <a:tc>
                  <a:txBody>
                    <a:bodyPr/>
                    <a:lstStyle/>
                    <a:p>
                      <a:pPr algn="l"/>
                      <a:r>
                        <a:rPr lang="en-US" sz="1200" dirty="0">
                          <a:solidFill>
                            <a:schemeClr val="bg1"/>
                          </a:solidFill>
                        </a:rPr>
                        <a:t>We are referring to Master SLM that’s the foundation text based SLM responsible for text generation and function calling. Best case scenario, we select on model to perform both operations OR we may end up choosing one SLM with 2 </a:t>
                      </a:r>
                      <a:r>
                        <a:rPr lang="en-US" sz="1200" dirty="0" err="1">
                          <a:solidFill>
                            <a:schemeClr val="bg1"/>
                          </a:solidFill>
                        </a:rPr>
                        <a:t>LoRA</a:t>
                      </a:r>
                      <a:r>
                        <a:rPr lang="en-US" sz="1200" dirty="0">
                          <a:solidFill>
                            <a:schemeClr val="bg1"/>
                          </a:solidFill>
                        </a:rPr>
                        <a:t> adapters for respectively text generation and function calling.</a:t>
                      </a:r>
                    </a:p>
                  </a:txBody>
                  <a:tcPr/>
                </a:tc>
                <a:extLst>
                  <a:ext uri="{0D108BD9-81ED-4DB2-BD59-A6C34878D82A}">
                    <a16:rowId xmlns:a16="http://schemas.microsoft.com/office/drawing/2014/main" val="1587730339"/>
                  </a:ext>
                </a:extLst>
              </a:tr>
              <a:tr h="736373">
                <a:tc>
                  <a:txBody>
                    <a:bodyPr/>
                    <a:lstStyle/>
                    <a:p>
                      <a:pPr algn="ctr"/>
                      <a:r>
                        <a:rPr lang="en-US" sz="1200" dirty="0">
                          <a:solidFill>
                            <a:schemeClr val="bg1"/>
                          </a:solidFill>
                        </a:rPr>
                        <a:t>8</a:t>
                      </a:r>
                    </a:p>
                  </a:txBody>
                  <a:tcPr/>
                </a:tc>
                <a:tc>
                  <a:txBody>
                    <a:bodyPr/>
                    <a:lstStyle/>
                    <a:p>
                      <a:pPr algn="l"/>
                      <a:r>
                        <a:rPr lang="en-US" sz="1200" dirty="0">
                          <a:solidFill>
                            <a:schemeClr val="bg1"/>
                          </a:solidFill>
                          <a:effectLst/>
                        </a:rPr>
                        <a:t>function calling, tool calling or both. If tool calling is involved, will you be using MCP? If yes, what would your A&amp;A mechanism be</a:t>
                      </a:r>
                      <a:endParaRPr lang="en-US" sz="1200" dirty="0">
                        <a:solidFill>
                          <a:schemeClr val="bg1"/>
                        </a:solidFill>
                      </a:endParaRPr>
                    </a:p>
                  </a:txBody>
                  <a:tcPr/>
                </a:tc>
                <a:tc>
                  <a:txBody>
                    <a:bodyPr/>
                    <a:lstStyle/>
                    <a:p>
                      <a:pPr algn="l"/>
                      <a:r>
                        <a:rPr lang="en-US" sz="1200" dirty="0">
                          <a:solidFill>
                            <a:schemeClr val="bg1"/>
                          </a:solidFill>
                        </a:rPr>
                        <a:t>We will keep it light-weight without MCP. It will be basic function calling. MCP will be an overhead but open to discuss. A2A protocol will also add an overhead as we have designed for a monitoring agent that follows the orchestrator design pattern.</a:t>
                      </a:r>
                    </a:p>
                  </a:txBody>
                  <a:tcPr/>
                </a:tc>
                <a:extLst>
                  <a:ext uri="{0D108BD9-81ED-4DB2-BD59-A6C34878D82A}">
                    <a16:rowId xmlns:a16="http://schemas.microsoft.com/office/drawing/2014/main" val="3001946740"/>
                  </a:ext>
                </a:extLst>
              </a:tr>
              <a:tr h="525981">
                <a:tc>
                  <a:txBody>
                    <a:bodyPr/>
                    <a:lstStyle/>
                    <a:p>
                      <a:pPr algn="ctr"/>
                      <a:r>
                        <a:rPr lang="en-US" sz="1200" dirty="0">
                          <a:solidFill>
                            <a:schemeClr val="bg1"/>
                          </a:solidFill>
                        </a:rPr>
                        <a:t>9</a:t>
                      </a:r>
                    </a:p>
                  </a:txBody>
                  <a:tcPr/>
                </a:tc>
                <a:tc>
                  <a:txBody>
                    <a:bodyPr/>
                    <a:lstStyle/>
                    <a:p>
                      <a:pPr algn="l"/>
                      <a:r>
                        <a:rPr lang="en-US" sz="1200" dirty="0">
                          <a:solidFill>
                            <a:schemeClr val="bg1"/>
                          </a:solidFill>
                          <a:effectLst/>
                        </a:rPr>
                        <a:t>Will the Monitoring Agent also conduct Model Lifecyle Management activities</a:t>
                      </a:r>
                      <a:endParaRPr lang="en-US" sz="1200" dirty="0">
                        <a:solidFill>
                          <a:schemeClr val="bg1"/>
                        </a:solidFill>
                      </a:endParaRPr>
                    </a:p>
                  </a:txBody>
                  <a:tcPr/>
                </a:tc>
                <a:tc>
                  <a:txBody>
                    <a:bodyPr/>
                    <a:lstStyle/>
                    <a:p>
                      <a:pPr algn="l"/>
                      <a:r>
                        <a:rPr lang="en-US" sz="1200" dirty="0">
                          <a:solidFill>
                            <a:schemeClr val="bg1"/>
                          </a:solidFill>
                        </a:rPr>
                        <a:t>Yes. Monitoring agent is responsible for life cycle management (load/unload the SLM model, switching between ML/SLM)</a:t>
                      </a:r>
                    </a:p>
                  </a:txBody>
                  <a:tcPr/>
                </a:tc>
                <a:extLst>
                  <a:ext uri="{0D108BD9-81ED-4DB2-BD59-A6C34878D82A}">
                    <a16:rowId xmlns:a16="http://schemas.microsoft.com/office/drawing/2014/main" val="1041504480"/>
                  </a:ext>
                </a:extLst>
              </a:tr>
            </a:tbl>
          </a:graphicData>
        </a:graphic>
      </p:graphicFrame>
    </p:spTree>
    <p:extLst>
      <p:ext uri="{BB962C8B-B14F-4D97-AF65-F5344CB8AC3E}">
        <p14:creationId xmlns:p14="http://schemas.microsoft.com/office/powerpoint/2010/main" val="3100045705"/>
      </p:ext>
    </p:extLst>
  </p:cSld>
  <p:clrMapOvr>
    <a:masterClrMapping/>
  </p:clrMapOvr>
</p:sld>
</file>

<file path=ppt/theme/theme1.xml><?xml version="1.0" encoding="utf-8"?>
<a:theme xmlns:a="http://schemas.openxmlformats.org/drawingml/2006/main" name="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2.pptx" id="{B0D3567D-FB33-4816-A467-9DEC798BD58E}" vid="{9105B42A-F79F-47F9-A579-487833EC1D44}"/>
    </a:ext>
  </a:extLst>
</a:theme>
</file>

<file path=ppt/theme/theme2.xml><?xml version="1.0" encoding="utf-8"?>
<a:theme xmlns:a="http://schemas.openxmlformats.org/drawingml/2006/main" name="2_Capgemini_2024">
  <a:themeElements>
    <a:clrScheme name="Capgemini">
      <a:dk1>
        <a:sysClr val="windowText" lastClr="000000"/>
      </a:dk1>
      <a:lt1>
        <a:srgbClr val="FFFFFF"/>
      </a:lt1>
      <a:dk2>
        <a:srgbClr val="000000"/>
      </a:dk2>
      <a:lt2>
        <a:srgbClr val="ECECEC"/>
      </a:lt2>
      <a:accent1>
        <a:srgbClr val="0070AD"/>
      </a:accent1>
      <a:accent2>
        <a:srgbClr val="12ABDB"/>
      </a:accent2>
      <a:accent3>
        <a:srgbClr val="14596B"/>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4-2.pptx" id="{B0D3567D-FB33-4816-A467-9DEC798BD58E}" vid="{9105B42A-F79F-47F9-A579-487833EC1D4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e9fe09b-6c66-4d35-b3ef-3aa972724d1a" xsi:nil="true"/>
    <lcf76f155ced4ddcb4097134ff3c332f xmlns="006ec55d-46f4-4982-aba1-1219f5356f6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200EF4E1E71F54A9360E1E10658AB0A" ma:contentTypeVersion="16" ma:contentTypeDescription="Create a new document." ma:contentTypeScope="" ma:versionID="7c041cfa9ce8cdf0efbc7479ba45488f">
  <xsd:schema xmlns:xsd="http://www.w3.org/2001/XMLSchema" xmlns:xs="http://www.w3.org/2001/XMLSchema" xmlns:p="http://schemas.microsoft.com/office/2006/metadata/properties" xmlns:ns2="006ec55d-46f4-4982-aba1-1219f5356f6d" xmlns:ns3="de9fe09b-6c66-4d35-b3ef-3aa972724d1a" targetNamespace="http://schemas.microsoft.com/office/2006/metadata/properties" ma:root="true" ma:fieldsID="50df5b3ccd505f3f3f3ddfc1f9390660" ns2:_="" ns3:_="">
    <xsd:import namespace="006ec55d-46f4-4982-aba1-1219f5356f6d"/>
    <xsd:import namespace="de9fe09b-6c66-4d35-b3ef-3aa972724d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6ec55d-46f4-4982-aba1-1219f5356f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9fe09b-6c66-4d35-b3ef-3aa972724d1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a934da7-a846-4dc8-8a78-68b51a633e98}" ma:internalName="TaxCatchAll" ma:showField="CatchAllData" ma:web="de9fe09b-6c66-4d35-b3ef-3aa972724d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5200EF4E1E71F54A9360E1E10658AB0A" ma:contentTypeVersion="16" ma:contentTypeDescription="Create a new document." ma:contentTypeScope="" ma:versionID="7c041cfa9ce8cdf0efbc7479ba45488f">
  <xsd:schema xmlns:xsd="http://www.w3.org/2001/XMLSchema" xmlns:xs="http://www.w3.org/2001/XMLSchema" xmlns:p="http://schemas.microsoft.com/office/2006/metadata/properties" xmlns:ns2="006ec55d-46f4-4982-aba1-1219f5356f6d" xmlns:ns3="de9fe09b-6c66-4d35-b3ef-3aa972724d1a" targetNamespace="http://schemas.microsoft.com/office/2006/metadata/properties" ma:root="true" ma:fieldsID="50df5b3ccd505f3f3f3ddfc1f9390660" ns2:_="" ns3:_="">
    <xsd:import namespace="006ec55d-46f4-4982-aba1-1219f5356f6d"/>
    <xsd:import namespace="de9fe09b-6c66-4d35-b3ef-3aa972724d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6ec55d-46f4-4982-aba1-1219f5356f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9fe09b-6c66-4d35-b3ef-3aa972724d1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a934da7-a846-4dc8-8a78-68b51a633e98}" ma:internalName="TaxCatchAll" ma:showField="CatchAllData" ma:web="de9fe09b-6c66-4d35-b3ef-3aa972724d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59591F-32E0-4D83-8C47-1C98EB8AB4EF}">
  <ds:schemaRefs>
    <ds:schemaRef ds:uri="http://schemas.microsoft.com/office/2006/documentManagement/types"/>
    <ds:schemaRef ds:uri="f9f57722-034d-4245-9200-6f6d837d99b2"/>
    <ds:schemaRef ds:uri="http://purl.org/dc/terms/"/>
    <ds:schemaRef ds:uri="http://purl.org/dc/elements/1.1/"/>
    <ds:schemaRef ds:uri="http://purl.org/dc/dcmitype/"/>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 ds:uri="de9fe09b-6c66-4d35-b3ef-3aa972724d1a"/>
    <ds:schemaRef ds:uri="006ec55d-46f4-4982-aba1-1219f5356f6d"/>
  </ds:schemaRefs>
</ds:datastoreItem>
</file>

<file path=customXml/itemProps2.xml><?xml version="1.0" encoding="utf-8"?>
<ds:datastoreItem xmlns:ds="http://schemas.openxmlformats.org/officeDocument/2006/customXml" ds:itemID="{61162D4C-81D7-4852-ABC5-F5D6A4A3A54A}">
  <ds:schemaRefs>
    <ds:schemaRef ds:uri="http://schemas.microsoft.com/sharepoint/v3/contenttype/forms"/>
  </ds:schemaRefs>
</ds:datastoreItem>
</file>

<file path=customXml/itemProps3.xml><?xml version="1.0" encoding="utf-8"?>
<ds:datastoreItem xmlns:ds="http://schemas.openxmlformats.org/officeDocument/2006/customXml" ds:itemID="{FB89CBC8-ABAC-47F2-9C4E-4758E56DA6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6ec55d-46f4-4982-aba1-1219f5356f6d"/>
    <ds:schemaRef ds:uri="de9fe09b-6c66-4d35-b3ef-3aa972724d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C349F0F-A625-46E0-8ADC-A06B62271A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6ec55d-46f4-4982-aba1-1219f5356f6d"/>
    <ds:schemaRef ds:uri="de9fe09b-6c66-4d35-b3ef-3aa972724d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3824</TotalTime>
  <Words>2428</Words>
  <Application>Microsoft Office PowerPoint</Application>
  <PresentationFormat>Widescreen</PresentationFormat>
  <Paragraphs>368</Paragraphs>
  <Slides>15</Slides>
  <Notes>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15</vt:i4>
      </vt:variant>
    </vt:vector>
  </HeadingPairs>
  <TitlesOfParts>
    <vt:vector size="26" baseType="lpstr">
      <vt:lpstr>Aptos</vt:lpstr>
      <vt:lpstr>Arial</vt:lpstr>
      <vt:lpstr>Calibri</vt:lpstr>
      <vt:lpstr>Roboto</vt:lpstr>
      <vt:lpstr>Ubuntu</vt:lpstr>
      <vt:lpstr>Ubuntu Light</vt:lpstr>
      <vt:lpstr>Ubuntu Medium</vt:lpstr>
      <vt:lpstr>Verdana</vt:lpstr>
      <vt:lpstr>Wingdings</vt:lpstr>
      <vt:lpstr>Capgemini_2024</vt:lpstr>
      <vt:lpstr>2_Capgemini_2024</vt:lpstr>
      <vt:lpstr>DELL – CG Workshop  January 2026  version 0.9</vt:lpstr>
      <vt:lpstr>Hybrid Solution – OTB</vt:lpstr>
      <vt:lpstr>Hybrid Solution – OTB</vt:lpstr>
      <vt:lpstr>Thank you!</vt:lpstr>
      <vt:lpstr>Objectives</vt:lpstr>
      <vt:lpstr>Scenarios:  On the Box (CPU/NPU/GPU) -&gt; HYBRID</vt:lpstr>
      <vt:lpstr>Use Cases</vt:lpstr>
      <vt:lpstr>Hybrid Solution – OTB [Original]</vt:lpstr>
      <vt:lpstr>Solution Strategy ( 1 of 2)</vt:lpstr>
      <vt:lpstr>Solution Strategy ( 2 of 2)</vt:lpstr>
      <vt:lpstr>Model Fine Tune Strategy - Detailed</vt:lpstr>
      <vt:lpstr>Solution Strategy - Monitoring Agent</vt:lpstr>
      <vt:lpstr>SLM</vt:lpstr>
      <vt:lpstr>Review Comments</vt:lpstr>
      <vt:lpstr>Review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Chicago</dc:title>
  <dc:creator>Schwappach, Anne M</dc:creator>
  <cp:lastModifiedBy>Tillu, Dipesh D</cp:lastModifiedBy>
  <cp:revision>55</cp:revision>
  <dcterms:created xsi:type="dcterms:W3CDTF">2024-08-01T15:17:45Z</dcterms:created>
  <dcterms:modified xsi:type="dcterms:W3CDTF">2026-01-26T02:44:18Z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0x0101005200EF4E1E71F54A9360E1E10658AB0A</vt:lpwstr>
  </property>
  <property fmtid="{D5CDD505-2E9C-101B-9397-08002B2CF9AE}" pid="3" name="MediaServiceImageTags">
    <vt:lpwstr/>
  </property>
</Properties>
</file>